
<file path=[Content_Types].xml><?xml version="1.0" encoding="utf-8"?>
<Types xmlns="http://schemas.openxmlformats.org/package/2006/content-types">
  <Default Extension="emf" ContentType="image/x-emf"/>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 id="2147483708" r:id="rId2"/>
  </p:sldMasterIdLst>
  <p:notesMasterIdLst>
    <p:notesMasterId r:id="rId22"/>
  </p:notesMasterIdLst>
  <p:sldIdLst>
    <p:sldId id="256" r:id="rId3"/>
    <p:sldId id="259" r:id="rId4"/>
    <p:sldId id="260" r:id="rId5"/>
    <p:sldId id="261" r:id="rId6"/>
    <p:sldId id="262" r:id="rId7"/>
    <p:sldId id="312" r:id="rId8"/>
    <p:sldId id="314" r:id="rId9"/>
    <p:sldId id="265" r:id="rId10"/>
    <p:sldId id="266" r:id="rId11"/>
    <p:sldId id="267" r:id="rId12"/>
    <p:sldId id="304" r:id="rId13"/>
    <p:sldId id="268" r:id="rId14"/>
    <p:sldId id="305" r:id="rId15"/>
    <p:sldId id="278" r:id="rId16"/>
    <p:sldId id="270" r:id="rId17"/>
    <p:sldId id="272" r:id="rId18"/>
    <p:sldId id="311" r:id="rId19"/>
    <p:sldId id="316" r:id="rId20"/>
    <p:sldId id="271" r:id="rId21"/>
  </p:sldIdLst>
  <p:sldSz cx="9144000" cy="5143500" type="screen16x9"/>
  <p:notesSz cx="6858000" cy="9144000"/>
  <p:embeddedFontLst>
    <p:embeddedFont>
      <p:font typeface="Barlow Semi Condensed" panose="00000506000000000000" pitchFamily="2" charset="0"/>
      <p:regular r:id="rId23"/>
      <p:bold r:id="rId24"/>
      <p:italic r:id="rId25"/>
      <p:boldItalic r:id="rId26"/>
    </p:embeddedFont>
    <p:embeddedFont>
      <p:font typeface="Barlow Semi Condensed Medium" panose="00000606000000000000" pitchFamily="2" charset="0"/>
      <p:regular r:id="rId27"/>
      <p:bold r:id="rId28"/>
      <p:italic r:id="rId29"/>
      <p:boldItalic r:id="rId30"/>
    </p:embeddedFont>
    <p:embeddedFont>
      <p:font typeface="Calibri" panose="020F0502020204030204" pitchFamily="34" charset="0"/>
      <p:regular r:id="rId31"/>
      <p:bold r:id="rId32"/>
      <p:italic r:id="rId33"/>
      <p:boldItalic r:id="rId34"/>
    </p:embeddedFont>
    <p:embeddedFont>
      <p:font typeface="Calibri Light" panose="020F0302020204030204" pitchFamily="34" charset="0"/>
      <p:regular r:id="rId35"/>
      <p:italic r:id="rId36"/>
    </p:embeddedFont>
    <p:embeddedFont>
      <p:font typeface="Cambria Math" panose="02040503050406030204" pitchFamily="18" charset="0"/>
      <p:regular r:id="rId37"/>
    </p:embeddedFont>
    <p:embeddedFont>
      <p:font typeface="Fjalla One" panose="02000506040000020004" pitchFamily="2" charset="0"/>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246CCB-3E28-4AB2-88D6-41D7D006EEBC}">
  <a:tblStyle styleId="{E0246CCB-3E28-4AB2-88D6-41D7D006EEB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030" autoAdjust="0"/>
  </p:normalViewPr>
  <p:slideViewPr>
    <p:cSldViewPr snapToGrid="0">
      <p:cViewPr varScale="1">
        <p:scale>
          <a:sx n="112" d="100"/>
          <a:sy n="112" d="100"/>
        </p:scale>
        <p:origin x="15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a:t>las autoridades casi no tienen la posibilidad de colocar carga impositiva sobre los oferentes o propietarios del capital, pues esta recae en gran proporción sobre los usuarios del capital.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p:cNvGrpSpPr/>
        <p:nvPr/>
      </p:nvGrpSpPr>
      <p:grpSpPr>
        <a:xfrm>
          <a:off x="0" y="0"/>
          <a:ext cx="0" cy="0"/>
          <a:chOff x="0" y="0"/>
          <a:chExt cx="0" cy="0"/>
        </a:xfrm>
      </p:grpSpPr>
      <p:sp>
        <p:nvSpPr>
          <p:cNvPr id="2221" name="Google Shape;2221;g804e9800b4_0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a:t>Altas elasticidades precio de la demanda y oferta de capital llevan a que un impuesto sobre el capital tenga un efecto importante en la reducción del stock de capital para la producción, al afectar negativamente el flujo de ahorro e inversión privada. Este tipo de impuesto, por ejemplo impuesto sobre el ingreso, tiene un sesgo contra el crecimiento económico. </a:t>
            </a:r>
          </a:p>
          <a:p>
            <a:pPr marL="0" lvl="0" indent="0" algn="l" rtl="0">
              <a:spcBef>
                <a:spcPts val="0"/>
              </a:spcBef>
              <a:spcAft>
                <a:spcPts val="0"/>
              </a:spcAft>
              <a:buNone/>
            </a:pPr>
            <a:r>
              <a:rPr lang="es-MX"/>
              <a:t>proponen el reemplazo por un sistema tributario basado en el consumo, que sería neutral con respecto al ahorro y la inversión.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a:t>El precio de la tierra se calcula resolviendo la siguiente expresión, donde </a:t>
            </a:r>
          </a:p>
          <a:p>
            <a:pPr marL="0" lvl="0" indent="0" algn="l" rtl="0">
              <a:spcBef>
                <a:spcPts val="0"/>
              </a:spcBef>
              <a:spcAft>
                <a:spcPts val="0"/>
              </a:spcAft>
              <a:buNone/>
            </a:pPr>
            <a:r>
              <a:rPr lang="es-MX" err="1"/>
              <a:t>Ai</a:t>
            </a:r>
            <a:r>
              <a:rPr lang="es-MX"/>
              <a:t> al ingreso neto producido por esta tierra en el año i, </a:t>
            </a:r>
          </a:p>
          <a:p>
            <a:pPr marL="0" lvl="0" indent="0" algn="l" rtl="0">
              <a:spcBef>
                <a:spcPts val="0"/>
              </a:spcBef>
              <a:spcAft>
                <a:spcPts val="0"/>
              </a:spcAft>
              <a:buNone/>
            </a:pPr>
            <a:r>
              <a:rPr lang="es-MX"/>
              <a:t>r es la tasa de interés y</a:t>
            </a:r>
          </a:p>
          <a:p>
            <a:pPr marL="0" lvl="0" indent="0" algn="l" rtl="0">
              <a:spcBef>
                <a:spcPts val="0"/>
              </a:spcBef>
              <a:spcAft>
                <a:spcPts val="0"/>
              </a:spcAft>
              <a:buNone/>
            </a:pPr>
            <a:r>
              <a:rPr lang="es-MX"/>
              <a:t>n es el último año en que la tierra presta servicios </a:t>
            </a:r>
          </a:p>
          <a:p>
            <a:pPr marL="0" lvl="0" indent="0" algn="l" rtl="0">
              <a:spcBef>
                <a:spcPts val="0"/>
              </a:spcBef>
              <a:spcAft>
                <a:spcPts val="0"/>
              </a:spcAft>
              <a:buNone/>
            </a:pPr>
            <a:endParaRPr lang="es-MX"/>
          </a:p>
          <a:p>
            <a:pPr marL="0" lvl="0" indent="0" algn="l" rtl="0">
              <a:spcBef>
                <a:spcPts val="0"/>
              </a:spcBef>
              <a:spcAft>
                <a:spcPts val="0"/>
              </a:spcAft>
              <a:buNone/>
            </a:pPr>
            <a:r>
              <a:rPr lang="es-MX"/>
              <a:t>el precio de la tierra es disminuido por el impuesto. Por lo tanto, cuando se transe en el mercado, su comprador considerará el efecto del impuesto sobre el precio de la tierra y pagará el precio menor. De lo cual resulta que la incidencia económica presente y futura de este impuesto recae sobre el propietario de la tierra en el momento del tiempo en que se aplicó el impuesto, y no se traslada sobre nuevos posibles propietarios. Cualquier anuncio de aplicación de impuestos sobre estos recursos será traspasado en la forma de una reducción de su precio, que afectará a quien sea el dueño del recurso en ese momento del tiempo. La transferencia del efecto del impuesto al precio del recurso es lo que se denomina capitalización del impuesto.</a:t>
            </a:r>
            <a:endParaRPr/>
          </a:p>
        </p:txBody>
      </p:sp>
    </p:spTree>
    <p:extLst>
      <p:ext uri="{BB962C8B-B14F-4D97-AF65-F5344CB8AC3E}">
        <p14:creationId xmlns:p14="http://schemas.microsoft.com/office/powerpoint/2010/main" val="2293369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2"/>
        <p:cNvGrpSpPr/>
        <p:nvPr/>
      </p:nvGrpSpPr>
      <p:grpSpPr>
        <a:xfrm>
          <a:off x="0" y="0"/>
          <a:ext cx="0" cy="0"/>
          <a:chOff x="0" y="0"/>
          <a:chExt cx="0" cy="0"/>
        </a:xfrm>
      </p:grpSpPr>
      <p:sp>
        <p:nvSpPr>
          <p:cNvPr id="2333" name="Google Shape;2333;g8728718f4e_1_1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4" name="Google Shape;2334;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4790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6"/>
        <p:cNvGrpSpPr/>
        <p:nvPr/>
      </p:nvGrpSpPr>
      <p:grpSpPr>
        <a:xfrm>
          <a:off x="0" y="0"/>
          <a:ext cx="0" cy="0"/>
          <a:chOff x="0" y="0"/>
          <a:chExt cx="0" cy="0"/>
        </a:xfrm>
      </p:grpSpPr>
      <p:sp>
        <p:nvSpPr>
          <p:cNvPr id="2617" name="Google Shape;2617;g8714a43093_5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8" name="Google Shape;2618;g8714a43093_5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6"/>
        <p:cNvGrpSpPr/>
        <p:nvPr/>
      </p:nvGrpSpPr>
      <p:grpSpPr>
        <a:xfrm>
          <a:off x="0" y="0"/>
          <a:ext cx="0" cy="0"/>
          <a:chOff x="0" y="0"/>
          <a:chExt cx="0" cy="0"/>
        </a:xfrm>
      </p:grpSpPr>
      <p:sp>
        <p:nvSpPr>
          <p:cNvPr id="2617" name="Google Shape;2617;g8714a43093_5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8" name="Google Shape;2618;g8714a43093_5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3112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9"/>
        <p:cNvGrpSpPr/>
        <p:nvPr/>
      </p:nvGrpSpPr>
      <p:grpSpPr>
        <a:xfrm>
          <a:off x="0" y="0"/>
          <a:ext cx="0" cy="0"/>
          <a:chOff x="0" y="0"/>
          <a:chExt cx="0" cy="0"/>
        </a:xfrm>
      </p:grpSpPr>
      <p:sp>
        <p:nvSpPr>
          <p:cNvPr id="3210" name="Google Shape;3210;g8714a43093_3_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1" name="Google Shape;3211;g8714a43093_3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0"/>
        <p:cNvGrpSpPr/>
        <p:nvPr/>
      </p:nvGrpSpPr>
      <p:grpSpPr>
        <a:xfrm>
          <a:off x="0" y="0"/>
          <a:ext cx="0" cy="0"/>
          <a:chOff x="0" y="0"/>
          <a:chExt cx="0" cy="0"/>
        </a:xfrm>
      </p:grpSpPr>
      <p:sp>
        <p:nvSpPr>
          <p:cNvPr id="2691" name="Google Shape;2691;g8714a43093_1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2" name="Google Shape;2692;g8714a43093_1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4"/>
        <p:cNvGrpSpPr/>
        <p:nvPr/>
      </p:nvGrpSpPr>
      <p:grpSpPr>
        <a:xfrm>
          <a:off x="0" y="0"/>
          <a:ext cx="0" cy="0"/>
          <a:chOff x="0" y="0"/>
          <a:chExt cx="0" cy="0"/>
        </a:xfrm>
      </p:grpSpPr>
      <p:sp>
        <p:nvSpPr>
          <p:cNvPr id="2735" name="Google Shape;2735;g8714a43093_1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6" name="Google Shape;2736;g8714a43093_1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4"/>
        <p:cNvGrpSpPr/>
        <p:nvPr/>
      </p:nvGrpSpPr>
      <p:grpSpPr>
        <a:xfrm>
          <a:off x="0" y="0"/>
          <a:ext cx="0" cy="0"/>
          <a:chOff x="0" y="0"/>
          <a:chExt cx="0" cy="0"/>
        </a:xfrm>
      </p:grpSpPr>
      <p:sp>
        <p:nvSpPr>
          <p:cNvPr id="2735" name="Google Shape;2735;g8714a43093_1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6" name="Google Shape;2736;g8714a43093_1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5868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8"/>
        <p:cNvGrpSpPr/>
        <p:nvPr/>
      </p:nvGrpSpPr>
      <p:grpSpPr>
        <a:xfrm>
          <a:off x="0" y="0"/>
          <a:ext cx="0" cy="0"/>
          <a:chOff x="0" y="0"/>
          <a:chExt cx="0" cy="0"/>
        </a:xfrm>
      </p:grpSpPr>
      <p:sp>
        <p:nvSpPr>
          <p:cNvPr id="2729" name="Google Shape;2729;g8714a43093_3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0" name="Google Shape;2730;g8714a43093_3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68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8E4FAF-234B-4F23-9831-FBE71FD8661D}"/>
              </a:ext>
            </a:extLst>
          </p:cNvPr>
          <p:cNvSpPr>
            <a:spLocks noGrp="1"/>
          </p:cNvSpPr>
          <p:nvPr>
            <p:ph type="ctrTitle"/>
          </p:nvPr>
        </p:nvSpPr>
        <p:spPr>
          <a:xfrm>
            <a:off x="1143000" y="841772"/>
            <a:ext cx="6858000" cy="1790700"/>
          </a:xfrm>
        </p:spPr>
        <p:txBody>
          <a:bodyPr anchor="b"/>
          <a:lstStyle>
            <a:lvl1pPr algn="ctr">
              <a:defRPr sz="45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1572732A-BCB3-4F67-965E-4ABCD8877261}"/>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2886BD62-4094-4652-AE79-71876C12D4C2}"/>
              </a:ext>
            </a:extLst>
          </p:cNvPr>
          <p:cNvSpPr>
            <a:spLocks noGrp="1"/>
          </p:cNvSpPr>
          <p:nvPr>
            <p:ph type="dt" sz="half" idx="10"/>
          </p:nvPr>
        </p:nvSpPr>
        <p:spPr/>
        <p:txBody>
          <a:bodyPr/>
          <a:lstStyle/>
          <a:p>
            <a:fld id="{B61BEF0D-F0BB-DE4B-95CE-6DB70DBA9567}" type="datetimeFigureOut">
              <a:rPr lang="en-US" smtClean="0"/>
              <a:pPr/>
              <a:t>6/9/2022</a:t>
            </a:fld>
            <a:endParaRPr lang="en-US" dirty="0"/>
          </a:p>
        </p:txBody>
      </p:sp>
      <p:sp>
        <p:nvSpPr>
          <p:cNvPr id="5" name="Marcador de pie de página 4">
            <a:extLst>
              <a:ext uri="{FF2B5EF4-FFF2-40B4-BE49-F238E27FC236}">
                <a16:creationId xmlns:a16="http://schemas.microsoft.com/office/drawing/2014/main" id="{82814A3B-7C5A-4AAE-9D85-D687D208ADAE}"/>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1A765A02-1D3D-4F25-BDB0-81870D12C14E}"/>
              </a:ext>
            </a:extLst>
          </p:cNvPr>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79680252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0403B3-A80D-49AA-B639-7565514E540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FA892CC5-C4FF-41AD-AD49-7B6358C4AAF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F42EA7-C210-4345-9448-F33D3236415B}"/>
              </a:ext>
            </a:extLst>
          </p:cNvPr>
          <p:cNvSpPr>
            <a:spLocks noGrp="1"/>
          </p:cNvSpPr>
          <p:nvPr>
            <p:ph type="dt" sz="half" idx="10"/>
          </p:nvPr>
        </p:nvSpPr>
        <p:spPr/>
        <p:txBody>
          <a:bodyPr/>
          <a:lstStyle/>
          <a:p>
            <a:fld id="{B61BEF0D-F0BB-DE4B-95CE-6DB70DBA9567}" type="datetimeFigureOut">
              <a:rPr lang="en-US" smtClean="0"/>
              <a:pPr/>
              <a:t>6/9/2022</a:t>
            </a:fld>
            <a:endParaRPr lang="en-US" dirty="0"/>
          </a:p>
        </p:txBody>
      </p:sp>
      <p:sp>
        <p:nvSpPr>
          <p:cNvPr id="5" name="Marcador de pie de página 4">
            <a:extLst>
              <a:ext uri="{FF2B5EF4-FFF2-40B4-BE49-F238E27FC236}">
                <a16:creationId xmlns:a16="http://schemas.microsoft.com/office/drawing/2014/main" id="{412A36EE-0024-441E-9883-AAD39936F1F7}"/>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D32FA50E-0BE4-4D7A-85D9-A375AEC052AA}"/>
              </a:ext>
            </a:extLst>
          </p:cNvPr>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72568326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2220C2-24FB-479D-AAE4-0D0C89066932}"/>
              </a:ext>
            </a:extLst>
          </p:cNvPr>
          <p:cNvSpPr>
            <a:spLocks noGrp="1"/>
          </p:cNvSpPr>
          <p:nvPr>
            <p:ph type="title"/>
          </p:nvPr>
        </p:nvSpPr>
        <p:spPr>
          <a:xfrm>
            <a:off x="623888" y="1282304"/>
            <a:ext cx="7886700" cy="2139553"/>
          </a:xfrm>
        </p:spPr>
        <p:txBody>
          <a:bodyPr anchor="b"/>
          <a:lstStyle>
            <a:lvl1pPr>
              <a:defRPr sz="45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E18BC185-F119-4778-A5C3-60F2995ECCED}"/>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4FF5764-E90E-4A2C-BAE3-348B260C2323}"/>
              </a:ext>
            </a:extLst>
          </p:cNvPr>
          <p:cNvSpPr>
            <a:spLocks noGrp="1"/>
          </p:cNvSpPr>
          <p:nvPr>
            <p:ph type="dt" sz="half" idx="10"/>
          </p:nvPr>
        </p:nvSpPr>
        <p:spPr/>
        <p:txBody>
          <a:bodyPr/>
          <a:lstStyle/>
          <a:p>
            <a:fld id="{B61BEF0D-F0BB-DE4B-95CE-6DB70DBA9567}" type="datetimeFigureOut">
              <a:rPr lang="en-US" smtClean="0"/>
              <a:pPr/>
              <a:t>6/9/2022</a:t>
            </a:fld>
            <a:endParaRPr lang="en-US" dirty="0"/>
          </a:p>
        </p:txBody>
      </p:sp>
      <p:sp>
        <p:nvSpPr>
          <p:cNvPr id="5" name="Marcador de pie de página 4">
            <a:extLst>
              <a:ext uri="{FF2B5EF4-FFF2-40B4-BE49-F238E27FC236}">
                <a16:creationId xmlns:a16="http://schemas.microsoft.com/office/drawing/2014/main" id="{149CA1DB-D439-4E6F-8441-AD9C0587C51C}"/>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711C1074-B024-46C0-B28D-F9939DF2182A}"/>
              </a:ext>
            </a:extLst>
          </p:cNvPr>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77115535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AE3BB9-86CA-4FED-A877-EFD5F0BC53A6}"/>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349FD205-C33C-492C-9AE9-A55231E0488F}"/>
              </a:ext>
            </a:extLst>
          </p:cNvPr>
          <p:cNvSpPr>
            <a:spLocks noGrp="1"/>
          </p:cNvSpPr>
          <p:nvPr>
            <p:ph sz="half" idx="1"/>
          </p:nvPr>
        </p:nvSpPr>
        <p:spPr>
          <a:xfrm>
            <a:off x="628650" y="1369219"/>
            <a:ext cx="3886200" cy="326350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05241F17-4009-40AB-8A53-5CBE66915ACD}"/>
              </a:ext>
            </a:extLst>
          </p:cNvPr>
          <p:cNvSpPr>
            <a:spLocks noGrp="1"/>
          </p:cNvSpPr>
          <p:nvPr>
            <p:ph sz="half" idx="2"/>
          </p:nvPr>
        </p:nvSpPr>
        <p:spPr>
          <a:xfrm>
            <a:off x="4629150" y="1369219"/>
            <a:ext cx="3886200" cy="326350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1E026B95-4B69-4ED0-AF28-B7315A4DDFB1}"/>
              </a:ext>
            </a:extLst>
          </p:cNvPr>
          <p:cNvSpPr>
            <a:spLocks noGrp="1"/>
          </p:cNvSpPr>
          <p:nvPr>
            <p:ph type="dt" sz="half" idx="10"/>
          </p:nvPr>
        </p:nvSpPr>
        <p:spPr/>
        <p:txBody>
          <a:bodyPr/>
          <a:lstStyle/>
          <a:p>
            <a:fld id="{B61BEF0D-F0BB-DE4B-95CE-6DB70DBA9567}" type="datetimeFigureOut">
              <a:rPr lang="en-US" smtClean="0"/>
              <a:pPr/>
              <a:t>6/9/2022</a:t>
            </a:fld>
            <a:endParaRPr lang="en-US" dirty="0"/>
          </a:p>
        </p:txBody>
      </p:sp>
      <p:sp>
        <p:nvSpPr>
          <p:cNvPr id="6" name="Marcador de pie de página 5">
            <a:extLst>
              <a:ext uri="{FF2B5EF4-FFF2-40B4-BE49-F238E27FC236}">
                <a16:creationId xmlns:a16="http://schemas.microsoft.com/office/drawing/2014/main" id="{CF7F7347-D1CB-4F1C-B7F6-26D6F42D3C89}"/>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8A45E345-786B-4945-B9A1-72F0F6E9AFFB}"/>
              </a:ext>
            </a:extLst>
          </p:cNvPr>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81369977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5DEF33-9F2A-4AB1-B048-AA218BC73997}"/>
              </a:ext>
            </a:extLst>
          </p:cNvPr>
          <p:cNvSpPr>
            <a:spLocks noGrp="1"/>
          </p:cNvSpPr>
          <p:nvPr>
            <p:ph type="title"/>
          </p:nvPr>
        </p:nvSpPr>
        <p:spPr>
          <a:xfrm>
            <a:off x="629841" y="273844"/>
            <a:ext cx="7886700" cy="994172"/>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998D4617-0998-4324-8346-C64D465E09F4}"/>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2A0CBF8-8328-4361-9DC4-8E894525392A}"/>
              </a:ext>
            </a:extLst>
          </p:cNvPr>
          <p:cNvSpPr>
            <a:spLocks noGrp="1"/>
          </p:cNvSpPr>
          <p:nvPr>
            <p:ph sz="half" idx="2"/>
          </p:nvPr>
        </p:nvSpPr>
        <p:spPr>
          <a:xfrm>
            <a:off x="629842" y="1878806"/>
            <a:ext cx="3868340" cy="276344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EC04D57B-BA0D-402E-9D05-0B1427083CB0}"/>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E84263A-72C3-47AD-ABB7-A80EA20B92AA}"/>
              </a:ext>
            </a:extLst>
          </p:cNvPr>
          <p:cNvSpPr>
            <a:spLocks noGrp="1"/>
          </p:cNvSpPr>
          <p:nvPr>
            <p:ph sz="quarter" idx="4"/>
          </p:nvPr>
        </p:nvSpPr>
        <p:spPr>
          <a:xfrm>
            <a:off x="4629150" y="1878806"/>
            <a:ext cx="3887391" cy="276344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94955DB5-3071-46DE-863E-58502D2A780B}"/>
              </a:ext>
            </a:extLst>
          </p:cNvPr>
          <p:cNvSpPr>
            <a:spLocks noGrp="1"/>
          </p:cNvSpPr>
          <p:nvPr>
            <p:ph type="dt" sz="half" idx="10"/>
          </p:nvPr>
        </p:nvSpPr>
        <p:spPr/>
        <p:txBody>
          <a:bodyPr/>
          <a:lstStyle/>
          <a:p>
            <a:fld id="{B61BEF0D-F0BB-DE4B-95CE-6DB70DBA9567}" type="datetimeFigureOut">
              <a:rPr lang="en-US" smtClean="0"/>
              <a:pPr/>
              <a:t>6/9/2022</a:t>
            </a:fld>
            <a:endParaRPr lang="en-US" dirty="0"/>
          </a:p>
        </p:txBody>
      </p:sp>
      <p:sp>
        <p:nvSpPr>
          <p:cNvPr id="8" name="Marcador de pie de página 7">
            <a:extLst>
              <a:ext uri="{FF2B5EF4-FFF2-40B4-BE49-F238E27FC236}">
                <a16:creationId xmlns:a16="http://schemas.microsoft.com/office/drawing/2014/main" id="{339E0381-37EC-4497-8A41-302D280C859F}"/>
              </a:ext>
            </a:extLst>
          </p:cNvPr>
          <p:cNvSpPr>
            <a:spLocks noGrp="1"/>
          </p:cNvSpPr>
          <p:nvPr>
            <p:ph type="ftr" sz="quarter" idx="11"/>
          </p:nvPr>
        </p:nvSpPr>
        <p:spPr/>
        <p:txBody>
          <a:bodyPr/>
          <a:lstStyle/>
          <a:p>
            <a:endParaRPr lang="en-US" dirty="0"/>
          </a:p>
        </p:txBody>
      </p:sp>
      <p:sp>
        <p:nvSpPr>
          <p:cNvPr id="9" name="Marcador de número de diapositiva 8">
            <a:extLst>
              <a:ext uri="{FF2B5EF4-FFF2-40B4-BE49-F238E27FC236}">
                <a16:creationId xmlns:a16="http://schemas.microsoft.com/office/drawing/2014/main" id="{1DD84B43-9FCD-434B-86E2-EC89207C9E64}"/>
              </a:ext>
            </a:extLst>
          </p:cNvPr>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97753559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0A8C6-2349-43CE-8B11-39F73D837AC6}"/>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B467C2D1-BBBD-4BEA-A6C1-8365A4622BF3}"/>
              </a:ext>
            </a:extLst>
          </p:cNvPr>
          <p:cNvSpPr>
            <a:spLocks noGrp="1"/>
          </p:cNvSpPr>
          <p:nvPr>
            <p:ph type="dt" sz="half" idx="10"/>
          </p:nvPr>
        </p:nvSpPr>
        <p:spPr/>
        <p:txBody>
          <a:bodyPr/>
          <a:lstStyle/>
          <a:p>
            <a:fld id="{B61BEF0D-F0BB-DE4B-95CE-6DB70DBA9567}" type="datetimeFigureOut">
              <a:rPr lang="en-US" smtClean="0"/>
              <a:pPr/>
              <a:t>6/9/2022</a:t>
            </a:fld>
            <a:endParaRPr lang="en-US" dirty="0"/>
          </a:p>
        </p:txBody>
      </p:sp>
      <p:sp>
        <p:nvSpPr>
          <p:cNvPr id="4" name="Marcador de pie de página 3">
            <a:extLst>
              <a:ext uri="{FF2B5EF4-FFF2-40B4-BE49-F238E27FC236}">
                <a16:creationId xmlns:a16="http://schemas.microsoft.com/office/drawing/2014/main" id="{D6BBA437-571B-4EE9-BCC4-F169D80898B6}"/>
              </a:ext>
            </a:extLst>
          </p:cNvPr>
          <p:cNvSpPr>
            <a:spLocks noGrp="1"/>
          </p:cNvSpPr>
          <p:nvPr>
            <p:ph type="ftr" sz="quarter" idx="11"/>
          </p:nvPr>
        </p:nvSpPr>
        <p:spPr/>
        <p:txBody>
          <a:bodyPr/>
          <a:lstStyle/>
          <a:p>
            <a:endParaRPr lang="en-US" dirty="0"/>
          </a:p>
        </p:txBody>
      </p:sp>
      <p:sp>
        <p:nvSpPr>
          <p:cNvPr id="5" name="Marcador de número de diapositiva 4">
            <a:extLst>
              <a:ext uri="{FF2B5EF4-FFF2-40B4-BE49-F238E27FC236}">
                <a16:creationId xmlns:a16="http://schemas.microsoft.com/office/drawing/2014/main" id="{B08BE9F6-6A33-49FF-BCDB-A8B2254BA547}"/>
              </a:ext>
            </a:extLst>
          </p:cNvPr>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6562785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CF093A4-5F2E-449E-9882-E24989A6F477}"/>
              </a:ext>
            </a:extLst>
          </p:cNvPr>
          <p:cNvSpPr>
            <a:spLocks noGrp="1"/>
          </p:cNvSpPr>
          <p:nvPr>
            <p:ph type="dt" sz="half" idx="10"/>
          </p:nvPr>
        </p:nvSpPr>
        <p:spPr/>
        <p:txBody>
          <a:bodyPr/>
          <a:lstStyle/>
          <a:p>
            <a:fld id="{B61BEF0D-F0BB-DE4B-95CE-6DB70DBA9567}" type="datetimeFigureOut">
              <a:rPr lang="en-US" smtClean="0"/>
              <a:pPr/>
              <a:t>6/9/2022</a:t>
            </a:fld>
            <a:endParaRPr lang="en-US" dirty="0"/>
          </a:p>
        </p:txBody>
      </p:sp>
      <p:sp>
        <p:nvSpPr>
          <p:cNvPr id="3" name="Marcador de pie de página 2">
            <a:extLst>
              <a:ext uri="{FF2B5EF4-FFF2-40B4-BE49-F238E27FC236}">
                <a16:creationId xmlns:a16="http://schemas.microsoft.com/office/drawing/2014/main" id="{97C68340-4402-4A10-9413-BB7431F90076}"/>
              </a:ext>
            </a:extLst>
          </p:cNvPr>
          <p:cNvSpPr>
            <a:spLocks noGrp="1"/>
          </p:cNvSpPr>
          <p:nvPr>
            <p:ph type="ftr" sz="quarter" idx="11"/>
          </p:nvPr>
        </p:nvSpPr>
        <p:spPr/>
        <p:txBody>
          <a:bodyPr/>
          <a:lstStyle/>
          <a:p>
            <a:endParaRPr lang="en-US" dirty="0"/>
          </a:p>
        </p:txBody>
      </p:sp>
      <p:sp>
        <p:nvSpPr>
          <p:cNvPr id="4" name="Marcador de número de diapositiva 3">
            <a:extLst>
              <a:ext uri="{FF2B5EF4-FFF2-40B4-BE49-F238E27FC236}">
                <a16:creationId xmlns:a16="http://schemas.microsoft.com/office/drawing/2014/main" id="{9F993FCD-D5CF-4F5C-A158-E04EE1B9A026}"/>
              </a:ext>
            </a:extLst>
          </p:cNvPr>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42518834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B3F0AC-A1A7-4B40-9663-8C58AFFE0994}"/>
              </a:ext>
            </a:extLst>
          </p:cNvPr>
          <p:cNvSpPr>
            <a:spLocks noGrp="1"/>
          </p:cNvSpPr>
          <p:nvPr>
            <p:ph type="title"/>
          </p:nvPr>
        </p:nvSpPr>
        <p:spPr>
          <a:xfrm>
            <a:off x="629841" y="342900"/>
            <a:ext cx="2949178" cy="1200150"/>
          </a:xfrm>
        </p:spPr>
        <p:txBody>
          <a:bodyPr anchor="b"/>
          <a:lstStyle>
            <a:lvl1pPr>
              <a:defRPr sz="24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DB100C5D-AAE6-4BC1-AC3C-787F9A113BB2}"/>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1826A25E-C946-4173-B333-F2448FEC331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A29624E-AAB0-4892-BFA7-0A543886E4DE}"/>
              </a:ext>
            </a:extLst>
          </p:cNvPr>
          <p:cNvSpPr>
            <a:spLocks noGrp="1"/>
          </p:cNvSpPr>
          <p:nvPr>
            <p:ph type="dt" sz="half" idx="10"/>
          </p:nvPr>
        </p:nvSpPr>
        <p:spPr/>
        <p:txBody>
          <a:bodyPr/>
          <a:lstStyle/>
          <a:p>
            <a:fld id="{B61BEF0D-F0BB-DE4B-95CE-6DB70DBA9567}" type="datetimeFigureOut">
              <a:rPr lang="en-US" smtClean="0"/>
              <a:pPr/>
              <a:t>6/9/2022</a:t>
            </a:fld>
            <a:endParaRPr lang="en-US" dirty="0"/>
          </a:p>
        </p:txBody>
      </p:sp>
      <p:sp>
        <p:nvSpPr>
          <p:cNvPr id="6" name="Marcador de pie de página 5">
            <a:extLst>
              <a:ext uri="{FF2B5EF4-FFF2-40B4-BE49-F238E27FC236}">
                <a16:creationId xmlns:a16="http://schemas.microsoft.com/office/drawing/2014/main" id="{05F13960-19D9-4602-AE06-F56E5F98D590}"/>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39BC2F4A-B739-444B-9571-04ED6ADA9EE6}"/>
              </a:ext>
            </a:extLst>
          </p:cNvPr>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18777191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F63EB5-E107-4998-A241-B9DF3903FCBF}"/>
              </a:ext>
            </a:extLst>
          </p:cNvPr>
          <p:cNvSpPr>
            <a:spLocks noGrp="1"/>
          </p:cNvSpPr>
          <p:nvPr>
            <p:ph type="title"/>
          </p:nvPr>
        </p:nvSpPr>
        <p:spPr>
          <a:xfrm>
            <a:off x="629841" y="342900"/>
            <a:ext cx="2949178" cy="1200150"/>
          </a:xfrm>
        </p:spPr>
        <p:txBody>
          <a:bodyPr anchor="b"/>
          <a:lstStyle>
            <a:lvl1pPr>
              <a:defRPr sz="24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9F714C04-6027-48E2-9091-9B049BA44AC7}"/>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EC"/>
          </a:p>
        </p:txBody>
      </p:sp>
      <p:sp>
        <p:nvSpPr>
          <p:cNvPr id="4" name="Marcador de texto 3">
            <a:extLst>
              <a:ext uri="{FF2B5EF4-FFF2-40B4-BE49-F238E27FC236}">
                <a16:creationId xmlns:a16="http://schemas.microsoft.com/office/drawing/2014/main" id="{61D08790-28F7-48FA-936C-4DD71BAFA6A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7C69963-0074-43AE-B124-74A5A8768313}"/>
              </a:ext>
            </a:extLst>
          </p:cNvPr>
          <p:cNvSpPr>
            <a:spLocks noGrp="1"/>
          </p:cNvSpPr>
          <p:nvPr>
            <p:ph type="dt" sz="half" idx="10"/>
          </p:nvPr>
        </p:nvSpPr>
        <p:spPr/>
        <p:txBody>
          <a:bodyPr/>
          <a:lstStyle/>
          <a:p>
            <a:fld id="{B61BEF0D-F0BB-DE4B-95CE-6DB70DBA9567}" type="datetimeFigureOut">
              <a:rPr lang="en-US" smtClean="0"/>
              <a:pPr/>
              <a:t>6/9/2022</a:t>
            </a:fld>
            <a:endParaRPr lang="en-US" dirty="0"/>
          </a:p>
        </p:txBody>
      </p:sp>
      <p:sp>
        <p:nvSpPr>
          <p:cNvPr id="6" name="Marcador de pie de página 5">
            <a:extLst>
              <a:ext uri="{FF2B5EF4-FFF2-40B4-BE49-F238E27FC236}">
                <a16:creationId xmlns:a16="http://schemas.microsoft.com/office/drawing/2014/main" id="{7AFDCED3-6280-4732-B0FC-C78235BCD661}"/>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FC047805-DBE4-47E1-96BA-C7C13CFA4971}"/>
              </a:ext>
            </a:extLst>
          </p:cNvPr>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61195656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DCB324-EB4A-4A7F-98D5-4014DE66E99E}"/>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B500DDC-D43E-40F2-A597-9A35D591EEC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88B2170B-3077-4DDF-9EA8-CA984E8F9F65}"/>
              </a:ext>
            </a:extLst>
          </p:cNvPr>
          <p:cNvSpPr>
            <a:spLocks noGrp="1"/>
          </p:cNvSpPr>
          <p:nvPr>
            <p:ph type="dt" sz="half" idx="10"/>
          </p:nvPr>
        </p:nvSpPr>
        <p:spPr/>
        <p:txBody>
          <a:bodyPr/>
          <a:lstStyle/>
          <a:p>
            <a:fld id="{B61BEF0D-F0BB-DE4B-95CE-6DB70DBA9567}" type="datetimeFigureOut">
              <a:rPr lang="en-US" smtClean="0"/>
              <a:pPr/>
              <a:t>6/9/2022</a:t>
            </a:fld>
            <a:endParaRPr lang="en-US" dirty="0"/>
          </a:p>
        </p:txBody>
      </p:sp>
      <p:sp>
        <p:nvSpPr>
          <p:cNvPr id="5" name="Marcador de pie de página 4">
            <a:extLst>
              <a:ext uri="{FF2B5EF4-FFF2-40B4-BE49-F238E27FC236}">
                <a16:creationId xmlns:a16="http://schemas.microsoft.com/office/drawing/2014/main" id="{68024047-130F-4C8A-AD41-C2012754AA7A}"/>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C6E12769-B3FA-4631-A405-0AB8A09DEB71}"/>
              </a:ext>
            </a:extLst>
          </p:cNvPr>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43509951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3594913-F277-45C5-BEB6-755BE3A1F7FB}"/>
              </a:ext>
            </a:extLst>
          </p:cNvPr>
          <p:cNvSpPr>
            <a:spLocks noGrp="1"/>
          </p:cNvSpPr>
          <p:nvPr>
            <p:ph type="title" orient="vert"/>
          </p:nvPr>
        </p:nvSpPr>
        <p:spPr>
          <a:xfrm>
            <a:off x="6543675" y="273844"/>
            <a:ext cx="1971675" cy="4358879"/>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DBBFDEE3-FB4C-4D13-8450-71FA5E1D058C}"/>
              </a:ext>
            </a:extLst>
          </p:cNvPr>
          <p:cNvSpPr>
            <a:spLocks noGrp="1"/>
          </p:cNvSpPr>
          <p:nvPr>
            <p:ph type="body" orient="vert" idx="1"/>
          </p:nvPr>
        </p:nvSpPr>
        <p:spPr>
          <a:xfrm>
            <a:off x="628650" y="273844"/>
            <a:ext cx="5800725" cy="435887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98DB3BD8-9DAA-4B1C-9575-82B16AE00507}"/>
              </a:ext>
            </a:extLst>
          </p:cNvPr>
          <p:cNvSpPr>
            <a:spLocks noGrp="1"/>
          </p:cNvSpPr>
          <p:nvPr>
            <p:ph type="dt" sz="half" idx="10"/>
          </p:nvPr>
        </p:nvSpPr>
        <p:spPr/>
        <p:txBody>
          <a:bodyPr/>
          <a:lstStyle/>
          <a:p>
            <a:fld id="{B61BEF0D-F0BB-DE4B-95CE-6DB70DBA9567}" type="datetimeFigureOut">
              <a:rPr lang="en-US" smtClean="0"/>
              <a:pPr/>
              <a:t>6/9/2022</a:t>
            </a:fld>
            <a:endParaRPr lang="en-US" dirty="0"/>
          </a:p>
        </p:txBody>
      </p:sp>
      <p:sp>
        <p:nvSpPr>
          <p:cNvPr id="5" name="Marcador de pie de página 4">
            <a:extLst>
              <a:ext uri="{FF2B5EF4-FFF2-40B4-BE49-F238E27FC236}">
                <a16:creationId xmlns:a16="http://schemas.microsoft.com/office/drawing/2014/main" id="{C910BE0E-BC1E-47A4-B503-B9F32D73E520}"/>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127BE750-E6AE-4F0F-82DD-D9600F1AB0D0}"/>
              </a:ext>
            </a:extLst>
          </p:cNvPr>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61318963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extLst>
      <p:ext uri="{BB962C8B-B14F-4D97-AF65-F5344CB8AC3E}">
        <p14:creationId xmlns:p14="http://schemas.microsoft.com/office/powerpoint/2010/main" val="1545545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25271960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of text">
  <p:cSld name="Three columns of text">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extLst>
      <p:ext uri="{BB962C8B-B14F-4D97-AF65-F5344CB8AC3E}">
        <p14:creationId xmlns:p14="http://schemas.microsoft.com/office/powerpoint/2010/main" val="37476025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columns of text">
  <p:cSld name="Four columns of text">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Tree>
    <p:extLst>
      <p:ext uri="{BB962C8B-B14F-4D97-AF65-F5344CB8AC3E}">
        <p14:creationId xmlns:p14="http://schemas.microsoft.com/office/powerpoint/2010/main" val="29642420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66"/>
        <p:cNvGrpSpPr/>
        <p:nvPr/>
      </p:nvGrpSpPr>
      <p:grpSpPr>
        <a:xfrm>
          <a:off x="0" y="0"/>
          <a:ext cx="0" cy="0"/>
          <a:chOff x="0" y="0"/>
          <a:chExt cx="0" cy="0"/>
        </a:xfrm>
      </p:grpSpPr>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extLst>
      <p:ext uri="{BB962C8B-B14F-4D97-AF65-F5344CB8AC3E}">
        <p14:creationId xmlns:p14="http://schemas.microsoft.com/office/powerpoint/2010/main" val="42475322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Highlighted numbers">
  <p:cSld name="Highlighted numbers">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2825496" y="704088"/>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88" name="Google Shape;988;p20"/>
          <p:cNvSpPr txBox="1">
            <a:spLocks noGrp="1"/>
          </p:cNvSpPr>
          <p:nvPr>
            <p:ph type="title" idx="2" hasCustomPrompt="1"/>
          </p:nvPr>
        </p:nvSpPr>
        <p:spPr>
          <a:xfrm>
            <a:off x="2825496" y="218541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90" name="Google Shape;990;p20"/>
          <p:cNvSpPr txBox="1">
            <a:spLocks noGrp="1"/>
          </p:cNvSpPr>
          <p:nvPr>
            <p:ph type="title" idx="4" hasCustomPrompt="1"/>
          </p:nvPr>
        </p:nvSpPr>
        <p:spPr>
          <a:xfrm>
            <a:off x="2825496" y="364845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Tree>
    <p:extLst>
      <p:ext uri="{BB962C8B-B14F-4D97-AF65-F5344CB8AC3E}">
        <p14:creationId xmlns:p14="http://schemas.microsoft.com/office/powerpoint/2010/main" val="791326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2">
  <p:cSld name="Title and body 2">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842" name="Google Shape;842;p18"/>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extLst>
      <p:ext uri="{BB962C8B-B14F-4D97-AF65-F5344CB8AC3E}">
        <p14:creationId xmlns:p14="http://schemas.microsoft.com/office/powerpoint/2010/main" val="13248150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columns of text 2">
  <p:cSld name="Three columns of text 2">
    <p:spTree>
      <p:nvGrpSpPr>
        <p:cNvPr id="1" name="Shape 711"/>
        <p:cNvGrpSpPr/>
        <p:nvPr/>
      </p:nvGrpSpPr>
      <p:grpSpPr>
        <a:xfrm>
          <a:off x="0" y="0"/>
          <a:ext cx="0" cy="0"/>
          <a:chOff x="0" y="0"/>
          <a:chExt cx="0" cy="0"/>
        </a:xfrm>
      </p:grpSpPr>
      <p:sp>
        <p:nvSpPr>
          <p:cNvPr id="713" name="Google Shape;713;p16"/>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54" name="Google Shape;754;p16"/>
          <p:cNvSpPr txBox="1">
            <a:spLocks noGrp="1"/>
          </p:cNvSpPr>
          <p:nvPr>
            <p:ph type="subTitle" idx="1"/>
          </p:nvPr>
        </p:nvSpPr>
        <p:spPr>
          <a:xfrm>
            <a:off x="6217920"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5" name="Google Shape;755;p16"/>
          <p:cNvSpPr txBox="1">
            <a:spLocks noGrp="1"/>
          </p:cNvSpPr>
          <p:nvPr>
            <p:ph type="subTitle" idx="2"/>
          </p:nvPr>
        </p:nvSpPr>
        <p:spPr>
          <a:xfrm>
            <a:off x="3749040" y="1252728"/>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6" name="Google Shape;756;p16"/>
          <p:cNvSpPr txBox="1">
            <a:spLocks noGrp="1"/>
          </p:cNvSpPr>
          <p:nvPr>
            <p:ph type="subTitle" idx="3"/>
          </p:nvPr>
        </p:nvSpPr>
        <p:spPr>
          <a:xfrm>
            <a:off x="1289304"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7" name="Google Shape;757;p16"/>
          <p:cNvSpPr txBox="1">
            <a:spLocks noGrp="1"/>
          </p:cNvSpPr>
          <p:nvPr>
            <p:ph type="subTitle" idx="4"/>
          </p:nvPr>
        </p:nvSpPr>
        <p:spPr>
          <a:xfrm>
            <a:off x="6217920" y="2139696"/>
            <a:ext cx="16368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defRPr>
            </a:lvl1pPr>
            <a:lvl2pPr lvl="1" algn="ctr" rtl="0">
              <a:spcBef>
                <a:spcPts val="0"/>
              </a:spcBef>
              <a:spcAft>
                <a:spcPts val="0"/>
              </a:spcAft>
              <a:buNone/>
              <a:defRPr sz="1600">
                <a:solidFill>
                  <a:schemeClr val="dk2"/>
                </a:solidFill>
              </a:defRPr>
            </a:lvl2pPr>
            <a:lvl3pPr lvl="2" algn="ctr" rtl="0">
              <a:spcBef>
                <a:spcPts val="0"/>
              </a:spcBef>
              <a:spcAft>
                <a:spcPts val="0"/>
              </a:spcAft>
              <a:buNone/>
              <a:defRPr sz="1600">
                <a:solidFill>
                  <a:schemeClr val="dk2"/>
                </a:solidFill>
              </a:defRPr>
            </a:lvl3pPr>
            <a:lvl4pPr lvl="3" algn="ctr" rtl="0">
              <a:spcBef>
                <a:spcPts val="0"/>
              </a:spcBef>
              <a:spcAft>
                <a:spcPts val="0"/>
              </a:spcAft>
              <a:buNone/>
              <a:defRPr sz="1600">
                <a:solidFill>
                  <a:schemeClr val="dk2"/>
                </a:solidFill>
              </a:defRPr>
            </a:lvl4pPr>
            <a:lvl5pPr lvl="4" algn="ctr" rtl="0">
              <a:spcBef>
                <a:spcPts val="0"/>
              </a:spcBef>
              <a:spcAft>
                <a:spcPts val="0"/>
              </a:spcAft>
              <a:buNone/>
              <a:defRPr sz="1600">
                <a:solidFill>
                  <a:schemeClr val="dk2"/>
                </a:solidFill>
              </a:defRPr>
            </a:lvl5pPr>
            <a:lvl6pPr lvl="5" algn="ctr" rtl="0">
              <a:spcBef>
                <a:spcPts val="0"/>
              </a:spcBef>
              <a:spcAft>
                <a:spcPts val="0"/>
              </a:spcAft>
              <a:buNone/>
              <a:defRPr sz="1600">
                <a:solidFill>
                  <a:schemeClr val="dk2"/>
                </a:solidFill>
              </a:defRPr>
            </a:lvl6pPr>
            <a:lvl7pPr lvl="6" algn="ctr" rtl="0">
              <a:spcBef>
                <a:spcPts val="0"/>
              </a:spcBef>
              <a:spcAft>
                <a:spcPts val="0"/>
              </a:spcAft>
              <a:buNone/>
              <a:defRPr sz="1600">
                <a:solidFill>
                  <a:schemeClr val="dk2"/>
                </a:solidFill>
              </a:defRPr>
            </a:lvl7pPr>
            <a:lvl8pPr lvl="7" algn="ctr" rtl="0">
              <a:spcBef>
                <a:spcPts val="0"/>
              </a:spcBef>
              <a:spcAft>
                <a:spcPts val="0"/>
              </a:spcAft>
              <a:buNone/>
              <a:defRPr sz="1600">
                <a:solidFill>
                  <a:schemeClr val="dk2"/>
                </a:solidFill>
              </a:defRPr>
            </a:lvl8pPr>
            <a:lvl9pPr lvl="8" algn="ctr" rtl="0">
              <a:spcBef>
                <a:spcPts val="0"/>
              </a:spcBef>
              <a:spcAft>
                <a:spcPts val="0"/>
              </a:spcAft>
              <a:buNone/>
              <a:defRPr sz="1600">
                <a:solidFill>
                  <a:schemeClr val="dk2"/>
                </a:solidFill>
              </a:defRPr>
            </a:lvl9pPr>
          </a:lstStyle>
          <a:p>
            <a:endParaRPr/>
          </a:p>
        </p:txBody>
      </p:sp>
      <p:sp>
        <p:nvSpPr>
          <p:cNvPr id="758" name="Google Shape;758;p16"/>
          <p:cNvSpPr txBox="1">
            <a:spLocks noGrp="1"/>
          </p:cNvSpPr>
          <p:nvPr>
            <p:ph type="subTitle" idx="5"/>
          </p:nvPr>
        </p:nvSpPr>
        <p:spPr>
          <a:xfrm>
            <a:off x="3749040" y="1581912"/>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759" name="Google Shape;759;p16"/>
          <p:cNvSpPr txBox="1">
            <a:spLocks noGrp="1"/>
          </p:cNvSpPr>
          <p:nvPr>
            <p:ph type="subTitle" idx="6"/>
          </p:nvPr>
        </p:nvSpPr>
        <p:spPr>
          <a:xfrm>
            <a:off x="1289304" y="2139696"/>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extLst>
      <p:ext uri="{BB962C8B-B14F-4D97-AF65-F5344CB8AC3E}">
        <p14:creationId xmlns:p14="http://schemas.microsoft.com/office/powerpoint/2010/main" val="22234737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2">
  <p:cSld name="Main point 2">
    <p:spTree>
      <p:nvGrpSpPr>
        <p:cNvPr id="1" name="Shape 1546"/>
        <p:cNvGrpSpPr/>
        <p:nvPr/>
      </p:nvGrpSpPr>
      <p:grpSpPr>
        <a:xfrm>
          <a:off x="0" y="0"/>
          <a:ext cx="0" cy="0"/>
          <a:chOff x="0" y="0"/>
          <a:chExt cx="0" cy="0"/>
        </a:xfrm>
      </p:grpSpPr>
      <p:sp>
        <p:nvSpPr>
          <p:cNvPr id="1550" name="Google Shape;1550;p31"/>
          <p:cNvSpPr txBox="1">
            <a:spLocks noGrp="1"/>
          </p:cNvSpPr>
          <p:nvPr>
            <p:ph type="title"/>
          </p:nvPr>
        </p:nvSpPr>
        <p:spPr>
          <a:xfrm>
            <a:off x="2624328" y="1018528"/>
            <a:ext cx="3904500" cy="190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
        <p:nvSpPr>
          <p:cNvPr id="1618" name="Google Shape;1618;p31"/>
          <p:cNvSpPr txBox="1">
            <a:spLocks noGrp="1"/>
          </p:cNvSpPr>
          <p:nvPr>
            <p:ph type="subTitle" idx="1"/>
          </p:nvPr>
        </p:nvSpPr>
        <p:spPr>
          <a:xfrm>
            <a:off x="3639300"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extLst>
      <p:ext uri="{BB962C8B-B14F-4D97-AF65-F5344CB8AC3E}">
        <p14:creationId xmlns:p14="http://schemas.microsoft.com/office/powerpoint/2010/main" val="298573379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21" Type="http://schemas.openxmlformats.org/officeDocument/2006/relationships/theme" Target="../theme/theme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682"/>
        <p:cNvGrpSpPr/>
        <p:nvPr/>
      </p:nvGrpSpPr>
      <p:grpSpPr>
        <a:xfrm>
          <a:off x="0" y="0"/>
          <a:ext cx="0" cy="0"/>
          <a:chOff x="0" y="0"/>
          <a:chExt cx="0" cy="0"/>
        </a:xfrm>
      </p:grpSpPr>
      <p:sp>
        <p:nvSpPr>
          <p:cNvPr id="1683" name="Google Shape;1683;p3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684" name="Google Shape;1684;p3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DFB1379-0FC1-470C-BB6A-C658F487FD4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446291-5F98-4A47-A4EB-1F9855AE124E}"/>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046A334F-75BE-4F7E-A378-5671CB16754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1E507B9-64FA-40A5-819C-2D9F4AC00C3E}" type="datetimeFigureOut">
              <a:rPr lang="es-EC" smtClean="0"/>
              <a:t>9/6/2022</a:t>
            </a:fld>
            <a:endParaRPr lang="es-EC"/>
          </a:p>
        </p:txBody>
      </p:sp>
      <p:sp>
        <p:nvSpPr>
          <p:cNvPr id="5" name="Marcador de pie de página 4">
            <a:extLst>
              <a:ext uri="{FF2B5EF4-FFF2-40B4-BE49-F238E27FC236}">
                <a16:creationId xmlns:a16="http://schemas.microsoft.com/office/drawing/2014/main" id="{D77DF077-35F3-4380-AA79-CFDCC1330779}"/>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5BA56B71-641C-4730-B0C2-D0D3E665502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FCF9241-F42B-462C-8BAC-364535C638CD}" type="slidenum">
              <a:rPr lang="es-EC" smtClean="0"/>
              <a:t>‹Nº›</a:t>
            </a:fld>
            <a:endParaRPr lang="es-EC"/>
          </a:p>
        </p:txBody>
      </p:sp>
    </p:spTree>
    <p:extLst>
      <p:ext uri="{BB962C8B-B14F-4D97-AF65-F5344CB8AC3E}">
        <p14:creationId xmlns:p14="http://schemas.microsoft.com/office/powerpoint/2010/main" val="140000913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EC"/>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0.emf"/><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emf"/><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sp>
        <p:nvSpPr>
          <p:cNvPr id="1884" name="Google Shape;1884;p35"/>
          <p:cNvSpPr txBox="1">
            <a:spLocks noGrp="1"/>
          </p:cNvSpPr>
          <p:nvPr>
            <p:ph type="ctrTitle"/>
          </p:nvPr>
        </p:nvSpPr>
        <p:spPr>
          <a:xfrm>
            <a:off x="2137145" y="776177"/>
            <a:ext cx="6464596" cy="1158949"/>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4000" dirty="0">
                <a:solidFill>
                  <a:schemeClr val="dk2"/>
                </a:solidFill>
              </a:rPr>
              <a:t>Mercado de Capital y Teoria de las Remesas</a:t>
            </a:r>
            <a:endParaRPr sz="4000" dirty="0">
              <a:solidFill>
                <a:schemeClr val="dk2"/>
              </a:solidFill>
            </a:endParaRPr>
          </a:p>
        </p:txBody>
      </p:sp>
      <p:sp>
        <p:nvSpPr>
          <p:cNvPr id="1885" name="Google Shape;1885;p35"/>
          <p:cNvSpPr txBox="1">
            <a:spLocks noGrp="1"/>
          </p:cNvSpPr>
          <p:nvPr>
            <p:ph type="subTitle" idx="1"/>
          </p:nvPr>
        </p:nvSpPr>
        <p:spPr>
          <a:xfrm>
            <a:off x="5494630" y="2840387"/>
            <a:ext cx="3266598" cy="1158948"/>
          </a:xfrm>
          <a:prstGeom prst="rect">
            <a:avLst/>
          </a:prstGeom>
        </p:spPr>
        <p:txBody>
          <a:bodyPr spcFirstLastPara="1" wrap="square" lIns="91425" tIns="91425" rIns="91425" bIns="91425" anchor="t" anchorCtr="0">
            <a:noAutofit/>
          </a:bodyPr>
          <a:lstStyle/>
          <a:p>
            <a:pPr marL="0" lvl="0" indent="0" rtl="0">
              <a:spcBef>
                <a:spcPts val="0"/>
              </a:spcBef>
              <a:spcAft>
                <a:spcPts val="0"/>
              </a:spcAft>
              <a:buClr>
                <a:schemeClr val="dk1"/>
              </a:buClr>
              <a:buSzPts val="1100"/>
              <a:buFont typeface="Arial"/>
              <a:buNone/>
            </a:pPr>
            <a:r>
              <a:rPr lang="en-US" sz="2000" dirty="0">
                <a:solidFill>
                  <a:schemeClr val="accent1"/>
                </a:solidFill>
              </a:rPr>
              <a:t>Integrates: </a:t>
            </a:r>
          </a:p>
          <a:p>
            <a:pPr marL="0" lvl="0" indent="0" algn="r" rtl="0">
              <a:spcBef>
                <a:spcPts val="0"/>
              </a:spcBef>
              <a:spcAft>
                <a:spcPts val="0"/>
              </a:spcAft>
              <a:buClr>
                <a:schemeClr val="dk1"/>
              </a:buClr>
              <a:buSzPts val="1100"/>
              <a:buFont typeface="Arial"/>
              <a:buNone/>
            </a:pPr>
            <a:r>
              <a:rPr lang="es-ES" sz="2000" dirty="0">
                <a:solidFill>
                  <a:schemeClr val="tx1"/>
                </a:solidFill>
              </a:rPr>
              <a:t>Cambisaca Elvis</a:t>
            </a:r>
          </a:p>
          <a:p>
            <a:pPr marL="0" lvl="0" indent="0" algn="r" rtl="0">
              <a:spcBef>
                <a:spcPts val="0"/>
              </a:spcBef>
              <a:spcAft>
                <a:spcPts val="0"/>
              </a:spcAft>
              <a:buClr>
                <a:schemeClr val="dk1"/>
              </a:buClr>
              <a:buSzPts val="1100"/>
              <a:buFont typeface="Arial"/>
              <a:buNone/>
            </a:pPr>
            <a:r>
              <a:rPr lang="es-ES" sz="2000" dirty="0">
                <a:solidFill>
                  <a:schemeClr val="tx1"/>
                </a:solidFill>
              </a:rPr>
              <a:t>Peñaloza Diego</a:t>
            </a:r>
            <a:endParaRPr sz="2000" dirty="0">
              <a:solidFill>
                <a:schemeClr val="tx1"/>
              </a:solidFill>
            </a:endParaRPr>
          </a:p>
          <a:p>
            <a:pPr marL="0" lvl="0" indent="0" algn="r" rtl="0">
              <a:spcBef>
                <a:spcPts val="0"/>
              </a:spcBef>
              <a:spcAft>
                <a:spcPts val="0"/>
              </a:spcAft>
              <a:buClr>
                <a:schemeClr val="dk1"/>
              </a:buClr>
              <a:buSzPts val="1100"/>
              <a:buFont typeface="Arial"/>
              <a:buNone/>
            </a:pPr>
            <a:endParaRPr sz="2300" dirty="0">
              <a:solidFill>
                <a:schemeClr val="accent1"/>
              </a:solidFill>
            </a:endParaRPr>
          </a:p>
          <a:p>
            <a:pPr marL="0" lvl="0" indent="0" algn="r" rtl="0">
              <a:spcBef>
                <a:spcPts val="0"/>
              </a:spcBef>
              <a:spcAft>
                <a:spcPts val="0"/>
              </a:spcAft>
              <a:buNone/>
            </a:pPr>
            <a:endParaRPr sz="2300"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169043" y="2720234"/>
            <a:ext cx="5199320"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dirty="0"/>
              <a:t>Mercado de Capital</a:t>
            </a:r>
            <a:endParaRPr sz="4700" dirty="0"/>
          </a:p>
        </p:txBody>
      </p:sp>
      <p:sp>
        <p:nvSpPr>
          <p:cNvPr id="2156" name="Google Shape;2156;p38"/>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2157" name="Google Shape;2157;p38"/>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 </a:t>
            </a:r>
            <a:endParaRPr dirty="0">
              <a:latin typeface="Barlow Semi Condensed"/>
              <a:ea typeface="Barlow Semi Condensed"/>
              <a:cs typeface="Barlow Semi Condensed"/>
              <a:sym typeface="Barlow Semi Condens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sp>
        <p:nvSpPr>
          <p:cNvPr id="2178" name="Google Shape;2178;p39"/>
          <p:cNvSpPr txBox="1">
            <a:spLocks noGrp="1"/>
          </p:cNvSpPr>
          <p:nvPr>
            <p:ph type="subTitle" idx="1"/>
          </p:nvPr>
        </p:nvSpPr>
        <p:spPr>
          <a:xfrm>
            <a:off x="2167128" y="3054096"/>
            <a:ext cx="5345296" cy="1134000"/>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Font typeface="Wingdings" panose="05000000000000000000" pitchFamily="2" charset="2"/>
              <a:buChar char="Ø"/>
            </a:pPr>
            <a:r>
              <a:rPr lang="es-419" sz="1600" dirty="0">
                <a:latin typeface="Barlow Semi Condensed"/>
                <a:ea typeface="Barlow Semi Condensed"/>
                <a:cs typeface="Barlow Semi Condensed"/>
                <a:sym typeface="Barlow Semi Condensed"/>
              </a:rPr>
              <a:t>Tanto el capital </a:t>
            </a:r>
            <a:r>
              <a:rPr lang="es-419" sz="1600" dirty="0"/>
              <a:t>físico</a:t>
            </a:r>
            <a:r>
              <a:rPr lang="es-419" sz="1600" dirty="0">
                <a:latin typeface="Barlow Semi Condensed"/>
                <a:ea typeface="Barlow Semi Condensed"/>
                <a:cs typeface="Barlow Semi Condensed"/>
                <a:sym typeface="Barlow Semi Condensed"/>
              </a:rPr>
              <a:t> como el financiero se determinan por el </a:t>
            </a:r>
            <a:r>
              <a:rPr lang="es-419" sz="1600" dirty="0"/>
              <a:t>interés</a:t>
            </a:r>
            <a:r>
              <a:rPr lang="es-419" sz="1600" dirty="0">
                <a:latin typeface="Barlow Semi Condensed"/>
                <a:ea typeface="Barlow Semi Condensed"/>
                <a:cs typeface="Barlow Semi Condensed"/>
                <a:sym typeface="Barlow Semi Condensed"/>
              </a:rPr>
              <a:t>.</a:t>
            </a:r>
            <a:endParaRPr lang="es-419" sz="1600" dirty="0">
              <a:latin typeface="Barlow Semi Condensed"/>
              <a:ea typeface="Barlow Semi Condensed"/>
              <a:cs typeface="Barlow Semi Condensed"/>
            </a:endParaRPr>
          </a:p>
          <a:p>
            <a:pPr marL="285750" lvl="0" indent="-285750" algn="just" rtl="0">
              <a:spcBef>
                <a:spcPts val="0"/>
              </a:spcBef>
              <a:spcAft>
                <a:spcPts val="0"/>
              </a:spcAft>
              <a:buFont typeface="Wingdings" panose="05000000000000000000" pitchFamily="2" charset="2"/>
              <a:buChar char="Ø"/>
            </a:pPr>
            <a:r>
              <a:rPr lang="es-419" sz="1600" dirty="0"/>
              <a:t>Se maneja de manera similar al del mercado laboral, O y D.</a:t>
            </a:r>
          </a:p>
          <a:p>
            <a:pPr marL="285750" indent="-285750" algn="just">
              <a:buFont typeface="Wingdings" panose="05000000000000000000" pitchFamily="2" charset="2"/>
              <a:buChar char="Ø"/>
            </a:pPr>
            <a:r>
              <a:rPr lang="es-419" sz="1600" dirty="0"/>
              <a:t>Según estudios O y D  altamente elásticas a través del tiempo.</a:t>
            </a:r>
          </a:p>
          <a:p>
            <a:pPr lvl="0" algn="just" rtl="0">
              <a:spcBef>
                <a:spcPts val="0"/>
              </a:spcBef>
              <a:spcAft>
                <a:spcPts val="0"/>
              </a:spcAft>
            </a:pPr>
            <a:endParaRPr>
              <a:latin typeface="Barlow Semi Condensed"/>
              <a:ea typeface="Barlow Semi Condensed"/>
              <a:cs typeface="Barlow Semi Condensed"/>
              <a:sym typeface="Barlow Semi Condensed"/>
            </a:endParaRPr>
          </a:p>
        </p:txBody>
      </p:sp>
      <p:sp>
        <p:nvSpPr>
          <p:cNvPr id="2177" name="Google Shape;2177;p39"/>
          <p:cNvSpPr txBox="1">
            <a:spLocks noGrp="1"/>
          </p:cNvSpPr>
          <p:nvPr>
            <p:ph type="title"/>
          </p:nvPr>
        </p:nvSpPr>
        <p:spPr>
          <a:xfrm>
            <a:off x="2434975" y="2477952"/>
            <a:ext cx="5667033"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Mercado de Capital Financiero</a:t>
            </a:r>
            <a:endParaRPr dirty="0"/>
          </a:p>
        </p:txBody>
      </p:sp>
      <p:pic>
        <p:nvPicPr>
          <p:cNvPr id="19" name="Picture 2" descr="La economía y sus conceptos.: 2015">
            <a:extLst>
              <a:ext uri="{FF2B5EF4-FFF2-40B4-BE49-F238E27FC236}">
                <a16:creationId xmlns:a16="http://schemas.microsoft.com/office/drawing/2014/main" id="{5198A6AC-FA55-4025-9320-A62B3968F0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21" t="5491" r="55069" b="32114"/>
          <a:stretch/>
        </p:blipFill>
        <p:spPr bwMode="auto">
          <a:xfrm>
            <a:off x="3237542" y="274533"/>
            <a:ext cx="2668772" cy="22034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grpSp>
        <p:nvGrpSpPr>
          <p:cNvPr id="2183" name="Google Shape;2183;p40"/>
          <p:cNvGrpSpPr/>
          <p:nvPr/>
        </p:nvGrpSpPr>
        <p:grpSpPr>
          <a:xfrm>
            <a:off x="1819024" y="3893816"/>
            <a:ext cx="175013" cy="27000"/>
            <a:chOff x="5662375" y="212375"/>
            <a:chExt cx="175013" cy="27000"/>
          </a:xfrm>
        </p:grpSpPr>
        <p:sp>
          <p:nvSpPr>
            <p:cNvPr id="2184" name="Google Shape;2184;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5" name="Google Shape;2185;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6" name="Google Shape;2186;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87" name="Google Shape;2187;p40"/>
          <p:cNvGrpSpPr/>
          <p:nvPr/>
        </p:nvGrpSpPr>
        <p:grpSpPr>
          <a:xfrm>
            <a:off x="4484494" y="3893828"/>
            <a:ext cx="175013" cy="27000"/>
            <a:chOff x="5662375" y="212375"/>
            <a:chExt cx="175013" cy="27000"/>
          </a:xfrm>
        </p:grpSpPr>
        <p:sp>
          <p:nvSpPr>
            <p:cNvPr id="2188" name="Google Shape;2188;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9" name="Google Shape;2189;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0" name="Google Shape;2190;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91" name="Google Shape;2191;p40"/>
          <p:cNvGrpSpPr/>
          <p:nvPr/>
        </p:nvGrpSpPr>
        <p:grpSpPr>
          <a:xfrm>
            <a:off x="7149964" y="3893816"/>
            <a:ext cx="175013" cy="27000"/>
            <a:chOff x="5662375" y="212375"/>
            <a:chExt cx="175013" cy="27000"/>
          </a:xfrm>
        </p:grpSpPr>
        <p:sp>
          <p:nvSpPr>
            <p:cNvPr id="2192" name="Google Shape;2192;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3" name="Google Shape;2193;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4" name="Google Shape;2194;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95" name="Google Shape;2195;p40"/>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Economia Abierta</a:t>
            </a:r>
            <a:endParaRPr/>
          </a:p>
        </p:txBody>
      </p:sp>
      <p:sp>
        <p:nvSpPr>
          <p:cNvPr id="2196" name="Google Shape;2196;p40"/>
          <p:cNvSpPr txBox="1">
            <a:spLocks noGrp="1"/>
          </p:cNvSpPr>
          <p:nvPr>
            <p:ph type="subTitle" idx="1"/>
          </p:nvPr>
        </p:nvSpPr>
        <p:spPr>
          <a:xfrm>
            <a:off x="3550024" y="2414016"/>
            <a:ext cx="1909052" cy="32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dirty="0"/>
              <a:t>Economía Pequeña</a:t>
            </a:r>
          </a:p>
        </p:txBody>
      </p:sp>
      <p:sp>
        <p:nvSpPr>
          <p:cNvPr id="2197" name="Google Shape;2197;p40"/>
          <p:cNvSpPr txBox="1">
            <a:spLocks noGrp="1"/>
          </p:cNvSpPr>
          <p:nvPr>
            <p:ph type="sub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dirty="0"/>
              <a:t>Globalizado</a:t>
            </a:r>
          </a:p>
        </p:txBody>
      </p:sp>
      <p:sp>
        <p:nvSpPr>
          <p:cNvPr id="2198" name="Google Shape;2198;p40"/>
          <p:cNvSpPr txBox="1">
            <a:spLocks noGrp="1"/>
          </p:cNvSpPr>
          <p:nvPr>
            <p:ph type="subTitle" idx="3"/>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err="1"/>
              <a:t>Economía</a:t>
            </a:r>
            <a:r>
              <a:rPr lang="en" dirty="0"/>
              <a:t> Grande</a:t>
            </a:r>
            <a:endParaRPr dirty="0"/>
          </a:p>
        </p:txBody>
      </p:sp>
      <mc:AlternateContent xmlns:mc="http://schemas.openxmlformats.org/markup-compatibility/2006" xmlns:a14="http://schemas.microsoft.com/office/drawing/2010/main">
        <mc:Choice Requires="a14">
          <p:sp>
            <p:nvSpPr>
              <p:cNvPr id="2199" name="Google Shape;2199;p40"/>
              <p:cNvSpPr txBox="1">
                <a:spLocks noGrp="1"/>
              </p:cNvSpPr>
              <p:nvPr>
                <p:ph type="subTitle" idx="4"/>
              </p:nvPr>
            </p:nvSpPr>
            <p:spPr>
              <a:xfrm>
                <a:off x="3537599" y="2825496"/>
                <a:ext cx="2041801" cy="1079100"/>
              </a:xfrm>
              <a:prstGeom prst="rect">
                <a:avLst/>
              </a:prstGeom>
            </p:spPr>
            <p:txBody>
              <a:bodyPr spcFirstLastPara="1" wrap="square" lIns="91425" tIns="91425" rIns="91425" bIns="91425" anchor="t" anchorCtr="0">
                <a:noAutofit/>
              </a:bodyPr>
              <a:lstStyle/>
              <a:p>
                <a:pPr algn="just"/>
                <a:r>
                  <a:rPr lang="es-EC" dirty="0"/>
                  <a:t>E</a:t>
                </a:r>
                <a:r>
                  <a:rPr lang="es-EC" dirty="0">
                    <a:latin typeface="Barlow Semi Condensed"/>
                    <a:ea typeface="Barlow Semi Condensed"/>
                    <a:cs typeface="Barlow Semi Condensed"/>
                    <a:sym typeface="Barlow Semi Condensed"/>
                  </a:rPr>
                  <a:t>lasticidad perfecta. </a:t>
                </a:r>
              </a:p>
              <a:p>
                <a:pPr marL="0" lvl="0" indent="0" algn="just" rtl="0">
                  <a:spcBef>
                    <a:spcPts val="0"/>
                  </a:spcBef>
                  <a:spcAft>
                    <a:spcPts val="0"/>
                  </a:spcAft>
                  <a:buNone/>
                </a:pPr>
                <a14:m>
                  <m:oMath xmlns:m="http://schemas.openxmlformats.org/officeDocument/2006/math">
                    <m:sSub>
                      <m:sSubPr>
                        <m:ctrlPr>
                          <a:rPr lang="en-US" b="0" i="1" dirty="0" smtClean="0">
                            <a:latin typeface="Cambria Math" panose="02040503050406030204" pitchFamily="18" charset="0"/>
                            <a:ea typeface="Cambria Math" panose="02040503050406030204" pitchFamily="18" charset="0"/>
                          </a:rPr>
                        </m:ctrlPr>
                      </m:sSubPr>
                      <m:e>
                        <m:r>
                          <a:rPr lang="en" i="1" dirty="0" smtClean="0">
                            <a:latin typeface="Cambria Math" panose="02040503050406030204" pitchFamily="18" charset="0"/>
                            <a:ea typeface="Cambria Math" panose="02040503050406030204" pitchFamily="18" charset="0"/>
                          </a:rPr>
                          <m:t>𝜏</m:t>
                        </m:r>
                      </m:e>
                      <m:sub>
                        <m:r>
                          <a:rPr lang="en-US" b="0" i="1" dirty="0" smtClean="0">
                            <a:latin typeface="Cambria Math" panose="02040503050406030204" pitchFamily="18" charset="0"/>
                            <a:ea typeface="Cambria Math" panose="02040503050406030204" pitchFamily="18" charset="0"/>
                          </a:rPr>
                          <m:t>𝐶</m:t>
                        </m:r>
                      </m:sub>
                    </m:sSub>
                  </m:oMath>
                </a14:m>
                <a:r>
                  <a:rPr lang="en-US" dirty="0">
                    <a:latin typeface="Barlow Semi Condensed"/>
                    <a:ea typeface="Barlow Semi Condensed"/>
                    <a:cs typeface="Barlow Semi Condensed"/>
                    <a:sym typeface="Barlow Semi Condensed"/>
                  </a:rPr>
                  <a:t> </a:t>
                </a:r>
                <a:r>
                  <a:rPr lang="en-US" dirty="0">
                    <a:latin typeface="Barlow Semi Condensed"/>
                    <a:ea typeface="Barlow Semi Condensed"/>
                    <a:cs typeface="Barlow Semi Condensed"/>
                    <a:sym typeface="Wingdings" panose="05000000000000000000" pitchFamily="2" charset="2"/>
                  </a:rPr>
                  <a:t> Incidencia Total sobre D.</a:t>
                </a:r>
                <a:endParaRPr dirty="0">
                  <a:latin typeface="Barlow Semi Condensed"/>
                  <a:ea typeface="Barlow Semi Condensed"/>
                  <a:cs typeface="Barlow Semi Condensed"/>
                  <a:sym typeface="Barlow Semi Condensed"/>
                </a:endParaRPr>
              </a:p>
            </p:txBody>
          </p:sp>
        </mc:Choice>
        <mc:Fallback xmlns="">
          <p:sp>
            <p:nvSpPr>
              <p:cNvPr id="2199" name="Google Shape;2199;p40"/>
              <p:cNvSpPr txBox="1">
                <a:spLocks noGrp="1" noRot="1" noChangeAspect="1" noMove="1" noResize="1" noEditPoints="1" noAdjustHandles="1" noChangeArrowheads="1" noChangeShapeType="1" noTextEdit="1"/>
              </p:cNvSpPr>
              <p:nvPr>
                <p:ph type="subTitle" idx="4"/>
              </p:nvPr>
            </p:nvSpPr>
            <p:spPr>
              <a:xfrm>
                <a:off x="3537599" y="2825496"/>
                <a:ext cx="2041801" cy="1079100"/>
              </a:xfrm>
              <a:prstGeom prst="rect">
                <a:avLst/>
              </a:prstGeom>
              <a:blipFill>
                <a:blip r:embed="rId3"/>
                <a:stretch>
                  <a:fillRect l="-1493" r="-1791"/>
                </a:stretch>
              </a:blipFill>
            </p:spPr>
            <p:txBody>
              <a:bodyPr/>
              <a:lstStyle/>
              <a:p>
                <a:r>
                  <a:rPr lang="es-EC">
                    <a:noFill/>
                  </a:rPr>
                  <a:t> </a:t>
                </a:r>
              </a:p>
            </p:txBody>
          </p:sp>
        </mc:Fallback>
      </mc:AlternateContent>
      <p:sp>
        <p:nvSpPr>
          <p:cNvPr id="2200" name="Google Shape;2200;p40"/>
          <p:cNvSpPr txBox="1">
            <a:spLocks noGrp="1"/>
          </p:cNvSpPr>
          <p:nvPr>
            <p:ph type="subTitle" idx="5"/>
          </p:nvPr>
        </p:nvSpPr>
        <p:spPr>
          <a:xfrm>
            <a:off x="1024127" y="2825496"/>
            <a:ext cx="1962407" cy="109532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EC" dirty="0">
                <a:latin typeface="Barlow Semi Condensed"/>
                <a:ea typeface="Barlow Semi Condensed"/>
                <a:cs typeface="Barlow Semi Condensed"/>
                <a:sym typeface="Barlow Semi Condensed"/>
              </a:rPr>
              <a:t>Movilidad perfecta de capitales. i*.</a:t>
            </a:r>
          </a:p>
        </p:txBody>
      </p:sp>
      <mc:AlternateContent xmlns:mc="http://schemas.openxmlformats.org/markup-compatibility/2006" xmlns:a14="http://schemas.microsoft.com/office/drawing/2010/main">
        <mc:Choice Requires="a14">
          <p:sp>
            <p:nvSpPr>
              <p:cNvPr id="2201" name="Google Shape;2201;p40"/>
              <p:cNvSpPr txBox="1">
                <a:spLocks noGrp="1"/>
              </p:cNvSpPr>
              <p:nvPr>
                <p:ph type="subTitle" idx="6"/>
              </p:nvPr>
            </p:nvSpPr>
            <p:spPr>
              <a:xfrm>
                <a:off x="6231473" y="2825496"/>
                <a:ext cx="3002485" cy="1814360"/>
              </a:xfrm>
              <a:prstGeom prst="rect">
                <a:avLst/>
              </a:prstGeom>
            </p:spPr>
            <p:txBody>
              <a:bodyPr spcFirstLastPara="1" wrap="square" lIns="91425" tIns="91425" rIns="91425" bIns="91425" anchor="t" anchorCtr="0">
                <a:noAutofit/>
              </a:bodyPr>
              <a:lstStyle/>
              <a:p>
                <a:pPr algn="just"/>
                <a:r>
                  <a:rPr lang="es-EC" dirty="0"/>
                  <a:t>Elasticidad casi perfecta. </a:t>
                </a:r>
              </a:p>
              <a:p>
                <a:pPr lvl="0" algn="just"/>
                <a14:m>
                  <m:oMath xmlns:m="http://schemas.openxmlformats.org/officeDocument/2006/math">
                    <m:sSub>
                      <m:sSubPr>
                        <m:ctrlPr>
                          <a:rPr lang="ar-AE" i="1" dirty="0" smtClean="0">
                            <a:latin typeface="Cambria Math" panose="02040503050406030204" pitchFamily="18" charset="0"/>
                            <a:ea typeface="Cambria Math" panose="02040503050406030204" pitchFamily="18" charset="0"/>
                          </a:rPr>
                        </m:ctrlPr>
                      </m:sSubPr>
                      <m:e>
                        <m:r>
                          <a:rPr lang="ar-AE" i="1" dirty="0">
                            <a:latin typeface="Cambria Math" panose="02040503050406030204" pitchFamily="18" charset="0"/>
                            <a:ea typeface="Cambria Math" panose="02040503050406030204" pitchFamily="18" charset="0"/>
                          </a:rPr>
                          <m:t>𝜏</m:t>
                        </m:r>
                      </m:e>
                      <m:sub>
                        <m:r>
                          <a:rPr lang="ar-AE" i="1" dirty="0">
                            <a:latin typeface="Cambria Math" panose="02040503050406030204" pitchFamily="18" charset="0"/>
                            <a:ea typeface="Cambria Math" panose="02040503050406030204" pitchFamily="18" charset="0"/>
                          </a:rPr>
                          <m:t>𝐶</m:t>
                        </m:r>
                      </m:sub>
                    </m:sSub>
                  </m:oMath>
                </a14:m>
                <a:r>
                  <a:rPr lang="ar-AE" dirty="0"/>
                  <a:t> </a:t>
                </a:r>
                <a:r>
                  <a:rPr lang="ar-AE" dirty="0">
                    <a:sym typeface="Wingdings" panose="05000000000000000000" pitchFamily="2" charset="2"/>
                  </a:rPr>
                  <a:t> </a:t>
                </a:r>
                <a:r>
                  <a:rPr lang="en-US" dirty="0">
                    <a:sym typeface="Wingdings" panose="05000000000000000000" pitchFamily="2" charset="2"/>
                  </a:rPr>
                  <a:t> </a:t>
                </a:r>
                <a:r>
                  <a:rPr lang="es-EC" dirty="0">
                    <a:sym typeface="Wingdings" panose="05000000000000000000" pitchFamily="2" charset="2"/>
                  </a:rPr>
                  <a:t>Incidencia mayoritariamente recae sobre D.</a:t>
                </a:r>
                <a:endParaRPr lang="es-EC" dirty="0"/>
              </a:p>
              <a:p>
                <a:pPr lvl="0"/>
                <a:endParaRPr lang="en-US" dirty="0">
                  <a:latin typeface="Barlow Semi Condensed"/>
                  <a:ea typeface="Barlow Semi Condensed"/>
                  <a:cs typeface="Barlow Semi Condensed"/>
                  <a:sym typeface="Barlow Semi Condensed"/>
                </a:endParaRPr>
              </a:p>
            </p:txBody>
          </p:sp>
        </mc:Choice>
        <mc:Fallback xmlns="">
          <p:sp>
            <p:nvSpPr>
              <p:cNvPr id="2201" name="Google Shape;2201;p40"/>
              <p:cNvSpPr txBox="1">
                <a:spLocks noGrp="1" noRot="1" noChangeAspect="1" noMove="1" noResize="1" noEditPoints="1" noAdjustHandles="1" noChangeArrowheads="1" noChangeShapeType="1" noTextEdit="1"/>
              </p:cNvSpPr>
              <p:nvPr>
                <p:ph type="subTitle" idx="6"/>
              </p:nvPr>
            </p:nvSpPr>
            <p:spPr>
              <a:xfrm>
                <a:off x="6231473" y="2825496"/>
                <a:ext cx="3002485" cy="1814360"/>
              </a:xfrm>
              <a:prstGeom prst="rect">
                <a:avLst/>
              </a:prstGeom>
              <a:blipFill>
                <a:blip r:embed="rId4"/>
                <a:stretch>
                  <a:fillRect l="-1014" r="-1217"/>
                </a:stretch>
              </a:blipFill>
            </p:spPr>
            <p:txBody>
              <a:bodyPr/>
              <a:lstStyle/>
              <a:p>
                <a:r>
                  <a:rPr lang="es-EC">
                    <a:noFill/>
                  </a:rPr>
                  <a:t> </a:t>
                </a:r>
              </a:p>
            </p:txBody>
          </p:sp>
        </mc:Fallback>
      </mc:AlternateContent>
      <p:grpSp>
        <p:nvGrpSpPr>
          <p:cNvPr id="2212" name="Google Shape;2212;p40"/>
          <p:cNvGrpSpPr/>
          <p:nvPr/>
        </p:nvGrpSpPr>
        <p:grpSpPr>
          <a:xfrm>
            <a:off x="6966007" y="1952067"/>
            <a:ext cx="421914" cy="420759"/>
            <a:chOff x="-2571737" y="2403625"/>
            <a:chExt cx="292225" cy="291425"/>
          </a:xfrm>
        </p:grpSpPr>
        <p:sp>
          <p:nvSpPr>
            <p:cNvPr id="2213" name="Google Shape;2213;p40"/>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4" name="Google Shape;2214;p40"/>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5" name="Google Shape;2215;p40"/>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6" name="Google Shape;2216;p40"/>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7" name="Google Shape;2217;p40"/>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8" name="Google Shape;2218;p40"/>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9" name="Google Shape;2219;p40"/>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pic>
        <p:nvPicPr>
          <p:cNvPr id="1026" name="Picture 2" descr="Ver las imágenes de origen">
            <a:extLst>
              <a:ext uri="{FF2B5EF4-FFF2-40B4-BE49-F238E27FC236}">
                <a16:creationId xmlns:a16="http://schemas.microsoft.com/office/drawing/2014/main" id="{69625C1C-B04F-4443-9F2A-12FE84955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6109" y="1591122"/>
            <a:ext cx="1427842" cy="781704"/>
          </a:xfrm>
          <a:prstGeom prst="rect">
            <a:avLst/>
          </a:prstGeom>
          <a:noFill/>
          <a:extLst>
            <a:ext uri="{909E8E84-426E-40DD-AFC4-6F175D3DCCD1}">
              <a14:hiddenFill xmlns:a14="http://schemas.microsoft.com/office/drawing/2010/main">
                <a:solidFill>
                  <a:srgbClr val="FFFFFF"/>
                </a:solidFill>
              </a14:hiddenFill>
            </a:ext>
          </a:extLst>
        </p:spPr>
      </p:pic>
      <p:grpSp>
        <p:nvGrpSpPr>
          <p:cNvPr id="40" name="Google Shape;2212;p40">
            <a:extLst>
              <a:ext uri="{FF2B5EF4-FFF2-40B4-BE49-F238E27FC236}">
                <a16:creationId xmlns:a16="http://schemas.microsoft.com/office/drawing/2014/main" id="{6A0B37B7-FE0F-4DDB-88F4-9C9440BA185B}"/>
              </a:ext>
            </a:extLst>
          </p:cNvPr>
          <p:cNvGrpSpPr/>
          <p:nvPr/>
        </p:nvGrpSpPr>
        <p:grpSpPr>
          <a:xfrm>
            <a:off x="4347543" y="2116838"/>
            <a:ext cx="421914" cy="255988"/>
            <a:chOff x="-2571737" y="2511325"/>
            <a:chExt cx="292225" cy="183725"/>
          </a:xfrm>
        </p:grpSpPr>
        <p:sp>
          <p:nvSpPr>
            <p:cNvPr id="41" name="Google Shape;2213;p40">
              <a:extLst>
                <a:ext uri="{FF2B5EF4-FFF2-40B4-BE49-F238E27FC236}">
                  <a16:creationId xmlns:a16="http://schemas.microsoft.com/office/drawing/2014/main" id="{E0973748-C5CE-4F6F-968C-4313A7B6AD0B}"/>
                </a:ext>
              </a:extLst>
            </p:cNvPr>
            <p:cNvSpPr/>
            <p:nvPr/>
          </p:nvSpPr>
          <p:spPr>
            <a:xfrm>
              <a:off x="-2571737" y="2530250"/>
              <a:ext cx="292225" cy="164800"/>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42" name="Google Shape;2214;p40">
              <a:extLst>
                <a:ext uri="{FF2B5EF4-FFF2-40B4-BE49-F238E27FC236}">
                  <a16:creationId xmlns:a16="http://schemas.microsoft.com/office/drawing/2014/main" id="{C1D18FE0-7A4B-46EE-BBB0-51BF0CFC5332}"/>
                </a:ext>
              </a:extLst>
            </p:cNvPr>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44" name="Google Shape;2216;p40">
              <a:extLst>
                <a:ext uri="{FF2B5EF4-FFF2-40B4-BE49-F238E27FC236}">
                  <a16:creationId xmlns:a16="http://schemas.microsoft.com/office/drawing/2014/main" id="{F09E867B-24C4-4A45-A915-F3D2576DB18A}"/>
                </a:ext>
              </a:extLst>
            </p:cNvPr>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46" name="Google Shape;2218;p40">
              <a:extLst>
                <a:ext uri="{FF2B5EF4-FFF2-40B4-BE49-F238E27FC236}">
                  <a16:creationId xmlns:a16="http://schemas.microsoft.com/office/drawing/2014/main" id="{28B4C25B-8133-4D5E-8AC9-695274D74501}"/>
                </a:ext>
              </a:extLst>
            </p:cNvPr>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47" name="Google Shape;2219;p40">
              <a:extLst>
                <a:ext uri="{FF2B5EF4-FFF2-40B4-BE49-F238E27FC236}">
                  <a16:creationId xmlns:a16="http://schemas.microsoft.com/office/drawing/2014/main" id="{889A3581-DC98-4C25-830D-C8CF36BF6E5E}"/>
                </a:ext>
              </a:extLst>
            </p:cNvPr>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3"/>
        <p:cNvGrpSpPr/>
        <p:nvPr/>
      </p:nvGrpSpPr>
      <p:grpSpPr>
        <a:xfrm>
          <a:off x="0" y="0"/>
          <a:ext cx="0" cy="0"/>
          <a:chOff x="0" y="0"/>
          <a:chExt cx="0" cy="0"/>
        </a:xfrm>
      </p:grpSpPr>
      <p:sp>
        <p:nvSpPr>
          <p:cNvPr id="2224" name="Google Shape;2224;p41"/>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Efecto Impuesto</a:t>
            </a:r>
            <a:endParaRPr/>
          </a:p>
        </p:txBody>
      </p:sp>
      <p:sp>
        <p:nvSpPr>
          <p:cNvPr id="2225" name="Google Shape;2225;p41"/>
          <p:cNvSpPr txBox="1">
            <a:spLocks noGrp="1"/>
          </p:cNvSpPr>
          <p:nvPr>
            <p:ph type="subTitle" idx="1"/>
          </p:nvPr>
        </p:nvSpPr>
        <p:spPr>
          <a:xfrm>
            <a:off x="1340359" y="1746902"/>
            <a:ext cx="2537792" cy="41076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accent1"/>
                </a:solidFill>
              </a:rPr>
              <a:t>Alta elasticidad O</a:t>
            </a:r>
            <a:endParaRPr/>
          </a:p>
        </p:txBody>
      </p:sp>
      <mc:AlternateContent xmlns:mc="http://schemas.openxmlformats.org/markup-compatibility/2006">
        <mc:Choice xmlns:a14="http://schemas.microsoft.com/office/drawing/2010/main" Requires="a14">
          <p:sp>
            <p:nvSpPr>
              <p:cNvPr id="2226" name="Google Shape;2226;p41"/>
              <p:cNvSpPr txBox="1">
                <a:spLocks noGrp="1"/>
              </p:cNvSpPr>
              <p:nvPr>
                <p:ph type="subTitle" idx="2"/>
              </p:nvPr>
            </p:nvSpPr>
            <p:spPr>
              <a:xfrm>
                <a:off x="920830" y="2133891"/>
                <a:ext cx="1945200" cy="759000"/>
              </a:xfrm>
              <a:prstGeom prst="rect">
                <a:avLst/>
              </a:prstGeom>
            </p:spPr>
            <p:txBody>
              <a:bodyPr spcFirstLastPara="1" wrap="square" lIns="91425" tIns="91425" rIns="91425" bIns="91425" anchor="t" anchorCtr="0">
                <a:noAutofit/>
              </a:bodyPr>
              <a:lstStyle/>
              <a:p>
                <a:pPr/>
                <a14:m>
                  <m:oMathPara xmlns:m="http://schemas.openxmlformats.org/officeDocument/2006/math">
                    <m:oMathParaPr>
                      <m:jc m:val="centerGroup"/>
                    </m:oMathParaPr>
                    <m:oMath xmlns:m="http://schemas.openxmlformats.org/officeDocument/2006/math">
                      <m:sSup>
                        <m:sSupPr>
                          <m:ctrlPr>
                            <a:rPr lang="en-US" i="1" dirty="0" smtClean="0">
                              <a:solidFill>
                                <a:schemeClr val="tx1"/>
                              </a:solidFill>
                              <a:latin typeface="Cambria Math" panose="02040503050406030204" pitchFamily="18" charset="0"/>
                              <a:ea typeface="Cambria Math" panose="02040503050406030204" pitchFamily="18" charset="0"/>
                            </a:rPr>
                          </m:ctrlPr>
                        </m:sSupPr>
                        <m:e>
                          <m:r>
                            <a:rPr lang="en-US" i="1" dirty="0">
                              <a:solidFill>
                                <a:schemeClr val="tx1"/>
                              </a:solidFill>
                              <a:latin typeface="Cambria Math" panose="02040503050406030204" pitchFamily="18" charset="0"/>
                              <a:ea typeface="Cambria Math" panose="02040503050406030204" pitchFamily="18" charset="0"/>
                            </a:rPr>
                            <m:t>𝑖</m:t>
                          </m:r>
                        </m:e>
                        <m:sup>
                          <m:r>
                            <a:rPr lang="en-US" i="1" dirty="0">
                              <a:solidFill>
                                <a:schemeClr val="tx1"/>
                              </a:solidFill>
                              <a:latin typeface="Cambria Math" panose="02040503050406030204" pitchFamily="18" charset="0"/>
                              <a:ea typeface="Cambria Math" panose="02040503050406030204" pitchFamily="18" charset="0"/>
                            </a:rPr>
                            <m:t>∗</m:t>
                          </m:r>
                        </m:sup>
                      </m:sSup>
                      <m:r>
                        <a:rPr lang="en-US" b="0" i="0" dirty="0" smtClean="0">
                          <a:solidFill>
                            <a:schemeClr val="tx1"/>
                          </a:solidFill>
                          <a:latin typeface="Cambria Math" panose="02040503050406030204" pitchFamily="18" charset="0"/>
                          <a:ea typeface="Cambria Math" panose="02040503050406030204" pitchFamily="18" charset="0"/>
                        </a:rPr>
                        <m:t>      </m:t>
                      </m:r>
                      <m:r>
                        <m:rPr>
                          <m:sty m:val="p"/>
                        </m:rPr>
                        <a:rPr lang="en-US" b="0" i="0" dirty="0" smtClean="0">
                          <a:solidFill>
                            <a:schemeClr val="tx1"/>
                          </a:solidFill>
                          <a:latin typeface="Cambria Math" panose="02040503050406030204" pitchFamily="18" charset="0"/>
                          <a:ea typeface="Cambria Math" panose="02040503050406030204" pitchFamily="18" charset="0"/>
                        </a:rPr>
                        <m:t>y</m:t>
                      </m:r>
                      <m:r>
                        <a:rPr lang="en-US" b="0" i="0" dirty="0" smtClean="0">
                          <a:solidFill>
                            <a:schemeClr val="tx1"/>
                          </a:solidFill>
                          <a:latin typeface="Cambria Math" panose="02040503050406030204" pitchFamily="18" charset="0"/>
                          <a:ea typeface="Cambria Math" panose="02040503050406030204" pitchFamily="18" charset="0"/>
                        </a:rPr>
                        <m:t>      </m:t>
                      </m:r>
                      <m:sSub>
                        <m:sSubPr>
                          <m:ctrlPr>
                            <a:rPr lang="en-US" b="0" i="1" dirty="0" smtClean="0">
                              <a:solidFill>
                                <a:schemeClr val="tx1"/>
                              </a:solidFill>
                              <a:latin typeface="Cambria Math" panose="02040503050406030204" pitchFamily="18" charset="0"/>
                              <a:ea typeface="Cambria Math" panose="02040503050406030204" pitchFamily="18" charset="0"/>
                            </a:rPr>
                          </m:ctrlPr>
                        </m:sSubPr>
                        <m:e>
                          <m:r>
                            <m:rPr>
                              <m:sty m:val="p"/>
                            </m:rPr>
                            <a:rPr lang="en-US" b="0" i="0" dirty="0" smtClean="0">
                              <a:solidFill>
                                <a:schemeClr val="tx1"/>
                              </a:solidFill>
                              <a:latin typeface="Cambria Math" panose="02040503050406030204" pitchFamily="18" charset="0"/>
                              <a:ea typeface="Cambria Math" panose="02040503050406030204" pitchFamily="18" charset="0"/>
                            </a:rPr>
                            <m:t>K</m:t>
                          </m:r>
                        </m:e>
                        <m:sub>
                          <m:r>
                            <m:rPr>
                              <m:sty m:val="p"/>
                            </m:rPr>
                            <a:rPr lang="en-US" b="0" i="0" dirty="0" smtClean="0">
                              <a:solidFill>
                                <a:schemeClr val="tx1"/>
                              </a:solidFill>
                              <a:latin typeface="Cambria Math" panose="02040503050406030204" pitchFamily="18" charset="0"/>
                              <a:ea typeface="Cambria Math" panose="02040503050406030204" pitchFamily="18" charset="0"/>
                            </a:rPr>
                            <m:t>E</m:t>
                          </m:r>
                        </m:sub>
                      </m:sSub>
                    </m:oMath>
                  </m:oMathPara>
                </a14:m>
                <a:endParaRPr lang="en" dirty="0">
                  <a:solidFill>
                    <a:schemeClr val="tx1"/>
                  </a:solidFill>
                </a:endParaRPr>
              </a:p>
              <a:p>
                <a:pPr marL="0" lvl="0" indent="0" algn="l" rtl="0">
                  <a:spcBef>
                    <a:spcPts val="0"/>
                  </a:spcBef>
                  <a:spcAft>
                    <a:spcPts val="0"/>
                  </a:spcAft>
                  <a:buNone/>
                </a:pPr>
                <a:endParaRPr dirty="0">
                  <a:latin typeface="Barlow Semi Condensed"/>
                  <a:ea typeface="Barlow Semi Condensed"/>
                  <a:cs typeface="Barlow Semi Condensed"/>
                  <a:sym typeface="Barlow Semi Condensed"/>
                </a:endParaRPr>
              </a:p>
            </p:txBody>
          </p:sp>
        </mc:Choice>
        <mc:Fallback>
          <p:sp>
            <p:nvSpPr>
              <p:cNvPr id="2226" name="Google Shape;2226;p41"/>
              <p:cNvSpPr txBox="1">
                <a:spLocks noGrp="1" noRot="1" noChangeAspect="1" noMove="1" noResize="1" noEditPoints="1" noAdjustHandles="1" noChangeArrowheads="1" noChangeShapeType="1" noTextEdit="1"/>
              </p:cNvSpPr>
              <p:nvPr>
                <p:ph type="subTitle" idx="2"/>
              </p:nvPr>
            </p:nvSpPr>
            <p:spPr>
              <a:xfrm>
                <a:off x="920830" y="2133891"/>
                <a:ext cx="1945200" cy="759000"/>
              </a:xfrm>
              <a:prstGeom prst="rect">
                <a:avLst/>
              </a:prstGeom>
              <a:blipFill>
                <a:blip r:embed="rId3"/>
                <a:stretch>
                  <a:fillRect/>
                </a:stretch>
              </a:blipFill>
            </p:spPr>
            <p:txBody>
              <a:bodyPr/>
              <a:lstStyle/>
              <a:p>
                <a:r>
                  <a:rPr lang="es-ES">
                    <a:noFill/>
                  </a:rPr>
                  <a:t> </a:t>
                </a:r>
              </a:p>
            </p:txBody>
          </p:sp>
        </mc:Fallback>
      </mc:AlternateContent>
      <p:sp>
        <p:nvSpPr>
          <p:cNvPr id="2227" name="Google Shape;2227;p41"/>
          <p:cNvSpPr txBox="1">
            <a:spLocks noGrp="1"/>
          </p:cNvSpPr>
          <p:nvPr>
            <p:ph type="subTitle" idx="3"/>
          </p:nvPr>
        </p:nvSpPr>
        <p:spPr>
          <a:xfrm>
            <a:off x="1424491" y="2731316"/>
            <a:ext cx="19476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accent1"/>
                </a:solidFill>
              </a:rPr>
              <a:t>Rentabilidad</a:t>
            </a:r>
            <a:endParaRPr/>
          </a:p>
        </p:txBody>
      </p:sp>
      <mc:AlternateContent xmlns:mc="http://schemas.openxmlformats.org/markup-compatibility/2006">
        <mc:Choice xmlns:a14="http://schemas.microsoft.com/office/drawing/2010/main" Requires="a14">
          <p:sp>
            <p:nvSpPr>
              <p:cNvPr id="2228" name="Google Shape;2228;p41"/>
              <p:cNvSpPr txBox="1">
                <a:spLocks noGrp="1"/>
              </p:cNvSpPr>
              <p:nvPr>
                <p:ph type="subTitle" idx="4"/>
              </p:nvPr>
            </p:nvSpPr>
            <p:spPr>
              <a:xfrm>
                <a:off x="1470558" y="3201965"/>
                <a:ext cx="2277394" cy="759000"/>
              </a:xfrm>
              <a:prstGeom prst="rect">
                <a:avLst/>
              </a:prstGeom>
            </p:spPr>
            <p:txBody>
              <a:bodyPr spcFirstLastPara="1" wrap="square" lIns="91425" tIns="91425" rIns="91425" bIns="91425" anchor="t" anchorCtr="0">
                <a:no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ar-AE" sz="1600" b="0" i="1" dirty="0" smtClean="0">
                              <a:solidFill>
                                <a:schemeClr val="tx1"/>
                              </a:solidFill>
                              <a:latin typeface="Cambria Math" panose="02040503050406030204" pitchFamily="18" charset="0"/>
                              <a:ea typeface="Cambria Math" panose="02040503050406030204" pitchFamily="18" charset="0"/>
                            </a:rPr>
                          </m:ctrlPr>
                        </m:sSubPr>
                        <m:e>
                          <m:r>
                            <a:rPr lang="ar-AE" sz="1600" b="0" i="1" dirty="0" smtClean="0">
                              <a:solidFill>
                                <a:schemeClr val="tx1"/>
                              </a:solidFill>
                              <a:latin typeface="Cambria Math" panose="02040503050406030204" pitchFamily="18" charset="0"/>
                              <a:ea typeface="Cambria Math" panose="02040503050406030204" pitchFamily="18" charset="0"/>
                            </a:rPr>
                            <m:t>𝑖</m:t>
                          </m:r>
                        </m:e>
                        <m:sub>
                          <m:r>
                            <a:rPr lang="ar-AE" sz="1600" b="0" i="1" dirty="0" smtClean="0">
                              <a:solidFill>
                                <a:schemeClr val="tx1"/>
                              </a:solidFill>
                              <a:latin typeface="Cambria Math" panose="02040503050406030204" pitchFamily="18" charset="0"/>
                              <a:ea typeface="Cambria Math" panose="02040503050406030204" pitchFamily="18" charset="0"/>
                            </a:rPr>
                            <m:t>1</m:t>
                          </m:r>
                        </m:sub>
                      </m:sSub>
                      <m:r>
                        <a:rPr lang="ar-AE" sz="1600" i="1" dirty="0">
                          <a:solidFill>
                            <a:schemeClr val="tx1"/>
                          </a:solidFill>
                          <a:latin typeface="Cambria Math" panose="02040503050406030204" pitchFamily="18" charset="0"/>
                          <a:ea typeface="Cambria Math" panose="02040503050406030204" pitchFamily="18" charset="0"/>
                        </a:rPr>
                        <m:t>=</m:t>
                      </m:r>
                      <m:sSup>
                        <m:sSupPr>
                          <m:ctrlPr>
                            <a:rPr lang="ar-AE" sz="1600" i="1" dirty="0">
                              <a:solidFill>
                                <a:schemeClr val="tx1"/>
                              </a:solidFill>
                              <a:latin typeface="Cambria Math" panose="02040503050406030204" pitchFamily="18" charset="0"/>
                              <a:ea typeface="Cambria Math" panose="02040503050406030204" pitchFamily="18" charset="0"/>
                            </a:rPr>
                          </m:ctrlPr>
                        </m:sSupPr>
                        <m:e>
                          <m:r>
                            <a:rPr lang="ar-AE" sz="1600" i="1" dirty="0">
                              <a:solidFill>
                                <a:schemeClr val="tx1"/>
                              </a:solidFill>
                              <a:latin typeface="Cambria Math" panose="02040503050406030204" pitchFamily="18" charset="0"/>
                              <a:ea typeface="Cambria Math" panose="02040503050406030204" pitchFamily="18" charset="0"/>
                            </a:rPr>
                            <m:t>𝑖</m:t>
                          </m:r>
                        </m:e>
                        <m:sup>
                          <m:r>
                            <a:rPr lang="ar-AE" sz="1600" i="1" dirty="0">
                              <a:solidFill>
                                <a:schemeClr val="tx1"/>
                              </a:solidFill>
                              <a:latin typeface="Cambria Math" panose="02040503050406030204" pitchFamily="18" charset="0"/>
                              <a:ea typeface="Cambria Math" panose="02040503050406030204" pitchFamily="18" charset="0"/>
                            </a:rPr>
                            <m:t>∗</m:t>
                          </m:r>
                        </m:sup>
                      </m:sSup>
                      <m:r>
                        <a:rPr lang="ar-AE" sz="1600" i="1" dirty="0">
                          <a:solidFill>
                            <a:schemeClr val="tx1"/>
                          </a:solidFill>
                          <a:latin typeface="Cambria Math" panose="02040503050406030204" pitchFamily="18" charset="0"/>
                          <a:ea typeface="Cambria Math" panose="02040503050406030204" pitchFamily="18" charset="0"/>
                        </a:rPr>
                        <m:t>− </m:t>
                      </m:r>
                      <m:sSub>
                        <m:sSubPr>
                          <m:ctrlPr>
                            <a:rPr lang="ar-AE" sz="1600" i="1" dirty="0">
                              <a:solidFill>
                                <a:schemeClr val="tx1"/>
                              </a:solidFill>
                              <a:latin typeface="Cambria Math" panose="02040503050406030204" pitchFamily="18" charset="0"/>
                              <a:ea typeface="Cambria Math" panose="02040503050406030204" pitchFamily="18" charset="0"/>
                            </a:rPr>
                          </m:ctrlPr>
                        </m:sSubPr>
                        <m:e>
                          <m:r>
                            <a:rPr lang="ar-AE" sz="1600" i="1" dirty="0">
                              <a:solidFill>
                                <a:schemeClr val="tx1"/>
                              </a:solidFill>
                              <a:latin typeface="Cambria Math" panose="02040503050406030204" pitchFamily="18" charset="0"/>
                              <a:ea typeface="Cambria Math" panose="02040503050406030204" pitchFamily="18" charset="0"/>
                            </a:rPr>
                            <m:t>𝜏</m:t>
                          </m:r>
                        </m:e>
                        <m:sub>
                          <m:r>
                            <a:rPr lang="ar-AE" sz="1600" i="1" dirty="0">
                              <a:solidFill>
                                <a:schemeClr val="tx1"/>
                              </a:solidFill>
                              <a:latin typeface="Cambria Math" panose="02040503050406030204" pitchFamily="18" charset="0"/>
                              <a:ea typeface="Cambria Math" panose="02040503050406030204" pitchFamily="18" charset="0"/>
                            </a:rPr>
                            <m:t>𝐶</m:t>
                          </m:r>
                        </m:sub>
                      </m:sSub>
                      <m:r>
                        <a:rPr lang="ar-AE" sz="1600" i="1" dirty="0">
                          <a:solidFill>
                            <a:schemeClr val="tx1"/>
                          </a:solidFill>
                          <a:latin typeface="Cambria Math" panose="02040503050406030204" pitchFamily="18" charset="0"/>
                          <a:ea typeface="Cambria Math" panose="02040503050406030204" pitchFamily="18" charset="0"/>
                        </a:rPr>
                        <m:t> </m:t>
                      </m:r>
                    </m:oMath>
                  </m:oMathPara>
                </a14:m>
                <a:endParaRPr lang="ar-AE" sz="1600" dirty="0">
                  <a:solidFill>
                    <a:schemeClr val="tx1"/>
                  </a:solidFill>
                </a:endParaRPr>
              </a:p>
              <a:p>
                <a:pPr marL="0" lvl="0" indent="0" algn="l" rtl="0">
                  <a:lnSpc>
                    <a:spcPct val="150000"/>
                  </a:lnSpc>
                  <a:spcBef>
                    <a:spcPts val="0"/>
                  </a:spcBef>
                  <a:spcAft>
                    <a:spcPts val="0"/>
                  </a:spcAft>
                  <a:buNone/>
                </a:pPr>
                <a:r>
                  <a:rPr lang="en-US" sz="1600" dirty="0">
                    <a:solidFill>
                      <a:schemeClr val="tx1"/>
                    </a:solidFill>
                    <a:latin typeface="Barlow Semi Condensed"/>
                    <a:ea typeface="Barlow Semi Condensed"/>
                    <a:cs typeface="Barlow Semi Condensed"/>
                    <a:sym typeface="Barlow Semi Condensed"/>
                  </a:rPr>
                  <a:t>Cae la oferta de Capital.</a:t>
                </a:r>
                <a:endParaRPr lang="en-US" dirty="0">
                  <a:solidFill>
                    <a:schemeClr val="tx1"/>
                  </a:solidFill>
                  <a:latin typeface="Barlow Semi Condensed"/>
                  <a:ea typeface="Barlow Semi Condensed"/>
                  <a:cs typeface="Barlow Semi Condensed"/>
                  <a:sym typeface="Barlow Semi Condensed"/>
                </a:endParaRPr>
              </a:p>
            </p:txBody>
          </p:sp>
        </mc:Choice>
        <mc:Fallback>
          <p:sp>
            <p:nvSpPr>
              <p:cNvPr id="2228" name="Google Shape;2228;p41"/>
              <p:cNvSpPr txBox="1">
                <a:spLocks noGrp="1" noRot="1" noChangeAspect="1" noMove="1" noResize="1" noEditPoints="1" noAdjustHandles="1" noChangeArrowheads="1" noChangeShapeType="1" noTextEdit="1"/>
              </p:cNvSpPr>
              <p:nvPr>
                <p:ph type="subTitle" idx="4"/>
              </p:nvPr>
            </p:nvSpPr>
            <p:spPr>
              <a:xfrm>
                <a:off x="1470558" y="3201965"/>
                <a:ext cx="2277394" cy="759000"/>
              </a:xfrm>
              <a:prstGeom prst="rect">
                <a:avLst/>
              </a:prstGeom>
              <a:blipFill>
                <a:blip r:embed="rId4"/>
                <a:stretch>
                  <a:fillRect l="-1337" b="-18400"/>
                </a:stretch>
              </a:blipFill>
            </p:spPr>
            <p:txBody>
              <a:bodyPr/>
              <a:lstStyle/>
              <a:p>
                <a:r>
                  <a:rPr lang="es-ES">
                    <a:noFill/>
                  </a:rPr>
                  <a:t> </a:t>
                </a:r>
              </a:p>
            </p:txBody>
          </p:sp>
        </mc:Fallback>
      </mc:AlternateContent>
      <p:sp>
        <p:nvSpPr>
          <p:cNvPr id="19" name="Google Shape;2225;p41">
            <a:extLst>
              <a:ext uri="{FF2B5EF4-FFF2-40B4-BE49-F238E27FC236}">
                <a16:creationId xmlns:a16="http://schemas.microsoft.com/office/drawing/2014/main" id="{14FAAFCC-C8A1-412B-83D4-DE1626A757ED}"/>
              </a:ext>
            </a:extLst>
          </p:cNvPr>
          <p:cNvSpPr txBox="1">
            <a:spLocks/>
          </p:cNvSpPr>
          <p:nvPr/>
        </p:nvSpPr>
        <p:spPr>
          <a:xfrm>
            <a:off x="5964646" y="1746902"/>
            <a:ext cx="2537792" cy="4107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es-EC" sz="1800"/>
              <a:t>Alta elasticidad D</a:t>
            </a:r>
            <a:endParaRPr lang="es-EC"/>
          </a:p>
        </p:txBody>
      </p:sp>
      <mc:AlternateContent xmlns:mc="http://schemas.openxmlformats.org/markup-compatibility/2006">
        <mc:Choice xmlns:a14="http://schemas.microsoft.com/office/drawing/2010/main" Requires="a14">
          <p:sp>
            <p:nvSpPr>
              <p:cNvPr id="20" name="Google Shape;2226;p41">
                <a:extLst>
                  <a:ext uri="{FF2B5EF4-FFF2-40B4-BE49-F238E27FC236}">
                    <a16:creationId xmlns:a16="http://schemas.microsoft.com/office/drawing/2014/main" id="{376B975D-2F61-433D-B8A4-5AF175BA97C6}"/>
                  </a:ext>
                </a:extLst>
              </p:cNvPr>
              <p:cNvSpPr txBox="1">
                <a:spLocks/>
              </p:cNvSpPr>
              <p:nvPr/>
            </p:nvSpPr>
            <p:spPr>
              <a:xfrm>
                <a:off x="5491954" y="2133891"/>
                <a:ext cx="1945200" cy="759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9pPr>
              </a:lstStyle>
              <a:p>
                <a:pPr/>
                <a14:m>
                  <m:oMathPara xmlns:m="http://schemas.openxmlformats.org/officeDocument/2006/math">
                    <m:oMathParaPr>
                      <m:jc m:val="centerGroup"/>
                    </m:oMathParaPr>
                    <m:oMath xmlns:m="http://schemas.openxmlformats.org/officeDocument/2006/math">
                      <m:sSup>
                        <m:sSupPr>
                          <m:ctrlPr>
                            <a:rPr lang="ar-AE" i="1" dirty="0" smtClean="0">
                              <a:solidFill>
                                <a:schemeClr val="tx1"/>
                              </a:solidFill>
                              <a:latin typeface="Cambria Math" panose="02040503050406030204" pitchFamily="18" charset="0"/>
                              <a:ea typeface="Cambria Math" panose="02040503050406030204" pitchFamily="18" charset="0"/>
                            </a:rPr>
                          </m:ctrlPr>
                        </m:sSupPr>
                        <m:e>
                          <m:r>
                            <a:rPr lang="ar-AE" i="1" dirty="0">
                              <a:solidFill>
                                <a:schemeClr val="tx1"/>
                              </a:solidFill>
                              <a:latin typeface="Cambria Math" panose="02040503050406030204" pitchFamily="18" charset="0"/>
                              <a:ea typeface="Cambria Math" panose="02040503050406030204" pitchFamily="18" charset="0"/>
                            </a:rPr>
                            <m:t>𝑖</m:t>
                          </m:r>
                        </m:e>
                        <m:sup>
                          <m:r>
                            <a:rPr lang="ar-AE" i="1" dirty="0">
                              <a:solidFill>
                                <a:schemeClr val="tx1"/>
                              </a:solidFill>
                              <a:latin typeface="Cambria Math" panose="02040503050406030204" pitchFamily="18" charset="0"/>
                              <a:ea typeface="Cambria Math" panose="02040503050406030204" pitchFamily="18" charset="0"/>
                            </a:rPr>
                            <m:t>∗</m:t>
                          </m:r>
                        </m:sup>
                      </m:sSup>
                      <m:r>
                        <a:rPr lang="ar-AE" dirty="0" smtClean="0">
                          <a:solidFill>
                            <a:schemeClr val="tx1"/>
                          </a:solidFill>
                          <a:latin typeface="Cambria Math" panose="02040503050406030204" pitchFamily="18" charset="0"/>
                          <a:ea typeface="Cambria Math" panose="02040503050406030204" pitchFamily="18" charset="0"/>
                        </a:rPr>
                        <m:t>      </m:t>
                      </m:r>
                      <m:r>
                        <m:rPr>
                          <m:sty m:val="p"/>
                        </m:rPr>
                        <a:rPr lang="en-US" dirty="0" smtClean="0">
                          <a:solidFill>
                            <a:schemeClr val="tx1"/>
                          </a:solidFill>
                          <a:latin typeface="Cambria Math" panose="02040503050406030204" pitchFamily="18" charset="0"/>
                          <a:ea typeface="Cambria Math" panose="02040503050406030204" pitchFamily="18" charset="0"/>
                        </a:rPr>
                        <m:t>y</m:t>
                      </m:r>
                      <m:r>
                        <a:rPr lang="en-US" dirty="0" smtClean="0">
                          <a:solidFill>
                            <a:schemeClr val="tx1"/>
                          </a:solidFill>
                          <a:latin typeface="Cambria Math" panose="02040503050406030204" pitchFamily="18" charset="0"/>
                          <a:ea typeface="Cambria Math" panose="02040503050406030204" pitchFamily="18" charset="0"/>
                        </a:rPr>
                        <m:t>      </m:t>
                      </m:r>
                      <m:sSub>
                        <m:sSubPr>
                          <m:ctrlPr>
                            <a:rPr lang="ar-AE" i="1" dirty="0" smtClean="0">
                              <a:solidFill>
                                <a:schemeClr val="tx1"/>
                              </a:solidFill>
                              <a:latin typeface="Cambria Math" panose="02040503050406030204" pitchFamily="18" charset="0"/>
                              <a:ea typeface="Cambria Math" panose="02040503050406030204" pitchFamily="18" charset="0"/>
                            </a:rPr>
                          </m:ctrlPr>
                        </m:sSubPr>
                        <m:e>
                          <m:r>
                            <m:rPr>
                              <m:sty m:val="p"/>
                            </m:rPr>
                            <a:rPr lang="en-US" dirty="0" smtClean="0">
                              <a:solidFill>
                                <a:schemeClr val="tx1"/>
                              </a:solidFill>
                              <a:latin typeface="Cambria Math" panose="02040503050406030204" pitchFamily="18" charset="0"/>
                              <a:ea typeface="Cambria Math" panose="02040503050406030204" pitchFamily="18" charset="0"/>
                            </a:rPr>
                            <m:t>K</m:t>
                          </m:r>
                        </m:e>
                        <m:sub>
                          <m:r>
                            <m:rPr>
                              <m:sty m:val="p"/>
                            </m:rPr>
                            <a:rPr lang="en-US" dirty="0" smtClean="0">
                              <a:solidFill>
                                <a:schemeClr val="tx1"/>
                              </a:solidFill>
                              <a:latin typeface="Cambria Math" panose="02040503050406030204" pitchFamily="18" charset="0"/>
                              <a:ea typeface="Cambria Math" panose="02040503050406030204" pitchFamily="18" charset="0"/>
                            </a:rPr>
                            <m:t>E</m:t>
                          </m:r>
                        </m:sub>
                      </m:sSub>
                    </m:oMath>
                  </m:oMathPara>
                </a14:m>
                <a:endParaRPr lang="ar-AE" dirty="0">
                  <a:solidFill>
                    <a:schemeClr val="tx1"/>
                  </a:solidFill>
                </a:endParaRPr>
              </a:p>
              <a:p>
                <a:endParaRPr lang="ar-AE" dirty="0"/>
              </a:p>
            </p:txBody>
          </p:sp>
        </mc:Choice>
        <mc:Fallback>
          <p:sp>
            <p:nvSpPr>
              <p:cNvPr id="20" name="Google Shape;2226;p41">
                <a:extLst>
                  <a:ext uri="{FF2B5EF4-FFF2-40B4-BE49-F238E27FC236}">
                    <a16:creationId xmlns:a16="http://schemas.microsoft.com/office/drawing/2014/main" id="{376B975D-2F61-433D-B8A4-5AF175BA97C6}"/>
                  </a:ext>
                </a:extLst>
              </p:cNvPr>
              <p:cNvSpPr txBox="1">
                <a:spLocks noRot="1" noChangeAspect="1" noMove="1" noResize="1" noEditPoints="1" noAdjustHandles="1" noChangeArrowheads="1" noChangeShapeType="1" noTextEdit="1"/>
              </p:cNvSpPr>
              <p:nvPr/>
            </p:nvSpPr>
            <p:spPr>
              <a:xfrm>
                <a:off x="5491954" y="2133891"/>
                <a:ext cx="1945200" cy="759000"/>
              </a:xfrm>
              <a:prstGeom prst="rect">
                <a:avLst/>
              </a:prstGeom>
              <a:blipFill>
                <a:blip r:embed="rId5"/>
                <a:stretch>
                  <a:fillRect l="-313"/>
                </a:stretch>
              </a:blipFill>
              <a:ln>
                <a:noFill/>
              </a:ln>
            </p:spPr>
            <p:txBody>
              <a:bodyPr/>
              <a:lstStyle/>
              <a:p>
                <a:r>
                  <a:rPr lang="es-ES">
                    <a:noFill/>
                  </a:rPr>
                  <a:t> </a:t>
                </a:r>
              </a:p>
            </p:txBody>
          </p:sp>
        </mc:Fallback>
      </mc:AlternateContent>
      <p:sp>
        <p:nvSpPr>
          <p:cNvPr id="21" name="Google Shape;2227;p41">
            <a:extLst>
              <a:ext uri="{FF2B5EF4-FFF2-40B4-BE49-F238E27FC236}">
                <a16:creationId xmlns:a16="http://schemas.microsoft.com/office/drawing/2014/main" id="{CF90ADDD-3AEA-4741-A646-5CCDB5F8FF8D}"/>
              </a:ext>
            </a:extLst>
          </p:cNvPr>
          <p:cNvSpPr txBox="1">
            <a:spLocks/>
          </p:cNvSpPr>
          <p:nvPr/>
        </p:nvSpPr>
        <p:spPr>
          <a:xfrm>
            <a:off x="6048778" y="2731316"/>
            <a:ext cx="1947600" cy="37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es-EC" sz="1800"/>
              <a:t>Rentabilidad</a:t>
            </a:r>
            <a:endParaRPr lang="es-EC"/>
          </a:p>
        </p:txBody>
      </p:sp>
      <mc:AlternateContent xmlns:mc="http://schemas.openxmlformats.org/markup-compatibility/2006">
        <mc:Choice xmlns:a14="http://schemas.microsoft.com/office/drawing/2010/main" Requires="a14">
          <p:sp>
            <p:nvSpPr>
              <p:cNvPr id="22" name="Google Shape;2228;p41">
                <a:extLst>
                  <a:ext uri="{FF2B5EF4-FFF2-40B4-BE49-F238E27FC236}">
                    <a16:creationId xmlns:a16="http://schemas.microsoft.com/office/drawing/2014/main" id="{BE8DC1FA-FA3A-4ECD-85EF-7C9585CA90F3}"/>
                  </a:ext>
                </a:extLst>
              </p:cNvPr>
              <p:cNvSpPr txBox="1">
                <a:spLocks/>
              </p:cNvSpPr>
              <p:nvPr/>
            </p:nvSpPr>
            <p:spPr>
              <a:xfrm>
                <a:off x="6094844" y="3201965"/>
                <a:ext cx="2537791" cy="759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200" b="0" i="0" u="none" strike="noStrike" cap="none">
                    <a:solidFill>
                      <a:schemeClr val="dk2"/>
                    </a:solidFill>
                    <a:latin typeface="Barlow Semi Condensed"/>
                    <a:ea typeface="Barlow Semi Condensed"/>
                    <a:cs typeface="Barlow Semi Condensed"/>
                    <a:sym typeface="Barlow Semi Condensed"/>
                  </a:defRPr>
                </a:lvl9p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ar-AE" sz="1600" i="1" dirty="0" smtClean="0">
                              <a:solidFill>
                                <a:schemeClr val="tx1"/>
                              </a:solidFill>
                              <a:latin typeface="Cambria Math" panose="02040503050406030204" pitchFamily="18" charset="0"/>
                              <a:ea typeface="Cambria Math" panose="02040503050406030204" pitchFamily="18" charset="0"/>
                            </a:rPr>
                          </m:ctrlPr>
                        </m:sSubPr>
                        <m:e>
                          <m:r>
                            <a:rPr lang="ar-AE" sz="1600" i="1" dirty="0" smtClean="0">
                              <a:solidFill>
                                <a:schemeClr val="tx1"/>
                              </a:solidFill>
                              <a:latin typeface="Cambria Math" panose="02040503050406030204" pitchFamily="18" charset="0"/>
                              <a:ea typeface="Cambria Math" panose="02040503050406030204" pitchFamily="18" charset="0"/>
                            </a:rPr>
                            <m:t>𝑖</m:t>
                          </m:r>
                        </m:e>
                        <m:sub>
                          <m:r>
                            <a:rPr lang="ar-AE" sz="1600" i="1" dirty="0" smtClean="0">
                              <a:solidFill>
                                <a:schemeClr val="tx1"/>
                              </a:solidFill>
                              <a:latin typeface="Cambria Math" panose="02040503050406030204" pitchFamily="18" charset="0"/>
                              <a:ea typeface="Cambria Math" panose="02040503050406030204" pitchFamily="18" charset="0"/>
                            </a:rPr>
                            <m:t>1</m:t>
                          </m:r>
                        </m:sub>
                      </m:sSub>
                      <m:r>
                        <a:rPr lang="ar-AE" sz="1600" i="1" dirty="0">
                          <a:solidFill>
                            <a:schemeClr val="tx1"/>
                          </a:solidFill>
                          <a:latin typeface="Cambria Math" panose="02040503050406030204" pitchFamily="18" charset="0"/>
                          <a:ea typeface="Cambria Math" panose="02040503050406030204" pitchFamily="18" charset="0"/>
                        </a:rPr>
                        <m:t>=</m:t>
                      </m:r>
                      <m:sSup>
                        <m:sSupPr>
                          <m:ctrlPr>
                            <a:rPr lang="ar-AE" sz="1600" i="1" dirty="0">
                              <a:solidFill>
                                <a:schemeClr val="tx1"/>
                              </a:solidFill>
                              <a:latin typeface="Cambria Math" panose="02040503050406030204" pitchFamily="18" charset="0"/>
                              <a:ea typeface="Cambria Math" panose="02040503050406030204" pitchFamily="18" charset="0"/>
                            </a:rPr>
                          </m:ctrlPr>
                        </m:sSupPr>
                        <m:e>
                          <m:r>
                            <a:rPr lang="ar-AE" sz="1600" i="1" dirty="0">
                              <a:solidFill>
                                <a:schemeClr val="tx1"/>
                              </a:solidFill>
                              <a:latin typeface="Cambria Math" panose="02040503050406030204" pitchFamily="18" charset="0"/>
                              <a:ea typeface="Cambria Math" panose="02040503050406030204" pitchFamily="18" charset="0"/>
                            </a:rPr>
                            <m:t>𝑖</m:t>
                          </m:r>
                        </m:e>
                        <m:sup>
                          <m:r>
                            <a:rPr lang="ar-AE" sz="1600" i="1" dirty="0">
                              <a:solidFill>
                                <a:schemeClr val="tx1"/>
                              </a:solidFill>
                              <a:latin typeface="Cambria Math" panose="02040503050406030204" pitchFamily="18" charset="0"/>
                              <a:ea typeface="Cambria Math" panose="02040503050406030204" pitchFamily="18" charset="0"/>
                            </a:rPr>
                            <m:t>∗</m:t>
                          </m:r>
                        </m:sup>
                      </m:sSup>
                      <m:r>
                        <a:rPr lang="en-US" sz="1600" b="0" i="1" dirty="0" smtClean="0">
                          <a:solidFill>
                            <a:schemeClr val="tx1"/>
                          </a:solidFill>
                          <a:latin typeface="Cambria Math" panose="02040503050406030204" pitchFamily="18" charset="0"/>
                          <a:ea typeface="Cambria Math" panose="02040503050406030204" pitchFamily="18" charset="0"/>
                        </a:rPr>
                        <m:t>+</m:t>
                      </m:r>
                      <m:r>
                        <a:rPr lang="ar-AE" sz="1600" i="1" dirty="0">
                          <a:solidFill>
                            <a:schemeClr val="tx1"/>
                          </a:solidFill>
                          <a:latin typeface="Cambria Math" panose="02040503050406030204" pitchFamily="18" charset="0"/>
                          <a:ea typeface="Cambria Math" panose="02040503050406030204" pitchFamily="18" charset="0"/>
                        </a:rPr>
                        <m:t> </m:t>
                      </m:r>
                      <m:sSub>
                        <m:sSubPr>
                          <m:ctrlPr>
                            <a:rPr lang="ar-AE" sz="1600" i="1" dirty="0">
                              <a:solidFill>
                                <a:schemeClr val="tx1"/>
                              </a:solidFill>
                              <a:latin typeface="Cambria Math" panose="02040503050406030204" pitchFamily="18" charset="0"/>
                              <a:ea typeface="Cambria Math" panose="02040503050406030204" pitchFamily="18" charset="0"/>
                            </a:rPr>
                          </m:ctrlPr>
                        </m:sSubPr>
                        <m:e>
                          <m:r>
                            <a:rPr lang="ar-AE" sz="1600" i="1" dirty="0">
                              <a:solidFill>
                                <a:schemeClr val="tx1"/>
                              </a:solidFill>
                              <a:latin typeface="Cambria Math" panose="02040503050406030204" pitchFamily="18" charset="0"/>
                              <a:ea typeface="Cambria Math" panose="02040503050406030204" pitchFamily="18" charset="0"/>
                            </a:rPr>
                            <m:t>𝜏</m:t>
                          </m:r>
                        </m:e>
                        <m:sub>
                          <m:r>
                            <a:rPr lang="ar-AE" sz="1600" i="1" dirty="0">
                              <a:solidFill>
                                <a:schemeClr val="tx1"/>
                              </a:solidFill>
                              <a:latin typeface="Cambria Math" panose="02040503050406030204" pitchFamily="18" charset="0"/>
                              <a:ea typeface="Cambria Math" panose="02040503050406030204" pitchFamily="18" charset="0"/>
                            </a:rPr>
                            <m:t>𝐶</m:t>
                          </m:r>
                        </m:sub>
                      </m:sSub>
                      <m:r>
                        <a:rPr lang="ar-AE" sz="1600" i="1" dirty="0">
                          <a:solidFill>
                            <a:schemeClr val="tx1"/>
                          </a:solidFill>
                          <a:latin typeface="Cambria Math" panose="02040503050406030204" pitchFamily="18" charset="0"/>
                          <a:ea typeface="Cambria Math" panose="02040503050406030204" pitchFamily="18" charset="0"/>
                        </a:rPr>
                        <m:t> </m:t>
                      </m:r>
                    </m:oMath>
                  </m:oMathPara>
                </a14:m>
                <a:endParaRPr lang="ar-AE" sz="1600" dirty="0">
                  <a:solidFill>
                    <a:schemeClr val="tx1"/>
                  </a:solidFill>
                </a:endParaRPr>
              </a:p>
              <a:p>
                <a:pPr>
                  <a:lnSpc>
                    <a:spcPct val="150000"/>
                  </a:lnSpc>
                </a:pPr>
                <a:r>
                  <a:rPr lang="en-US" sz="1600" dirty="0" err="1">
                    <a:solidFill>
                      <a:schemeClr val="tx1"/>
                    </a:solidFill>
                  </a:rPr>
                  <a:t>Cae</a:t>
                </a:r>
                <a:r>
                  <a:rPr lang="en-US" sz="1600" dirty="0">
                    <a:solidFill>
                      <a:schemeClr val="tx1"/>
                    </a:solidFill>
                  </a:rPr>
                  <a:t> la </a:t>
                </a:r>
                <a:r>
                  <a:rPr lang="en-US" sz="1600" dirty="0" err="1">
                    <a:solidFill>
                      <a:schemeClr val="tx1"/>
                    </a:solidFill>
                  </a:rPr>
                  <a:t>demanda</a:t>
                </a:r>
                <a:r>
                  <a:rPr lang="en-US" sz="1600" dirty="0">
                    <a:solidFill>
                      <a:schemeClr val="tx1"/>
                    </a:solidFill>
                  </a:rPr>
                  <a:t> de Capital.</a:t>
                </a:r>
                <a:endParaRPr lang="en-US" dirty="0">
                  <a:solidFill>
                    <a:schemeClr val="tx1"/>
                  </a:solidFill>
                </a:endParaRPr>
              </a:p>
            </p:txBody>
          </p:sp>
        </mc:Choice>
        <mc:Fallback>
          <p:sp>
            <p:nvSpPr>
              <p:cNvPr id="22" name="Google Shape;2228;p41">
                <a:extLst>
                  <a:ext uri="{FF2B5EF4-FFF2-40B4-BE49-F238E27FC236}">
                    <a16:creationId xmlns:a16="http://schemas.microsoft.com/office/drawing/2014/main" id="{BE8DC1FA-FA3A-4ECD-85EF-7C9585CA90F3}"/>
                  </a:ext>
                </a:extLst>
              </p:cNvPr>
              <p:cNvSpPr txBox="1">
                <a:spLocks noRot="1" noChangeAspect="1" noMove="1" noResize="1" noEditPoints="1" noAdjustHandles="1" noChangeArrowheads="1" noChangeShapeType="1" noTextEdit="1"/>
              </p:cNvSpPr>
              <p:nvPr/>
            </p:nvSpPr>
            <p:spPr>
              <a:xfrm>
                <a:off x="6094844" y="3201965"/>
                <a:ext cx="2537791" cy="759000"/>
              </a:xfrm>
              <a:prstGeom prst="rect">
                <a:avLst/>
              </a:prstGeom>
              <a:blipFill>
                <a:blip r:embed="rId6"/>
                <a:stretch>
                  <a:fillRect l="-1442" b="-18400"/>
                </a:stretch>
              </a:blipFill>
              <a:ln>
                <a:noFill/>
              </a:ln>
            </p:spPr>
            <p:txBody>
              <a:bodyPr/>
              <a:lstStyle/>
              <a:p>
                <a:r>
                  <a:rPr lang="es-E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78" name="Google Shape;2178;p39"/>
              <p:cNvSpPr txBox="1">
                <a:spLocks noGrp="1"/>
              </p:cNvSpPr>
              <p:nvPr>
                <p:ph type="subTitle" idx="1"/>
              </p:nvPr>
            </p:nvSpPr>
            <p:spPr>
              <a:xfrm>
                <a:off x="1004047" y="1506548"/>
                <a:ext cx="7026604" cy="2706406"/>
              </a:xfrm>
              <a:prstGeom prst="rect">
                <a:avLst/>
              </a:prstGeom>
            </p:spPr>
            <p:txBody>
              <a:bodyPr spcFirstLastPara="1" wrap="square" lIns="91425" tIns="91425" rIns="91425" bIns="91425" anchor="t" anchorCtr="0">
                <a:noAutofit/>
              </a:bodyPr>
              <a:lstStyle/>
              <a:p>
                <a:pPr marL="285750" lvl="0" indent="-285750" algn="just" rtl="0">
                  <a:lnSpc>
                    <a:spcPct val="150000"/>
                  </a:lnSpc>
                  <a:spcBef>
                    <a:spcPts val="0"/>
                  </a:spcBef>
                  <a:spcAft>
                    <a:spcPts val="0"/>
                  </a:spcAft>
                  <a:buFont typeface="Wingdings" panose="05000000000000000000" pitchFamily="2" charset="2"/>
                  <a:buChar char="Ø"/>
                </a:pPr>
                <a:r>
                  <a:rPr lang="es-EC" sz="1600" dirty="0">
                    <a:solidFill>
                      <a:schemeClr val="tx1"/>
                    </a:solidFill>
                    <a:latin typeface="Barlow Semi Condensed"/>
                    <a:ea typeface="Barlow Semi Condensed"/>
                    <a:cs typeface="Barlow Semi Condensed"/>
                    <a:sym typeface="Barlow Semi Condensed"/>
                  </a:rPr>
                  <a:t>Se presenta en el caso de la Tierra </a:t>
                </a:r>
                <a:r>
                  <a:rPr lang="es-EC" sz="1600" dirty="0">
                    <a:solidFill>
                      <a:schemeClr val="tx1"/>
                    </a:solidFill>
                    <a:latin typeface="Barlow Semi Condensed"/>
                    <a:ea typeface="Barlow Semi Condensed"/>
                    <a:cs typeface="Barlow Semi Condensed"/>
                    <a:sym typeface="Wingdings" panose="05000000000000000000" pitchFamily="2" charset="2"/>
                  </a:rPr>
                  <a:t> </a:t>
                </a:r>
                <a:r>
                  <a:rPr lang="es-EC" sz="1600" dirty="0">
                    <a:solidFill>
                      <a:schemeClr val="tx1"/>
                    </a:solidFill>
                  </a:rPr>
                  <a:t>Oferta fija y vida util casi infinita.</a:t>
                </a:r>
              </a:p>
              <a:p>
                <a:pPr marL="285750" lvl="0" indent="-285750" algn="just" rtl="0">
                  <a:lnSpc>
                    <a:spcPct val="150000"/>
                  </a:lnSpc>
                  <a:spcBef>
                    <a:spcPts val="0"/>
                  </a:spcBef>
                  <a:spcAft>
                    <a:spcPts val="0"/>
                  </a:spcAft>
                  <a:buFont typeface="Wingdings" panose="05000000000000000000" pitchFamily="2" charset="2"/>
                  <a:buChar char="Ø"/>
                </a:pPr>
                <a:r>
                  <a:rPr lang="es-EC" sz="1600" dirty="0">
                    <a:solidFill>
                      <a:schemeClr val="tx1"/>
                    </a:solidFill>
                  </a:rPr>
                  <a:t>Precio del bien </a:t>
                </a:r>
                <a:r>
                  <a:rPr lang="es-EC" sz="1600" dirty="0">
                    <a:solidFill>
                      <a:schemeClr val="tx1"/>
                    </a:solidFill>
                    <a:sym typeface="Wingdings" panose="05000000000000000000" pitchFamily="2" charset="2"/>
                  </a:rPr>
                  <a:t> VA flujos de ingresos netos.</a:t>
                </a:r>
              </a:p>
              <a:p>
                <a:pPr lvl="0">
                  <a:lnSpc>
                    <a:spcPct val="150000"/>
                  </a:lnSpc>
                </a:pPr>
                <a14:m>
                  <m:oMathPara xmlns:m="http://schemas.openxmlformats.org/officeDocument/2006/math">
                    <m:oMathParaPr>
                      <m:jc m:val="centerGroup"/>
                    </m:oMathParaPr>
                    <m:oMath xmlns:m="http://schemas.openxmlformats.org/officeDocument/2006/math">
                      <m:sSub>
                        <m:sSubPr>
                          <m:ctrlPr>
                            <a:rPr lang="ar-AE" sz="1600" b="1" i="1" smtClean="0">
                              <a:solidFill>
                                <a:schemeClr val="tx1"/>
                              </a:solidFill>
                              <a:latin typeface="Cambria Math" panose="02040503050406030204" pitchFamily="18" charset="0"/>
                            </a:rPr>
                          </m:ctrlPr>
                        </m:sSubPr>
                        <m:e>
                          <m:r>
                            <a:rPr lang="ar-AE" sz="1600" b="1" i="1" smtClean="0">
                              <a:solidFill>
                                <a:schemeClr val="tx1"/>
                              </a:solidFill>
                              <a:latin typeface="Cambria Math" panose="02040503050406030204" pitchFamily="18" charset="0"/>
                            </a:rPr>
                            <m:t>𝑷</m:t>
                          </m:r>
                        </m:e>
                        <m:sub>
                          <m:r>
                            <a:rPr lang="ar-AE" sz="1600" b="1" i="1" smtClean="0">
                              <a:solidFill>
                                <a:schemeClr val="tx1"/>
                              </a:solidFill>
                              <a:latin typeface="Cambria Math" panose="02040503050406030204" pitchFamily="18" charset="0"/>
                            </a:rPr>
                            <m:t>𝑻</m:t>
                          </m:r>
                        </m:sub>
                      </m:sSub>
                      <m:r>
                        <a:rPr lang="ar-AE" sz="1600" b="1" i="1" smtClean="0">
                          <a:solidFill>
                            <a:schemeClr val="tx1"/>
                          </a:solidFill>
                          <a:latin typeface="Cambria Math" panose="02040503050406030204" pitchFamily="18" charset="0"/>
                        </a:rPr>
                        <m:t>=</m:t>
                      </m:r>
                      <m:sSub>
                        <m:sSubPr>
                          <m:ctrlPr>
                            <a:rPr lang="ar-AE" sz="1600" b="1" i="1" smtClean="0">
                              <a:solidFill>
                                <a:schemeClr val="tx1"/>
                              </a:solidFill>
                              <a:latin typeface="Cambria Math" panose="02040503050406030204" pitchFamily="18" charset="0"/>
                            </a:rPr>
                          </m:ctrlPr>
                        </m:sSubPr>
                        <m:e>
                          <m:r>
                            <a:rPr lang="ar-AE" sz="1600" b="1" i="1" smtClean="0">
                              <a:solidFill>
                                <a:schemeClr val="tx1"/>
                              </a:solidFill>
                              <a:latin typeface="Cambria Math" panose="02040503050406030204" pitchFamily="18" charset="0"/>
                            </a:rPr>
                            <m:t>𝑨</m:t>
                          </m:r>
                        </m:e>
                        <m:sub>
                          <m:r>
                            <a:rPr lang="ar-AE" sz="1600" b="1" i="1" smtClean="0">
                              <a:solidFill>
                                <a:schemeClr val="tx1"/>
                              </a:solidFill>
                              <a:latin typeface="Cambria Math" panose="02040503050406030204" pitchFamily="18" charset="0"/>
                            </a:rPr>
                            <m:t>𝟎</m:t>
                          </m:r>
                        </m:sub>
                      </m:sSub>
                      <m:r>
                        <a:rPr lang="ar-AE" sz="1600" b="1" i="1" smtClean="0">
                          <a:solidFill>
                            <a:schemeClr val="tx1"/>
                          </a:solidFill>
                          <a:latin typeface="Cambria Math" panose="02040503050406030204" pitchFamily="18" charset="0"/>
                        </a:rPr>
                        <m:t>+</m:t>
                      </m:r>
                      <m:nary>
                        <m:naryPr>
                          <m:chr m:val="∑"/>
                          <m:limLoc m:val="subSup"/>
                          <m:ctrlPr>
                            <a:rPr lang="ar-AE" sz="1600" b="1" i="1" smtClean="0">
                              <a:solidFill>
                                <a:schemeClr val="tx1"/>
                              </a:solidFill>
                              <a:latin typeface="Cambria Math" panose="02040503050406030204" pitchFamily="18" charset="0"/>
                            </a:rPr>
                          </m:ctrlPr>
                        </m:naryPr>
                        <m:sub>
                          <m:r>
                            <m:rPr>
                              <m:brk m:alnAt="25"/>
                            </m:rPr>
                            <a:rPr lang="ar-AE" sz="1600" b="1" i="1" smtClean="0">
                              <a:solidFill>
                                <a:schemeClr val="tx1"/>
                              </a:solidFill>
                              <a:latin typeface="Cambria Math" panose="02040503050406030204" pitchFamily="18" charset="0"/>
                            </a:rPr>
                            <m:t>𝒊</m:t>
                          </m:r>
                          <m:r>
                            <a:rPr lang="ar-AE" sz="1600" b="1" i="1" smtClean="0">
                              <a:solidFill>
                                <a:schemeClr val="tx1"/>
                              </a:solidFill>
                              <a:latin typeface="Cambria Math" panose="02040503050406030204" pitchFamily="18" charset="0"/>
                            </a:rPr>
                            <m:t>=</m:t>
                          </m:r>
                          <m:r>
                            <m:rPr>
                              <m:brk m:alnAt="25"/>
                            </m:rPr>
                            <a:rPr lang="ar-AE" sz="1600" b="1" i="1" smtClean="0">
                              <a:solidFill>
                                <a:schemeClr val="tx1"/>
                              </a:solidFill>
                              <a:latin typeface="Cambria Math" panose="02040503050406030204" pitchFamily="18" charset="0"/>
                            </a:rPr>
                            <m:t>𝟏</m:t>
                          </m:r>
                        </m:sub>
                        <m:sup>
                          <m:r>
                            <a:rPr lang="ar-AE" sz="1600" b="1" i="1" smtClean="0">
                              <a:solidFill>
                                <a:schemeClr val="tx1"/>
                              </a:solidFill>
                              <a:latin typeface="Cambria Math" panose="02040503050406030204" pitchFamily="18" charset="0"/>
                            </a:rPr>
                            <m:t>𝒏</m:t>
                          </m:r>
                        </m:sup>
                        <m:e>
                          <m:sSub>
                            <m:sSubPr>
                              <m:ctrlPr>
                                <a:rPr lang="ar-AE" sz="1600" b="1" i="1">
                                  <a:solidFill>
                                    <a:schemeClr val="tx1"/>
                                  </a:solidFill>
                                  <a:latin typeface="Cambria Math" panose="02040503050406030204" pitchFamily="18" charset="0"/>
                                </a:rPr>
                              </m:ctrlPr>
                            </m:sSubPr>
                            <m:e>
                              <m:r>
                                <a:rPr lang="ar-AE" sz="1600" b="1" i="1" smtClean="0">
                                  <a:solidFill>
                                    <a:schemeClr val="tx1"/>
                                  </a:solidFill>
                                  <a:latin typeface="Cambria Math" panose="02040503050406030204" pitchFamily="18" charset="0"/>
                                </a:rPr>
                                <m:t>  </m:t>
                              </m:r>
                              <m:r>
                                <a:rPr lang="ar-AE" sz="1600" b="1" i="1">
                                  <a:solidFill>
                                    <a:schemeClr val="tx1"/>
                                  </a:solidFill>
                                  <a:latin typeface="Cambria Math" panose="02040503050406030204" pitchFamily="18" charset="0"/>
                                </a:rPr>
                                <m:t>𝑨</m:t>
                              </m:r>
                            </m:e>
                            <m:sub>
                              <m:r>
                                <a:rPr lang="ar-AE" sz="1600" b="1" i="1" smtClean="0">
                                  <a:solidFill>
                                    <a:schemeClr val="tx1"/>
                                  </a:solidFill>
                                  <a:latin typeface="Cambria Math" panose="02040503050406030204" pitchFamily="18" charset="0"/>
                                </a:rPr>
                                <m:t>𝒊</m:t>
                              </m:r>
                            </m:sub>
                          </m:sSub>
                          <m:r>
                            <a:rPr lang="ar-AE" sz="1600" b="1" i="1" smtClean="0">
                              <a:solidFill>
                                <a:schemeClr val="tx1"/>
                              </a:solidFill>
                              <a:latin typeface="Cambria Math" panose="02040503050406030204" pitchFamily="18" charset="0"/>
                            </a:rPr>
                            <m:t>/</m:t>
                          </m:r>
                          <m:r>
                            <a:rPr lang="ar-AE" sz="1600" b="1" i="1">
                              <a:solidFill>
                                <a:schemeClr val="tx1"/>
                              </a:solidFill>
                              <a:latin typeface="Cambria Math" panose="02040503050406030204" pitchFamily="18" charset="0"/>
                            </a:rPr>
                            <m:t>(</m:t>
                          </m:r>
                          <m:sSup>
                            <m:sSupPr>
                              <m:ctrlPr>
                                <a:rPr lang="ar-AE" sz="1600" b="1" i="1">
                                  <a:solidFill>
                                    <a:schemeClr val="tx1"/>
                                  </a:solidFill>
                                  <a:latin typeface="Cambria Math" panose="02040503050406030204" pitchFamily="18" charset="0"/>
                                </a:rPr>
                              </m:ctrlPr>
                            </m:sSupPr>
                            <m:e>
                              <m:r>
                                <a:rPr lang="ar-AE" sz="1600" b="1" i="1">
                                  <a:solidFill>
                                    <a:schemeClr val="tx1"/>
                                  </a:solidFill>
                                  <a:latin typeface="Cambria Math" panose="02040503050406030204" pitchFamily="18" charset="0"/>
                                </a:rPr>
                                <m:t>𝟏</m:t>
                              </m:r>
                              <m:r>
                                <a:rPr lang="ar-AE" sz="1600" b="1" i="1">
                                  <a:solidFill>
                                    <a:schemeClr val="tx1"/>
                                  </a:solidFill>
                                  <a:latin typeface="Cambria Math" panose="02040503050406030204" pitchFamily="18" charset="0"/>
                                </a:rPr>
                                <m:t>+</m:t>
                              </m:r>
                              <m:r>
                                <a:rPr lang="ar-AE" sz="1600" b="1" i="1">
                                  <a:solidFill>
                                    <a:schemeClr val="tx1"/>
                                  </a:solidFill>
                                  <a:latin typeface="Cambria Math" panose="02040503050406030204" pitchFamily="18" charset="0"/>
                                </a:rPr>
                                <m:t>𝒓</m:t>
                              </m:r>
                              <m:r>
                                <a:rPr lang="ar-AE" sz="1600" b="1" i="1">
                                  <a:solidFill>
                                    <a:schemeClr val="tx1"/>
                                  </a:solidFill>
                                  <a:latin typeface="Cambria Math" panose="02040503050406030204" pitchFamily="18" charset="0"/>
                                </a:rPr>
                                <m:t>)</m:t>
                              </m:r>
                            </m:e>
                            <m:sup>
                              <m:r>
                                <a:rPr lang="ar-AE" sz="1600" b="1" i="1" smtClean="0">
                                  <a:solidFill>
                                    <a:schemeClr val="tx1"/>
                                  </a:solidFill>
                                  <a:latin typeface="Cambria Math" panose="02040503050406030204" pitchFamily="18" charset="0"/>
                                </a:rPr>
                                <m:t>𝒊</m:t>
                              </m:r>
                            </m:sup>
                          </m:sSup>
                          <m:r>
                            <a:rPr lang="ar-AE" sz="1600" b="1" i="1" smtClean="0">
                              <a:solidFill>
                                <a:schemeClr val="tx1"/>
                              </a:solidFill>
                              <a:latin typeface="Cambria Math" panose="02040503050406030204" pitchFamily="18" charset="0"/>
                            </a:rPr>
                            <m:t> </m:t>
                          </m:r>
                        </m:e>
                      </m:nary>
                    </m:oMath>
                  </m:oMathPara>
                </a14:m>
                <a:endParaRPr lang="ar-AE" sz="1600" b="1" dirty="0">
                  <a:solidFill>
                    <a:schemeClr val="tx1"/>
                  </a:solidFill>
                </a:endParaRPr>
              </a:p>
              <a:p>
                <a:pPr marL="285750" lvl="0" indent="-285750" algn="just" rtl="0">
                  <a:lnSpc>
                    <a:spcPct val="150000"/>
                  </a:lnSpc>
                  <a:spcBef>
                    <a:spcPts val="0"/>
                  </a:spcBef>
                  <a:spcAft>
                    <a:spcPts val="0"/>
                  </a:spcAft>
                  <a:buFont typeface="Wingdings" panose="05000000000000000000" pitchFamily="2" charset="2"/>
                  <a:buChar char="Ø"/>
                </a:pPr>
                <a:r>
                  <a:rPr lang="es-EC" sz="1600" dirty="0">
                    <a:solidFill>
                      <a:schemeClr val="tx1"/>
                    </a:solidFill>
                    <a:latin typeface="Barlow Semi Condensed"/>
                    <a:ea typeface="Barlow Semi Condensed"/>
                    <a:cs typeface="Barlow Semi Condensed"/>
                    <a:sym typeface="Barlow Semi Condensed"/>
                  </a:rPr>
                  <a:t>Si </a:t>
                </a:r>
                <a:r>
                  <a:rPr lang="es-EC" sz="1600" dirty="0">
                    <a:solidFill>
                      <a:schemeClr val="tx1"/>
                    </a:solidFill>
                  </a:rPr>
                  <a:t>se </a:t>
                </a:r>
                <a:r>
                  <a:rPr lang="es-EC" sz="1600" dirty="0">
                    <a:solidFill>
                      <a:schemeClr val="tx1"/>
                    </a:solidFill>
                    <a:latin typeface="Barlow Semi Condensed"/>
                    <a:ea typeface="Barlow Semi Condensed"/>
                    <a:cs typeface="Barlow Semi Condensed"/>
                    <a:sym typeface="Barlow Semi Condensed"/>
                  </a:rPr>
                  <a:t>coloca un impuesto sobre el flujo de beneficios netos de tasa </a:t>
                </a:r>
                <a14:m>
                  <m:oMath xmlns:m="http://schemas.openxmlformats.org/officeDocument/2006/math">
                    <m:r>
                      <a:rPr lang="es-EC" sz="1600" i="1" smtClean="0">
                        <a:solidFill>
                          <a:schemeClr val="tx1"/>
                        </a:solidFill>
                        <a:latin typeface="Cambria Math" panose="02040503050406030204" pitchFamily="18" charset="0"/>
                        <a:ea typeface="Cambria Math" panose="02040503050406030204" pitchFamily="18" charset="0"/>
                        <a:sym typeface="Barlow Semi Condensed"/>
                      </a:rPr>
                      <m:t>𝜏</m:t>
                    </m:r>
                  </m:oMath>
                </a14:m>
                <a:r>
                  <a:rPr lang="es-EC" sz="1600" dirty="0">
                    <a:solidFill>
                      <a:schemeClr val="tx1"/>
                    </a:solidFill>
                    <a:latin typeface="Barlow Semi Condensed"/>
                    <a:ea typeface="Barlow Semi Condensed"/>
                    <a:cs typeface="Barlow Semi Condensed"/>
                    <a:sym typeface="Barlow Semi Condensed"/>
                  </a:rPr>
                  <a:t>%.</a:t>
                </a:r>
              </a:p>
              <a:p>
                <a:pPr lvl="0" algn="just">
                  <a:lnSpc>
                    <a:spcPct val="150000"/>
                  </a:lnSpc>
                </a:pPr>
                <a14:m>
                  <m:oMathPara xmlns:m="http://schemas.openxmlformats.org/officeDocument/2006/math">
                    <m:oMathParaPr>
                      <m:jc m:val="centerGroup"/>
                    </m:oMathParaPr>
                    <m:oMath xmlns:m="http://schemas.openxmlformats.org/officeDocument/2006/math">
                      <m:sSub>
                        <m:sSubPr>
                          <m:ctrlPr>
                            <a:rPr lang="ar-AE" sz="1600" b="1" i="1" smtClean="0">
                              <a:solidFill>
                                <a:schemeClr val="tx1"/>
                              </a:solidFill>
                              <a:latin typeface="Cambria Math" panose="02040503050406030204" pitchFamily="18" charset="0"/>
                            </a:rPr>
                          </m:ctrlPr>
                        </m:sSubPr>
                        <m:e>
                          <m:r>
                            <a:rPr lang="ar-AE" sz="1600" b="1" i="1" smtClean="0">
                              <a:solidFill>
                                <a:schemeClr val="tx1"/>
                              </a:solidFill>
                              <a:latin typeface="Cambria Math" panose="02040503050406030204" pitchFamily="18" charset="0"/>
                            </a:rPr>
                            <m:t>𝑷</m:t>
                          </m:r>
                        </m:e>
                        <m:sub>
                          <m:r>
                            <a:rPr lang="ar-AE" sz="1600" b="1" i="1" smtClean="0">
                              <a:solidFill>
                                <a:schemeClr val="tx1"/>
                              </a:solidFill>
                              <a:latin typeface="Cambria Math" panose="02040503050406030204" pitchFamily="18" charset="0"/>
                            </a:rPr>
                            <m:t>𝑻</m:t>
                          </m:r>
                        </m:sub>
                      </m:sSub>
                      <m:r>
                        <a:rPr lang="ar-AE" sz="1600" b="1" i="1" smtClean="0">
                          <a:solidFill>
                            <a:schemeClr val="tx1"/>
                          </a:solidFill>
                          <a:latin typeface="Cambria Math" panose="02040503050406030204" pitchFamily="18" charset="0"/>
                        </a:rPr>
                        <m:t>=</m:t>
                      </m:r>
                      <m:sSub>
                        <m:sSubPr>
                          <m:ctrlPr>
                            <a:rPr lang="ar-AE" sz="1600" b="1" i="1" smtClean="0">
                              <a:solidFill>
                                <a:schemeClr val="tx1"/>
                              </a:solidFill>
                              <a:latin typeface="Cambria Math" panose="02040503050406030204" pitchFamily="18" charset="0"/>
                            </a:rPr>
                          </m:ctrlPr>
                        </m:sSubPr>
                        <m:e>
                          <m:r>
                            <a:rPr lang="ar-AE" sz="1600" b="1" i="1" smtClean="0">
                              <a:solidFill>
                                <a:schemeClr val="tx1"/>
                              </a:solidFill>
                              <a:latin typeface="Cambria Math" panose="02040503050406030204" pitchFamily="18" charset="0"/>
                            </a:rPr>
                            <m:t>𝑨</m:t>
                          </m:r>
                        </m:e>
                        <m:sub>
                          <m:r>
                            <a:rPr lang="ar-AE" sz="1600" b="1" i="1" smtClean="0">
                              <a:solidFill>
                                <a:schemeClr val="tx1"/>
                              </a:solidFill>
                              <a:latin typeface="Cambria Math" panose="02040503050406030204" pitchFamily="18" charset="0"/>
                            </a:rPr>
                            <m:t>𝟎</m:t>
                          </m:r>
                        </m:sub>
                      </m:sSub>
                      <m:d>
                        <m:dPr>
                          <m:ctrlPr>
                            <a:rPr lang="ar-AE" sz="1600" b="1" i="1" smtClean="0">
                              <a:solidFill>
                                <a:schemeClr val="tx1"/>
                              </a:solidFill>
                              <a:latin typeface="Cambria Math" panose="02040503050406030204" pitchFamily="18" charset="0"/>
                            </a:rPr>
                          </m:ctrlPr>
                        </m:dPr>
                        <m:e>
                          <m:r>
                            <a:rPr lang="ar-AE" sz="1600" b="1" i="1" smtClean="0">
                              <a:solidFill>
                                <a:schemeClr val="tx1"/>
                              </a:solidFill>
                              <a:latin typeface="Cambria Math" panose="02040503050406030204" pitchFamily="18" charset="0"/>
                            </a:rPr>
                            <m:t>𝟏</m:t>
                          </m:r>
                          <m:r>
                            <a:rPr lang="ar-AE" sz="1600" b="1" i="1" smtClean="0">
                              <a:solidFill>
                                <a:schemeClr val="tx1"/>
                              </a:solidFill>
                              <a:latin typeface="Cambria Math" panose="02040503050406030204" pitchFamily="18" charset="0"/>
                            </a:rPr>
                            <m:t>−</m:t>
                          </m:r>
                          <m:r>
                            <a:rPr lang="ar-AE" sz="1600" b="1" i="1">
                              <a:solidFill>
                                <a:schemeClr val="tx1"/>
                              </a:solidFill>
                              <a:latin typeface="Cambria Math" panose="02040503050406030204" pitchFamily="18" charset="0"/>
                              <a:ea typeface="Cambria Math" panose="02040503050406030204" pitchFamily="18" charset="0"/>
                            </a:rPr>
                            <m:t>𝝉</m:t>
                          </m:r>
                        </m:e>
                      </m:d>
                      <m:r>
                        <a:rPr lang="ar-AE" sz="1600" b="1" i="1" smtClean="0">
                          <a:solidFill>
                            <a:schemeClr val="tx1"/>
                          </a:solidFill>
                          <a:latin typeface="Cambria Math" panose="02040503050406030204" pitchFamily="18" charset="0"/>
                        </a:rPr>
                        <m:t>+</m:t>
                      </m:r>
                      <m:nary>
                        <m:naryPr>
                          <m:chr m:val="∑"/>
                          <m:limLoc m:val="subSup"/>
                          <m:ctrlPr>
                            <a:rPr lang="ar-AE" sz="1600" b="1" i="1" smtClean="0">
                              <a:solidFill>
                                <a:schemeClr val="tx1"/>
                              </a:solidFill>
                              <a:latin typeface="Cambria Math" panose="02040503050406030204" pitchFamily="18" charset="0"/>
                            </a:rPr>
                          </m:ctrlPr>
                        </m:naryPr>
                        <m:sub>
                          <m:r>
                            <m:rPr>
                              <m:brk m:alnAt="25"/>
                            </m:rPr>
                            <a:rPr lang="ar-AE" sz="1600" b="1" i="1" smtClean="0">
                              <a:solidFill>
                                <a:schemeClr val="tx1"/>
                              </a:solidFill>
                              <a:latin typeface="Cambria Math" panose="02040503050406030204" pitchFamily="18" charset="0"/>
                            </a:rPr>
                            <m:t>𝒊</m:t>
                          </m:r>
                          <m:r>
                            <a:rPr lang="ar-AE" sz="1600" b="1" i="1" smtClean="0">
                              <a:solidFill>
                                <a:schemeClr val="tx1"/>
                              </a:solidFill>
                              <a:latin typeface="Cambria Math" panose="02040503050406030204" pitchFamily="18" charset="0"/>
                            </a:rPr>
                            <m:t>=</m:t>
                          </m:r>
                          <m:r>
                            <m:rPr>
                              <m:brk m:alnAt="25"/>
                            </m:rPr>
                            <a:rPr lang="ar-AE" sz="1600" b="1" i="1" smtClean="0">
                              <a:solidFill>
                                <a:schemeClr val="tx1"/>
                              </a:solidFill>
                              <a:latin typeface="Cambria Math" panose="02040503050406030204" pitchFamily="18" charset="0"/>
                            </a:rPr>
                            <m:t>𝟏</m:t>
                          </m:r>
                        </m:sub>
                        <m:sup>
                          <m:r>
                            <a:rPr lang="ar-AE" sz="1600" b="1" i="1" smtClean="0">
                              <a:solidFill>
                                <a:schemeClr val="tx1"/>
                              </a:solidFill>
                              <a:latin typeface="Cambria Math" panose="02040503050406030204" pitchFamily="18" charset="0"/>
                            </a:rPr>
                            <m:t>𝒏</m:t>
                          </m:r>
                        </m:sup>
                        <m:e>
                          <m:sSub>
                            <m:sSubPr>
                              <m:ctrlPr>
                                <a:rPr lang="ar-AE" sz="1600" b="1" i="1">
                                  <a:solidFill>
                                    <a:schemeClr val="tx1"/>
                                  </a:solidFill>
                                  <a:latin typeface="Cambria Math" panose="02040503050406030204" pitchFamily="18" charset="0"/>
                                </a:rPr>
                              </m:ctrlPr>
                            </m:sSubPr>
                            <m:e>
                              <m:r>
                                <a:rPr lang="ar-AE" sz="1600" b="1" i="1" smtClean="0">
                                  <a:solidFill>
                                    <a:schemeClr val="tx1"/>
                                  </a:solidFill>
                                  <a:latin typeface="Cambria Math" panose="02040503050406030204" pitchFamily="18" charset="0"/>
                                </a:rPr>
                                <m:t>  </m:t>
                              </m:r>
                              <m:r>
                                <a:rPr lang="ar-AE" sz="1600" b="1" i="1">
                                  <a:solidFill>
                                    <a:schemeClr val="tx1"/>
                                  </a:solidFill>
                                  <a:latin typeface="Cambria Math" panose="02040503050406030204" pitchFamily="18" charset="0"/>
                                </a:rPr>
                                <m:t>𝑨</m:t>
                              </m:r>
                            </m:e>
                            <m:sub>
                              <m:r>
                                <a:rPr lang="ar-AE" sz="1600" b="1" i="1" smtClean="0">
                                  <a:solidFill>
                                    <a:schemeClr val="tx1"/>
                                  </a:solidFill>
                                  <a:latin typeface="Cambria Math" panose="02040503050406030204" pitchFamily="18" charset="0"/>
                                </a:rPr>
                                <m:t>𝒊</m:t>
                              </m:r>
                              <m:r>
                                <a:rPr lang="ar-AE" sz="1600" b="1" i="1" smtClean="0">
                                  <a:solidFill>
                                    <a:schemeClr val="tx1"/>
                                  </a:solidFill>
                                  <a:latin typeface="Cambria Math" panose="02040503050406030204" pitchFamily="18" charset="0"/>
                                </a:rPr>
                                <m:t> </m:t>
                              </m:r>
                            </m:sub>
                          </m:sSub>
                          <m:d>
                            <m:dPr>
                              <m:ctrlPr>
                                <a:rPr lang="ar-AE" sz="1600" b="1" i="1">
                                  <a:solidFill>
                                    <a:schemeClr val="tx1"/>
                                  </a:solidFill>
                                  <a:latin typeface="Cambria Math" panose="02040503050406030204" pitchFamily="18" charset="0"/>
                                </a:rPr>
                              </m:ctrlPr>
                            </m:dPr>
                            <m:e>
                              <m:r>
                                <a:rPr lang="ar-AE" sz="1600" b="1" i="1">
                                  <a:solidFill>
                                    <a:schemeClr val="tx1"/>
                                  </a:solidFill>
                                  <a:latin typeface="Cambria Math" panose="02040503050406030204" pitchFamily="18" charset="0"/>
                                </a:rPr>
                                <m:t>𝟏</m:t>
                              </m:r>
                              <m:r>
                                <a:rPr lang="ar-AE" sz="1600" b="1" i="1">
                                  <a:solidFill>
                                    <a:schemeClr val="tx1"/>
                                  </a:solidFill>
                                  <a:latin typeface="Cambria Math" panose="02040503050406030204" pitchFamily="18" charset="0"/>
                                </a:rPr>
                                <m:t>−</m:t>
                              </m:r>
                              <m:r>
                                <a:rPr lang="ar-AE" sz="1600" b="1" i="1">
                                  <a:solidFill>
                                    <a:schemeClr val="tx1"/>
                                  </a:solidFill>
                                  <a:latin typeface="Cambria Math" panose="02040503050406030204" pitchFamily="18" charset="0"/>
                                  <a:ea typeface="Cambria Math" panose="02040503050406030204" pitchFamily="18" charset="0"/>
                                </a:rPr>
                                <m:t>𝝉</m:t>
                              </m:r>
                            </m:e>
                          </m:d>
                          <m:r>
                            <a:rPr lang="ar-AE" sz="1600" b="1" i="1" smtClean="0">
                              <a:solidFill>
                                <a:schemeClr val="tx1"/>
                              </a:solidFill>
                              <a:latin typeface="Cambria Math" panose="02040503050406030204" pitchFamily="18" charset="0"/>
                            </a:rPr>
                            <m:t>/</m:t>
                          </m:r>
                          <m:r>
                            <a:rPr lang="ar-AE" sz="1600" b="1" i="1">
                              <a:solidFill>
                                <a:schemeClr val="tx1"/>
                              </a:solidFill>
                              <a:latin typeface="Cambria Math" panose="02040503050406030204" pitchFamily="18" charset="0"/>
                            </a:rPr>
                            <m:t>(</m:t>
                          </m:r>
                          <m:sSup>
                            <m:sSupPr>
                              <m:ctrlPr>
                                <a:rPr lang="ar-AE" sz="1600" b="1" i="1">
                                  <a:solidFill>
                                    <a:schemeClr val="tx1"/>
                                  </a:solidFill>
                                  <a:latin typeface="Cambria Math" panose="02040503050406030204" pitchFamily="18" charset="0"/>
                                </a:rPr>
                              </m:ctrlPr>
                            </m:sSupPr>
                            <m:e>
                              <m:r>
                                <a:rPr lang="ar-AE" sz="1600" b="1" i="1">
                                  <a:solidFill>
                                    <a:schemeClr val="tx1"/>
                                  </a:solidFill>
                                  <a:latin typeface="Cambria Math" panose="02040503050406030204" pitchFamily="18" charset="0"/>
                                </a:rPr>
                                <m:t>𝟏</m:t>
                              </m:r>
                              <m:r>
                                <a:rPr lang="ar-AE" sz="1600" b="1" i="1">
                                  <a:solidFill>
                                    <a:schemeClr val="tx1"/>
                                  </a:solidFill>
                                  <a:latin typeface="Cambria Math" panose="02040503050406030204" pitchFamily="18" charset="0"/>
                                </a:rPr>
                                <m:t>+</m:t>
                              </m:r>
                              <m:r>
                                <a:rPr lang="ar-AE" sz="1600" b="1" i="1">
                                  <a:solidFill>
                                    <a:schemeClr val="tx1"/>
                                  </a:solidFill>
                                  <a:latin typeface="Cambria Math" panose="02040503050406030204" pitchFamily="18" charset="0"/>
                                </a:rPr>
                                <m:t>𝒓</m:t>
                              </m:r>
                              <m:r>
                                <a:rPr lang="ar-AE" sz="1600" b="1" i="1">
                                  <a:solidFill>
                                    <a:schemeClr val="tx1"/>
                                  </a:solidFill>
                                  <a:latin typeface="Cambria Math" panose="02040503050406030204" pitchFamily="18" charset="0"/>
                                </a:rPr>
                                <m:t>)</m:t>
                              </m:r>
                            </m:e>
                            <m:sup>
                              <m:r>
                                <a:rPr lang="ar-AE" sz="1600" b="1" i="1" smtClean="0">
                                  <a:solidFill>
                                    <a:schemeClr val="tx1"/>
                                  </a:solidFill>
                                  <a:latin typeface="Cambria Math" panose="02040503050406030204" pitchFamily="18" charset="0"/>
                                </a:rPr>
                                <m:t>𝒊</m:t>
                              </m:r>
                            </m:sup>
                          </m:sSup>
                          <m:r>
                            <a:rPr lang="ar-AE" sz="1600" b="1" i="1" smtClean="0">
                              <a:solidFill>
                                <a:schemeClr val="tx1"/>
                              </a:solidFill>
                              <a:latin typeface="Cambria Math" panose="02040503050406030204" pitchFamily="18" charset="0"/>
                            </a:rPr>
                            <m:t> </m:t>
                          </m:r>
                        </m:e>
                      </m:nary>
                    </m:oMath>
                  </m:oMathPara>
                </a14:m>
                <a:endParaRPr lang="ar-AE" sz="1600" b="1" dirty="0">
                  <a:solidFill>
                    <a:schemeClr val="tx1"/>
                  </a:solidFill>
                  <a:sym typeface="Barlow Semi Condensed"/>
                </a:endParaRPr>
              </a:p>
              <a:p>
                <a:pPr marL="285750" lvl="0" indent="-285750" algn="just">
                  <a:buFont typeface="Wingdings" panose="05000000000000000000" pitchFamily="2" charset="2"/>
                  <a:buChar char="Ø"/>
                </a:pPr>
                <a:r>
                  <a:rPr lang="es-EC" sz="1600" dirty="0">
                    <a:solidFill>
                      <a:schemeClr val="tx1"/>
                    </a:solidFill>
                    <a:latin typeface="Barlow Semi Condensed"/>
                    <a:ea typeface="Barlow Semi Condensed"/>
                    <a:cs typeface="Barlow Semi Condensed"/>
                    <a:sym typeface="Barlow Semi Condensed"/>
                  </a:rPr>
                  <a:t>La incidencia económica presente y futura de este impuesto recae sobre el propietario de la tierra en el momento del tiempo en que se aplicó el impuesto, y no se traslada sobre nuevos posibles propietarios. </a:t>
                </a:r>
              </a:p>
            </p:txBody>
          </p:sp>
        </mc:Choice>
        <mc:Fallback xmlns="">
          <p:sp>
            <p:nvSpPr>
              <p:cNvPr id="2178" name="Google Shape;2178;p39"/>
              <p:cNvSpPr txBox="1">
                <a:spLocks noGrp="1" noRot="1" noChangeAspect="1" noMove="1" noResize="1" noEditPoints="1" noAdjustHandles="1" noChangeArrowheads="1" noChangeShapeType="1" noTextEdit="1"/>
              </p:cNvSpPr>
              <p:nvPr>
                <p:ph type="subTitle" idx="1"/>
              </p:nvPr>
            </p:nvSpPr>
            <p:spPr>
              <a:xfrm>
                <a:off x="1004047" y="1506548"/>
                <a:ext cx="7026604" cy="2706406"/>
              </a:xfrm>
              <a:prstGeom prst="rect">
                <a:avLst/>
              </a:prstGeom>
              <a:blipFill>
                <a:blip r:embed="rId3"/>
                <a:stretch>
                  <a:fillRect l="-347" r="-521" b="-26126"/>
                </a:stretch>
              </a:blipFill>
            </p:spPr>
            <p:txBody>
              <a:bodyPr/>
              <a:lstStyle/>
              <a:p>
                <a:r>
                  <a:rPr lang="es-EC">
                    <a:noFill/>
                  </a:rPr>
                  <a:t> </a:t>
                </a:r>
              </a:p>
            </p:txBody>
          </p:sp>
        </mc:Fallback>
      </mc:AlternateContent>
      <p:sp>
        <p:nvSpPr>
          <p:cNvPr id="2177" name="Google Shape;2177;p39"/>
          <p:cNvSpPr txBox="1">
            <a:spLocks noGrp="1"/>
          </p:cNvSpPr>
          <p:nvPr>
            <p:ph type="title"/>
          </p:nvPr>
        </p:nvSpPr>
        <p:spPr>
          <a:xfrm>
            <a:off x="1329070" y="262000"/>
            <a:ext cx="5850808"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C" dirty="0"/>
              <a:t>Capitalización de un Impuesto </a:t>
            </a:r>
            <a:endParaRPr dirty="0"/>
          </a:p>
        </p:txBody>
      </p:sp>
      <p:sp>
        <p:nvSpPr>
          <p:cNvPr id="3" name="CuadroTexto 2">
            <a:extLst>
              <a:ext uri="{FF2B5EF4-FFF2-40B4-BE49-F238E27FC236}">
                <a16:creationId xmlns:a16="http://schemas.microsoft.com/office/drawing/2014/main" id="{C09A8158-CA71-44DA-B45F-E91FD9549D56}"/>
              </a:ext>
            </a:extLst>
          </p:cNvPr>
          <p:cNvSpPr txBox="1"/>
          <p:nvPr/>
        </p:nvSpPr>
        <p:spPr>
          <a:xfrm>
            <a:off x="1000665" y="1027622"/>
            <a:ext cx="690544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s-419" b="1" dirty="0">
                <a:solidFill>
                  <a:schemeClr val="tx1"/>
                </a:solidFill>
              </a:rPr>
              <a:t>La  transferencia  del  efecto  del  impuesto  al  precio  del  recurso es lo  que  se  denomina  capitalización  del  impuesto</a:t>
            </a:r>
            <a:endParaRPr lang="es-ES" dirty="0">
              <a:solidFill>
                <a:schemeClr val="tx1"/>
              </a:solidFill>
            </a:endParaRPr>
          </a:p>
          <a:p>
            <a:pPr algn="just"/>
            <a:endParaRPr lang="es-ES" dirty="0"/>
          </a:p>
        </p:txBody>
      </p:sp>
    </p:spTree>
    <p:extLst>
      <p:ext uri="{BB962C8B-B14F-4D97-AF65-F5344CB8AC3E}">
        <p14:creationId xmlns:p14="http://schemas.microsoft.com/office/powerpoint/2010/main" val="2123946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sp>
        <p:nvSpPr>
          <p:cNvPr id="2195" name="Google Shape;2195;p40"/>
          <p:cNvSpPr txBox="1">
            <a:spLocks noGrp="1"/>
          </p:cNvSpPr>
          <p:nvPr>
            <p:ph type="title"/>
          </p:nvPr>
        </p:nvSpPr>
        <p:spPr>
          <a:xfrm>
            <a:off x="1707319" y="99788"/>
            <a:ext cx="5577900" cy="594300"/>
          </a:xfrm>
          <a:prstGeom prst="rect">
            <a:avLst/>
          </a:prstGeom>
        </p:spPr>
        <p:txBody>
          <a:bodyPr spcFirstLastPara="1" vert="horz" wrap="square" lIns="91425" tIns="91425" rIns="91425" bIns="91425" rtlCol="0" anchor="t" anchorCtr="0">
            <a:noAutofit/>
          </a:bodyPr>
          <a:lstStyle/>
          <a:p>
            <a:r>
              <a:rPr lang="es-ES" sz="2100" b="1" dirty="0"/>
              <a:t>Incidencia Tributaria en el mercado de Capital</a:t>
            </a:r>
          </a:p>
        </p:txBody>
      </p:sp>
      <p:pic>
        <p:nvPicPr>
          <p:cNvPr id="19" name="Imagen 18">
            <a:extLst>
              <a:ext uri="{FF2B5EF4-FFF2-40B4-BE49-F238E27FC236}">
                <a16:creationId xmlns:a16="http://schemas.microsoft.com/office/drawing/2014/main" id="{66635D64-443F-4F5D-B9D8-F8DAF5B6522A}"/>
              </a:ext>
            </a:extLst>
          </p:cNvPr>
          <p:cNvPicPr>
            <a:picLocks noChangeAspect="1"/>
          </p:cNvPicPr>
          <p:nvPr/>
        </p:nvPicPr>
        <p:blipFill>
          <a:blip r:embed="rId3"/>
          <a:stretch>
            <a:fillRect/>
          </a:stretch>
        </p:blipFill>
        <p:spPr>
          <a:xfrm>
            <a:off x="636104" y="506895"/>
            <a:ext cx="4462670" cy="2951923"/>
          </a:xfrm>
          <a:prstGeom prst="rect">
            <a:avLst/>
          </a:prstGeom>
        </p:spPr>
      </p:pic>
      <mc:AlternateContent xmlns:mc="http://schemas.openxmlformats.org/markup-compatibility/2006" xmlns:a14="http://schemas.microsoft.com/office/drawing/2010/main">
        <mc:Choice Requires="a14">
          <p:sp>
            <p:nvSpPr>
              <p:cNvPr id="87" name="CuadroTexto 86">
                <a:extLst>
                  <a:ext uri="{FF2B5EF4-FFF2-40B4-BE49-F238E27FC236}">
                    <a16:creationId xmlns:a16="http://schemas.microsoft.com/office/drawing/2014/main" id="{6A4C7359-668B-49C5-B43C-60C80E97DF39}"/>
                  </a:ext>
                </a:extLst>
              </p:cNvPr>
              <p:cNvSpPr txBox="1"/>
              <p:nvPr/>
            </p:nvSpPr>
            <p:spPr>
              <a:xfrm>
                <a:off x="719215" y="3612891"/>
                <a:ext cx="3571526" cy="1180516"/>
              </a:xfrm>
              <a:prstGeom prst="rect">
                <a:avLst/>
              </a:prstGeom>
              <a:noFill/>
            </p:spPr>
            <p:txBody>
              <a:bodyPr wrap="square">
                <a:spAutoFit/>
              </a:bodyPr>
              <a:lstStyle/>
              <a:p>
                <a:pPr>
                  <a:lnSpc>
                    <a:spcPct val="107000"/>
                  </a:lnSpc>
                  <a:spcAft>
                    <a:spcPts val="600"/>
                  </a:spcAft>
                  <a:tabLst>
                    <a:tab pos="2735104" algn="l"/>
                  </a:tabLst>
                </a:pPr>
                <a:r>
                  <a:rPr lang="es-419" sz="1350" dirty="0">
                    <a:latin typeface="Calibri" panose="020F0502020204030204" pitchFamily="34" charset="0"/>
                    <a:ea typeface="Calibri" panose="020F0502020204030204" pitchFamily="34" charset="0"/>
                    <a:cs typeface="Times New Roman" panose="02020603050405020304" pitchFamily="18" charset="0"/>
                  </a:rPr>
                  <a:t>Incidencia </a:t>
                </a:r>
                <a:r>
                  <a:rPr lang="es-419" sz="1050" dirty="0">
                    <a:latin typeface="Calibri" panose="020F0502020204030204" pitchFamily="34" charset="0"/>
                    <a:ea typeface="Calibri" panose="020F0502020204030204" pitchFamily="34" charset="0"/>
                    <a:cs typeface="Times New Roman" panose="02020603050405020304" pitchFamily="18" charset="0"/>
                  </a:rPr>
                  <a:t>estatutaria sobre los consumidores</a:t>
                </a:r>
              </a:p>
              <a:p>
                <a:pPr>
                  <a:lnSpc>
                    <a:spcPct val="107000"/>
                  </a:lnSpc>
                  <a:spcAft>
                    <a:spcPts val="600"/>
                  </a:spcAft>
                  <a:tabLst>
                    <a:tab pos="2735104" algn="l"/>
                  </a:tabLst>
                </a:pPr>
                <a14:m>
                  <m:oMathPara xmlns:m="http://schemas.openxmlformats.org/officeDocument/2006/math">
                    <m:oMathParaPr>
                      <m:jc m:val="centerGroup"/>
                    </m:oMathParaPr>
                    <m:oMath xmlns:m="http://schemas.openxmlformats.org/officeDocument/2006/math">
                      <m:d>
                        <m:dPr>
                          <m:ctrlPr>
                            <a:rPr lang="es-EC" sz="1350" i="1">
                              <a:latin typeface="Cambria Math" panose="02040503050406030204" pitchFamily="18" charset="0"/>
                              <a:ea typeface="Calibri" panose="020F0502020204030204" pitchFamily="34" charset="0"/>
                              <a:cs typeface="Times New Roman" panose="02020603050405020304" pitchFamily="18" charset="0"/>
                            </a:rPr>
                          </m:ctrlPr>
                        </m:dPr>
                        <m:e>
                          <m:f>
                            <m:fPr>
                              <m:ctrlPr>
                                <a:rPr lang="es-EC" sz="1350" i="1">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EC" sz="1350" i="1">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latin typeface="Cambria Math" panose="02040503050406030204" pitchFamily="18" charset="0"/>
                                      <a:ea typeface="Calibri" panose="020F0502020204030204" pitchFamily="34" charset="0"/>
                                      <a:cs typeface="Times New Roman" panose="02020603050405020304" pitchFamily="18" charset="0"/>
                                    </a:rPr>
                                    <m:t>𝜂</m:t>
                                  </m:r>
                                </m:e>
                                <m:sub>
                                  <m:r>
                                    <a:rPr lang="es-419" sz="1350" i="1">
                                      <a:latin typeface="Cambria Math" panose="02040503050406030204" pitchFamily="18" charset="0"/>
                                      <a:ea typeface="Calibri" panose="020F0502020204030204" pitchFamily="34" charset="0"/>
                                      <a:cs typeface="Times New Roman" panose="02020603050405020304" pitchFamily="18" charset="0"/>
                                    </a:rPr>
                                    <m:t>𝑠</m:t>
                                  </m:r>
                                </m:sub>
                              </m:sSub>
                            </m:num>
                            <m:den>
                              <m:sSub>
                                <m:sSubPr>
                                  <m:ctrlPr>
                                    <a:rPr lang="es-EC" sz="1350" i="1">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latin typeface="Cambria Math" panose="02040503050406030204" pitchFamily="18" charset="0"/>
                                      <a:ea typeface="Calibri" panose="020F0502020204030204" pitchFamily="34" charset="0"/>
                                      <a:cs typeface="Times New Roman" panose="02020603050405020304" pitchFamily="18" charset="0"/>
                                    </a:rPr>
                                    <m:t>𝜂</m:t>
                                  </m:r>
                                </m:e>
                                <m:sub>
                                  <m:r>
                                    <a:rPr lang="es-419" sz="1350" i="1">
                                      <a:latin typeface="Cambria Math" panose="02040503050406030204" pitchFamily="18" charset="0"/>
                                      <a:ea typeface="Calibri" panose="020F0502020204030204" pitchFamily="34" charset="0"/>
                                      <a:cs typeface="Times New Roman" panose="02020603050405020304" pitchFamily="18" charset="0"/>
                                    </a:rPr>
                                    <m:t>𝑠</m:t>
                                  </m:r>
                                </m:sub>
                              </m:sSub>
                              <m:r>
                                <a:rPr lang="es-419" sz="1350" i="1">
                                  <a:latin typeface="Cambria Math" panose="02040503050406030204" pitchFamily="18" charset="0"/>
                                  <a:ea typeface="Calibri" panose="020F0502020204030204" pitchFamily="34" charset="0"/>
                                  <a:cs typeface="Times New Roman" panose="02020603050405020304" pitchFamily="18" charset="0"/>
                                </a:rPr>
                                <m:t>+</m:t>
                              </m:r>
                              <m:sSub>
                                <m:sSubPr>
                                  <m:ctrlPr>
                                    <a:rPr lang="es-EC" sz="1350" i="1">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latin typeface="Cambria Math" panose="02040503050406030204" pitchFamily="18" charset="0"/>
                                      <a:ea typeface="Calibri" panose="020F0502020204030204" pitchFamily="34" charset="0"/>
                                      <a:cs typeface="Times New Roman" panose="02020603050405020304" pitchFamily="18" charset="0"/>
                                    </a:rPr>
                                    <m:t>𝜂</m:t>
                                  </m:r>
                                </m:e>
                                <m:sub>
                                  <m:r>
                                    <a:rPr lang="es-419" sz="1350" i="1">
                                      <a:latin typeface="Cambria Math" panose="02040503050406030204" pitchFamily="18" charset="0"/>
                                      <a:ea typeface="Calibri" panose="020F0502020204030204" pitchFamily="34" charset="0"/>
                                      <a:cs typeface="Times New Roman" panose="02020603050405020304" pitchFamily="18" charset="0"/>
                                    </a:rPr>
                                    <m:t>𝐷</m:t>
                                  </m:r>
                                </m:sub>
                              </m:sSub>
                            </m:den>
                          </m:f>
                        </m:e>
                      </m:d>
                      <m:r>
                        <a:rPr lang="es-419" sz="1350" i="1">
                          <a:latin typeface="Cambria Math" panose="02040503050406030204" pitchFamily="18" charset="0"/>
                          <a:ea typeface="Calibri" panose="020F0502020204030204" pitchFamily="34" charset="0"/>
                          <a:cs typeface="Times New Roman" panose="02020603050405020304" pitchFamily="18" charset="0"/>
                        </a:rPr>
                        <m:t>=</m:t>
                      </m:r>
                      <m:f>
                        <m:fPr>
                          <m:ctrlPr>
                            <a:rPr lang="es-EC" sz="1350" i="1">
                              <a:latin typeface="Cambria Math" panose="02040503050406030204" pitchFamily="18" charset="0"/>
                              <a:ea typeface="Calibri" panose="020F0502020204030204" pitchFamily="34" charset="0"/>
                              <a:cs typeface="Times New Roman" panose="02020603050405020304" pitchFamily="18" charset="0"/>
                            </a:rPr>
                          </m:ctrlPr>
                        </m:fPr>
                        <m:num>
                          <m:r>
                            <a:rPr lang="es-419" sz="1350" i="1">
                              <a:latin typeface="Cambria Math" panose="02040503050406030204" pitchFamily="18" charset="0"/>
                              <a:ea typeface="Calibri" panose="020F0502020204030204" pitchFamily="34" charset="0"/>
                              <a:cs typeface="Times New Roman" panose="02020603050405020304" pitchFamily="18" charset="0"/>
                            </a:rPr>
                            <m:t>△</m:t>
                          </m:r>
                          <m:sSub>
                            <m:sSubPr>
                              <m:ctrlPr>
                                <a:rPr lang="es-EC" sz="1350" i="1">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latin typeface="Cambria Math" panose="02040503050406030204" pitchFamily="18" charset="0"/>
                                  <a:ea typeface="Calibri" panose="020F0502020204030204" pitchFamily="34" charset="0"/>
                                  <a:cs typeface="Times New Roman" panose="02020603050405020304" pitchFamily="18" charset="0"/>
                                </a:rPr>
                                <m:t>𝑃</m:t>
                              </m:r>
                            </m:e>
                            <m:sub>
                              <m:r>
                                <a:rPr lang="es-419" sz="1350" i="1">
                                  <a:latin typeface="Cambria Math" panose="02040503050406030204" pitchFamily="18" charset="0"/>
                                  <a:ea typeface="Calibri" panose="020F0502020204030204" pitchFamily="34" charset="0"/>
                                  <a:cs typeface="Times New Roman" panose="02020603050405020304" pitchFamily="18" charset="0"/>
                                </a:rPr>
                                <m:t>𝐾𝐵</m:t>
                              </m:r>
                            </m:sub>
                          </m:sSub>
                        </m:num>
                        <m:den>
                          <m:r>
                            <a:rPr lang="es-419" sz="1350" i="1">
                              <a:latin typeface="Cambria Math" panose="02040503050406030204" pitchFamily="18" charset="0"/>
                              <a:ea typeface="Calibri" panose="020F0502020204030204" pitchFamily="34" charset="0"/>
                              <a:cs typeface="Times New Roman" panose="02020603050405020304" pitchFamily="18" charset="0"/>
                            </a:rPr>
                            <m:t>𝑇</m:t>
                          </m:r>
                        </m:den>
                      </m:f>
                    </m:oMath>
                  </m:oMathPara>
                </a14:m>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r>
                  <a:rPr lang="es-419" sz="1050" dirty="0">
                    <a:latin typeface="Calibri" panose="020F0502020204030204" pitchFamily="34" charset="0"/>
                    <a:ea typeface="Calibri" panose="020F0502020204030204" pitchFamily="34" charset="0"/>
                    <a:cs typeface="Times New Roman" panose="02020603050405020304" pitchFamily="18" charset="0"/>
                  </a:rPr>
                  <a:t> </a:t>
                </a:r>
                <a:r>
                  <a:rPr lang="es-419" sz="1350" dirty="0">
                    <a:latin typeface="Calibri" panose="020F0502020204030204" pitchFamily="34" charset="0"/>
                    <a:ea typeface="Calibri" panose="020F0502020204030204" pitchFamily="34" charset="0"/>
                    <a:cs typeface="Times New Roman" panose="02020603050405020304" pitchFamily="18" charset="0"/>
                  </a:rPr>
                  <a:t> </a:t>
                </a:r>
                <a:endParaRPr lang="es-EC" sz="135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7" name="CuadroTexto 86">
                <a:extLst>
                  <a:ext uri="{FF2B5EF4-FFF2-40B4-BE49-F238E27FC236}">
                    <a16:creationId xmlns:a16="http://schemas.microsoft.com/office/drawing/2014/main" id="{6A4C7359-668B-49C5-B43C-60C80E97DF39}"/>
                  </a:ext>
                </a:extLst>
              </p:cNvPr>
              <p:cNvSpPr txBox="1">
                <a:spLocks noRot="1" noChangeAspect="1" noMove="1" noResize="1" noEditPoints="1" noAdjustHandles="1" noChangeArrowheads="1" noChangeShapeType="1" noTextEdit="1"/>
              </p:cNvSpPr>
              <p:nvPr/>
            </p:nvSpPr>
            <p:spPr>
              <a:xfrm>
                <a:off x="719215" y="3612891"/>
                <a:ext cx="3571526" cy="1180516"/>
              </a:xfrm>
              <a:prstGeom prst="rect">
                <a:avLst/>
              </a:prstGeom>
              <a:blipFill>
                <a:blip r:embed="rId4"/>
                <a:stretch>
                  <a:fillRect l="-512" t="-518"/>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89" name="CuadroTexto 88">
                <a:extLst>
                  <a:ext uri="{FF2B5EF4-FFF2-40B4-BE49-F238E27FC236}">
                    <a16:creationId xmlns:a16="http://schemas.microsoft.com/office/drawing/2014/main" id="{073DB2AF-7132-42C4-ADA5-984460C25864}"/>
                  </a:ext>
                </a:extLst>
              </p:cNvPr>
              <p:cNvSpPr txBox="1"/>
              <p:nvPr/>
            </p:nvSpPr>
            <p:spPr>
              <a:xfrm>
                <a:off x="4760843" y="3612891"/>
                <a:ext cx="4575008" cy="1180516"/>
              </a:xfrm>
              <a:prstGeom prst="rect">
                <a:avLst/>
              </a:prstGeom>
              <a:noFill/>
            </p:spPr>
            <p:txBody>
              <a:bodyPr wrap="square">
                <a:spAutoFit/>
              </a:bodyPr>
              <a:lstStyle/>
              <a:p>
                <a:pPr>
                  <a:lnSpc>
                    <a:spcPct val="107000"/>
                  </a:lnSpc>
                  <a:spcAft>
                    <a:spcPts val="600"/>
                  </a:spcAft>
                  <a:tabLst>
                    <a:tab pos="2735104" algn="l"/>
                  </a:tabLst>
                </a:pPr>
                <a:r>
                  <a:rPr lang="es-419" sz="1350" dirty="0">
                    <a:latin typeface="Calibri" panose="020F0502020204030204" pitchFamily="34" charset="0"/>
                    <a:ea typeface="Calibri" panose="020F0502020204030204" pitchFamily="34" charset="0"/>
                    <a:cs typeface="Times New Roman" panose="02020603050405020304" pitchFamily="18" charset="0"/>
                  </a:rPr>
                  <a:t>Incidencia </a:t>
                </a:r>
                <a:r>
                  <a:rPr lang="es-419" sz="1050" dirty="0">
                    <a:latin typeface="Calibri" panose="020F0502020204030204" pitchFamily="34" charset="0"/>
                    <a:ea typeface="Calibri" panose="020F0502020204030204" pitchFamily="34" charset="0"/>
                    <a:cs typeface="Times New Roman" panose="02020603050405020304" pitchFamily="18" charset="0"/>
                  </a:rPr>
                  <a:t>estatutaria sobre los oferentes</a:t>
                </a:r>
              </a:p>
              <a:p>
                <a:pPr>
                  <a:lnSpc>
                    <a:spcPct val="107000"/>
                  </a:lnSpc>
                  <a:spcAft>
                    <a:spcPts val="600"/>
                  </a:spcAft>
                  <a:tabLst>
                    <a:tab pos="2735104" algn="l"/>
                  </a:tabLst>
                </a:pPr>
                <a14:m>
                  <m:oMathPara xmlns:m="http://schemas.openxmlformats.org/officeDocument/2006/math">
                    <m:oMathParaPr>
                      <m:jc m:val="centerGroup"/>
                    </m:oMathParaPr>
                    <m:oMath xmlns:m="http://schemas.openxmlformats.org/officeDocument/2006/math">
                      <m:d>
                        <m:dPr>
                          <m:ctrlPr>
                            <a:rPr lang="es-EC" sz="1350" i="1">
                              <a:latin typeface="Cambria Math" panose="02040503050406030204" pitchFamily="18" charset="0"/>
                              <a:ea typeface="Calibri" panose="020F0502020204030204" pitchFamily="34" charset="0"/>
                              <a:cs typeface="Times New Roman" panose="02020603050405020304" pitchFamily="18" charset="0"/>
                            </a:rPr>
                          </m:ctrlPr>
                        </m:dPr>
                        <m:e>
                          <m:f>
                            <m:fPr>
                              <m:ctrlPr>
                                <a:rPr lang="es-EC" sz="1350" i="1">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EC" sz="1350" i="1">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latin typeface="Cambria Math" panose="02040503050406030204" pitchFamily="18" charset="0"/>
                                      <a:ea typeface="Calibri" panose="020F0502020204030204" pitchFamily="34" charset="0"/>
                                      <a:cs typeface="Times New Roman" panose="02020603050405020304" pitchFamily="18" charset="0"/>
                                    </a:rPr>
                                    <m:t>𝜂</m:t>
                                  </m:r>
                                </m:e>
                                <m:sub>
                                  <m:r>
                                    <a:rPr lang="es-419" sz="1350" i="1">
                                      <a:latin typeface="Cambria Math" panose="02040503050406030204" pitchFamily="18" charset="0"/>
                                      <a:ea typeface="Calibri" panose="020F0502020204030204" pitchFamily="34" charset="0"/>
                                      <a:cs typeface="Times New Roman" panose="02020603050405020304" pitchFamily="18" charset="0"/>
                                    </a:rPr>
                                    <m:t>𝐷</m:t>
                                  </m:r>
                                </m:sub>
                              </m:sSub>
                            </m:num>
                            <m:den>
                              <m:sSub>
                                <m:sSubPr>
                                  <m:ctrlPr>
                                    <a:rPr lang="es-EC" sz="1350" i="1">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latin typeface="Cambria Math" panose="02040503050406030204" pitchFamily="18" charset="0"/>
                                      <a:ea typeface="Calibri" panose="020F0502020204030204" pitchFamily="34" charset="0"/>
                                      <a:cs typeface="Times New Roman" panose="02020603050405020304" pitchFamily="18" charset="0"/>
                                    </a:rPr>
                                    <m:t>𝜂</m:t>
                                  </m:r>
                                </m:e>
                                <m:sub>
                                  <m:r>
                                    <a:rPr lang="es-419" sz="1350" i="1">
                                      <a:latin typeface="Cambria Math" panose="02040503050406030204" pitchFamily="18" charset="0"/>
                                      <a:ea typeface="Calibri" panose="020F0502020204030204" pitchFamily="34" charset="0"/>
                                      <a:cs typeface="Times New Roman" panose="02020603050405020304" pitchFamily="18" charset="0"/>
                                    </a:rPr>
                                    <m:t>𝐷</m:t>
                                  </m:r>
                                </m:sub>
                              </m:sSub>
                              <m:r>
                                <a:rPr lang="es-419" sz="1350" i="1">
                                  <a:latin typeface="Cambria Math" panose="02040503050406030204" pitchFamily="18" charset="0"/>
                                  <a:ea typeface="Calibri" panose="020F0502020204030204" pitchFamily="34" charset="0"/>
                                  <a:cs typeface="Times New Roman" panose="02020603050405020304" pitchFamily="18" charset="0"/>
                                </a:rPr>
                                <m:t>+</m:t>
                              </m:r>
                              <m:sSub>
                                <m:sSubPr>
                                  <m:ctrlPr>
                                    <a:rPr lang="es-EC" sz="1350" i="1">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latin typeface="Cambria Math" panose="02040503050406030204" pitchFamily="18" charset="0"/>
                                      <a:ea typeface="Calibri" panose="020F0502020204030204" pitchFamily="34" charset="0"/>
                                      <a:cs typeface="Times New Roman" panose="02020603050405020304" pitchFamily="18" charset="0"/>
                                    </a:rPr>
                                    <m:t>𝜂</m:t>
                                  </m:r>
                                </m:e>
                                <m:sub>
                                  <m:r>
                                    <a:rPr lang="es-419" sz="1350" i="1">
                                      <a:latin typeface="Cambria Math" panose="02040503050406030204" pitchFamily="18" charset="0"/>
                                      <a:ea typeface="Calibri" panose="020F0502020204030204" pitchFamily="34" charset="0"/>
                                      <a:cs typeface="Times New Roman" panose="02020603050405020304" pitchFamily="18" charset="0"/>
                                    </a:rPr>
                                    <m:t>𝑆</m:t>
                                  </m:r>
                                </m:sub>
                              </m:sSub>
                            </m:den>
                          </m:f>
                        </m:e>
                      </m:d>
                      <m:r>
                        <a:rPr lang="es-419" sz="1350" i="1">
                          <a:latin typeface="Cambria Math" panose="02040503050406030204" pitchFamily="18" charset="0"/>
                          <a:ea typeface="Calibri" panose="020F0502020204030204" pitchFamily="34" charset="0"/>
                          <a:cs typeface="Times New Roman" panose="02020603050405020304" pitchFamily="18" charset="0"/>
                        </a:rPr>
                        <m:t>=</m:t>
                      </m:r>
                      <m:f>
                        <m:fPr>
                          <m:ctrlPr>
                            <a:rPr lang="es-EC" sz="1350" i="1">
                              <a:latin typeface="Cambria Math" panose="02040503050406030204" pitchFamily="18" charset="0"/>
                              <a:ea typeface="Calibri" panose="020F0502020204030204" pitchFamily="34" charset="0"/>
                              <a:cs typeface="Times New Roman" panose="02020603050405020304" pitchFamily="18" charset="0"/>
                            </a:rPr>
                          </m:ctrlPr>
                        </m:fPr>
                        <m:num>
                          <m:r>
                            <a:rPr lang="es-419" sz="1350" i="1">
                              <a:latin typeface="Cambria Math" panose="02040503050406030204" pitchFamily="18" charset="0"/>
                              <a:ea typeface="Calibri" panose="020F0502020204030204" pitchFamily="34" charset="0"/>
                              <a:cs typeface="Times New Roman" panose="02020603050405020304" pitchFamily="18" charset="0"/>
                            </a:rPr>
                            <m:t>△</m:t>
                          </m:r>
                          <m:sSub>
                            <m:sSubPr>
                              <m:ctrlPr>
                                <a:rPr lang="es-EC" sz="1350" i="1">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latin typeface="Cambria Math" panose="02040503050406030204" pitchFamily="18" charset="0"/>
                                  <a:ea typeface="Calibri" panose="020F0502020204030204" pitchFamily="34" charset="0"/>
                                  <a:cs typeface="Times New Roman" panose="02020603050405020304" pitchFamily="18" charset="0"/>
                                </a:rPr>
                                <m:t>𝑃</m:t>
                              </m:r>
                            </m:e>
                            <m:sub>
                              <m:r>
                                <a:rPr lang="es-419" sz="1350" i="1">
                                  <a:latin typeface="Cambria Math" panose="02040503050406030204" pitchFamily="18" charset="0"/>
                                  <a:ea typeface="Calibri" panose="020F0502020204030204" pitchFamily="34" charset="0"/>
                                  <a:cs typeface="Times New Roman" panose="02020603050405020304" pitchFamily="18" charset="0"/>
                                </a:rPr>
                                <m:t>𝐾𝑁</m:t>
                              </m:r>
                            </m:sub>
                          </m:sSub>
                        </m:num>
                        <m:den>
                          <m:r>
                            <a:rPr lang="es-419" sz="1350" i="1">
                              <a:latin typeface="Cambria Math" panose="02040503050406030204" pitchFamily="18" charset="0"/>
                              <a:ea typeface="Calibri" panose="020F0502020204030204" pitchFamily="34" charset="0"/>
                              <a:cs typeface="Times New Roman" panose="02020603050405020304" pitchFamily="18" charset="0"/>
                            </a:rPr>
                            <m:t>𝑇</m:t>
                          </m:r>
                        </m:den>
                      </m:f>
                    </m:oMath>
                  </m:oMathPara>
                </a14:m>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r>
                  <a:rPr lang="es-419" sz="1050" dirty="0">
                    <a:latin typeface="Calibri" panose="020F0502020204030204" pitchFamily="34" charset="0"/>
                    <a:ea typeface="Calibri" panose="020F0502020204030204" pitchFamily="34" charset="0"/>
                    <a:cs typeface="Times New Roman" panose="02020603050405020304" pitchFamily="18" charset="0"/>
                  </a:rPr>
                  <a:t>  </a:t>
                </a:r>
                <a:r>
                  <a:rPr lang="es-419" sz="1350" dirty="0">
                    <a:latin typeface="Calibri" panose="020F0502020204030204" pitchFamily="34" charset="0"/>
                    <a:ea typeface="Calibri" panose="020F0502020204030204" pitchFamily="34" charset="0"/>
                    <a:cs typeface="Times New Roman" panose="02020603050405020304" pitchFamily="18" charset="0"/>
                  </a:rPr>
                  <a:t> </a:t>
                </a:r>
                <a:endParaRPr lang="es-EC" sz="135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9" name="CuadroTexto 88">
                <a:extLst>
                  <a:ext uri="{FF2B5EF4-FFF2-40B4-BE49-F238E27FC236}">
                    <a16:creationId xmlns:a16="http://schemas.microsoft.com/office/drawing/2014/main" id="{073DB2AF-7132-42C4-ADA5-984460C25864}"/>
                  </a:ext>
                </a:extLst>
              </p:cNvPr>
              <p:cNvSpPr txBox="1">
                <a:spLocks noRot="1" noChangeAspect="1" noMove="1" noResize="1" noEditPoints="1" noAdjustHandles="1" noChangeArrowheads="1" noChangeShapeType="1" noTextEdit="1"/>
              </p:cNvSpPr>
              <p:nvPr/>
            </p:nvSpPr>
            <p:spPr>
              <a:xfrm>
                <a:off x="4760843" y="3612891"/>
                <a:ext cx="4575008" cy="1180516"/>
              </a:xfrm>
              <a:prstGeom prst="rect">
                <a:avLst/>
              </a:prstGeom>
              <a:blipFill>
                <a:blip r:embed="rId5"/>
                <a:stretch>
                  <a:fillRect l="-400" t="-518"/>
                </a:stretch>
              </a:blipFill>
            </p:spPr>
            <p:txBody>
              <a:bodyPr/>
              <a:lstStyle/>
              <a:p>
                <a:r>
                  <a:rPr lang="es-EC">
                    <a:noFill/>
                  </a:rPr>
                  <a:t> </a:t>
                </a:r>
              </a:p>
            </p:txBody>
          </p:sp>
        </mc:Fallback>
      </mc:AlternateContent>
      <p:pic>
        <p:nvPicPr>
          <p:cNvPr id="33" name="Imagen 32">
            <a:extLst>
              <a:ext uri="{FF2B5EF4-FFF2-40B4-BE49-F238E27FC236}">
                <a16:creationId xmlns:a16="http://schemas.microsoft.com/office/drawing/2014/main" id="{4F07E4BF-C4EC-4EEF-9F4A-1A5C9CBC8DC6}"/>
              </a:ext>
            </a:extLst>
          </p:cNvPr>
          <p:cNvPicPr>
            <a:picLocks noChangeAspect="1"/>
          </p:cNvPicPr>
          <p:nvPr/>
        </p:nvPicPr>
        <p:blipFill>
          <a:blip r:embed="rId6"/>
          <a:stretch>
            <a:fillRect/>
          </a:stretch>
        </p:blipFill>
        <p:spPr>
          <a:xfrm>
            <a:off x="4064011" y="-82577"/>
            <a:ext cx="4575008" cy="35413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4A2B63-CC6B-42EF-827F-09139093B306}"/>
              </a:ext>
            </a:extLst>
          </p:cNvPr>
          <p:cNvSpPr>
            <a:spLocks noGrp="1"/>
          </p:cNvSpPr>
          <p:nvPr>
            <p:ph type="title"/>
          </p:nvPr>
        </p:nvSpPr>
        <p:spPr/>
        <p:txBody>
          <a:bodyPr/>
          <a:lstStyle/>
          <a:p>
            <a:r>
              <a:rPr lang="es-EC" dirty="0"/>
              <a:t>Ejemplo </a:t>
            </a:r>
          </a:p>
        </p:txBody>
      </p:sp>
      <mc:AlternateContent xmlns:mc="http://schemas.openxmlformats.org/markup-compatibility/2006" xmlns:a14="http://schemas.microsoft.com/office/drawing/2010/main">
        <mc:Choice Requires="a14">
          <p:sp>
            <p:nvSpPr>
              <p:cNvPr id="7" name="Subtítulo 6">
                <a:extLst>
                  <a:ext uri="{FF2B5EF4-FFF2-40B4-BE49-F238E27FC236}">
                    <a16:creationId xmlns:a16="http://schemas.microsoft.com/office/drawing/2014/main" id="{DC9BB390-FBA3-46BF-A9A7-52AE7C739872}"/>
                  </a:ext>
                </a:extLst>
              </p:cNvPr>
              <p:cNvSpPr>
                <a:spLocks noGrp="1"/>
              </p:cNvSpPr>
              <p:nvPr>
                <p:ph type="subTitle" idx="1"/>
              </p:nvPr>
            </p:nvSpPr>
            <p:spPr>
              <a:xfrm>
                <a:off x="1078271" y="1273422"/>
                <a:ext cx="7133283" cy="2805284"/>
              </a:xfrm>
            </p:spPr>
            <p:txBody>
              <a:bodyPr/>
              <a:lstStyle/>
              <a:p>
                <a:pPr marL="257175" indent="-257175" algn="just">
                  <a:buFont typeface="Arial" panose="020B0604020202020204" pitchFamily="34" charset="0"/>
                  <a:buChar char="•"/>
                </a:pPr>
                <a:r>
                  <a:rPr lang="es-EC" dirty="0">
                    <a:solidFill>
                      <a:schemeClr val="tx1"/>
                    </a:solidFill>
                    <a:effectLst/>
                  </a:rPr>
                  <a:t>La demanda de capital  bien dada por la curva de </a:t>
                </a:r>
                <a14:m>
                  <m:oMath xmlns:m="http://schemas.openxmlformats.org/officeDocument/2006/math">
                    <m:sSub>
                      <m:sSubPr>
                        <m:ctrlPr>
                          <a:rPr lang="es-EC" i="1">
                            <a:solidFill>
                              <a:schemeClr val="tx1"/>
                            </a:solidFill>
                            <a:effectLst/>
                            <a:latin typeface="Cambria Math" panose="02040503050406030204" pitchFamily="18" charset="0"/>
                          </a:rPr>
                        </m:ctrlPr>
                      </m:sSubPr>
                      <m:e>
                        <m:r>
                          <a:rPr lang="es-419" b="0" i="1">
                            <a:solidFill>
                              <a:schemeClr val="tx1"/>
                            </a:solidFill>
                            <a:effectLst/>
                            <a:latin typeface="Cambria Math" panose="02040503050406030204" pitchFamily="18" charset="0"/>
                          </a:rPr>
                          <m:t>𝑃</m:t>
                        </m:r>
                      </m:e>
                      <m:sub>
                        <m:r>
                          <a:rPr lang="es-419" b="0" i="1">
                            <a:solidFill>
                              <a:schemeClr val="tx1"/>
                            </a:solidFill>
                            <a:effectLst/>
                            <a:latin typeface="Cambria Math" panose="02040503050406030204" pitchFamily="18" charset="0"/>
                          </a:rPr>
                          <m:t>𝐾</m:t>
                        </m:r>
                      </m:sub>
                    </m:sSub>
                  </m:oMath>
                </a14:m>
                <a:r>
                  <a:rPr lang="es-EC" dirty="0">
                    <a:solidFill>
                      <a:schemeClr val="tx1"/>
                    </a:solidFill>
                    <a:effectLst/>
                  </a:rPr>
                  <a:t>= 0.4 -0.002k, donde k es denominado en miles de  dólares  y </a:t>
                </a:r>
                <a14:m>
                  <m:oMath xmlns:m="http://schemas.openxmlformats.org/officeDocument/2006/math">
                    <m:sSub>
                      <m:sSubPr>
                        <m:ctrlPr>
                          <a:rPr lang="es-EC" i="1" smtClean="0">
                            <a:solidFill>
                              <a:schemeClr val="tx1"/>
                            </a:solidFill>
                            <a:effectLst/>
                            <a:latin typeface="Cambria Math" panose="02040503050406030204" pitchFamily="18" charset="0"/>
                          </a:rPr>
                        </m:ctrlPr>
                      </m:sSubPr>
                      <m:e>
                        <m:r>
                          <a:rPr lang="es-419" sz="1350" b="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𝑃</m:t>
                        </m:r>
                      </m:e>
                      <m:sub>
                        <m:r>
                          <a:rPr lang="es-419" sz="1350" b="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𝐾</m:t>
                        </m:r>
                      </m:sub>
                    </m:sSub>
                  </m:oMath>
                </a14:m>
                <a:r>
                  <a:rPr lang="es-EC" dirty="0">
                    <a:solidFill>
                      <a:schemeClr val="tx1"/>
                    </a:solidFill>
                    <a:effectLst/>
                  </a:rPr>
                  <a:t> es el precio de capital. </a:t>
                </a:r>
              </a:p>
              <a:p>
                <a:pPr marL="257175" indent="-257175" algn="just">
                  <a:buFont typeface="Arial" panose="020B0604020202020204" pitchFamily="34" charset="0"/>
                  <a:buChar char="•"/>
                </a:pPr>
                <a:endParaRPr lang="es-EC" dirty="0">
                  <a:solidFill>
                    <a:schemeClr val="tx1"/>
                  </a:solidFill>
                  <a:effectLst/>
                </a:endParaRPr>
              </a:p>
              <a:p>
                <a:pPr marL="257175" indent="-257175" algn="just">
                  <a:buFont typeface="Arial" panose="020B0604020202020204" pitchFamily="34" charset="0"/>
                  <a:buChar char="•"/>
                </a:pPr>
                <a:r>
                  <a:rPr lang="es-EC" dirty="0">
                    <a:solidFill>
                      <a:schemeClr val="tx1"/>
                    </a:solidFill>
                    <a:effectLst/>
                  </a:rPr>
                  <a:t>La curva de oferta esta dada por </a:t>
                </a:r>
                <a14:m>
                  <m:oMath xmlns:m="http://schemas.openxmlformats.org/officeDocument/2006/math">
                    <m:sSub>
                      <m:sSubPr>
                        <m:ctrlPr>
                          <a:rPr lang="es-EC" i="1" smtClean="0">
                            <a:solidFill>
                              <a:schemeClr val="tx1"/>
                            </a:solidFill>
                            <a:effectLst/>
                            <a:latin typeface="Cambria Math" panose="02040503050406030204" pitchFamily="18" charset="0"/>
                          </a:rPr>
                        </m:ctrlPr>
                      </m:sSubPr>
                      <m:e>
                        <m:r>
                          <a:rPr lang="es-419" sz="1350" b="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𝑃</m:t>
                        </m:r>
                      </m:e>
                      <m:sub>
                        <m:r>
                          <a:rPr lang="es-419" sz="1350" b="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𝐾</m:t>
                        </m:r>
                      </m:sub>
                    </m:sSub>
                  </m:oMath>
                </a14:m>
                <a:r>
                  <a:rPr lang="es-EC" dirty="0">
                    <a:solidFill>
                      <a:schemeClr val="tx1"/>
                    </a:solidFill>
                    <a:effectLst/>
                  </a:rPr>
                  <a:t>=</a:t>
                </a:r>
                <a14:m>
                  <m:oMath xmlns:m="http://schemas.openxmlformats.org/officeDocument/2006/math">
                    <m:f>
                      <m:fPr>
                        <m:ctrlPr>
                          <a:rPr lang="es-EC" i="1">
                            <a:solidFill>
                              <a:schemeClr val="tx1"/>
                            </a:solidFill>
                            <a:effectLst/>
                            <a:latin typeface="Cambria Math" panose="02040503050406030204" pitchFamily="18" charset="0"/>
                          </a:rPr>
                        </m:ctrlPr>
                      </m:fPr>
                      <m:num>
                        <m:r>
                          <a:rPr lang="es-419" b="0" i="1">
                            <a:solidFill>
                              <a:schemeClr val="tx1"/>
                            </a:solidFill>
                            <a:effectLst/>
                            <a:latin typeface="Cambria Math" panose="02040503050406030204" pitchFamily="18" charset="0"/>
                          </a:rPr>
                          <m:t>1</m:t>
                        </m:r>
                      </m:num>
                      <m:den>
                        <m:r>
                          <a:rPr lang="es-419" b="0" i="1">
                            <a:solidFill>
                              <a:schemeClr val="tx1"/>
                            </a:solidFill>
                            <a:effectLst/>
                            <a:latin typeface="Cambria Math" panose="02040503050406030204" pitchFamily="18" charset="0"/>
                          </a:rPr>
                          <m:t>3500</m:t>
                        </m:r>
                      </m:den>
                    </m:f>
                  </m:oMath>
                </a14:m>
                <a:r>
                  <a:rPr lang="es-EC" dirty="0">
                    <a:solidFill>
                      <a:schemeClr val="tx1"/>
                    </a:solidFill>
                    <a:effectLst/>
                  </a:rPr>
                  <a:t>K, oferta en miles de dólares </a:t>
                </a:r>
              </a:p>
              <a:p>
                <a:pPr marL="257175" indent="-257175" algn="just">
                  <a:buFont typeface="Arial" panose="020B0604020202020204" pitchFamily="34" charset="0"/>
                  <a:buChar char="•"/>
                </a:pPr>
                <a:endParaRPr lang="es-EC" dirty="0">
                  <a:solidFill>
                    <a:schemeClr val="tx1"/>
                  </a:solidFill>
                  <a:effectLst/>
                </a:endParaRPr>
              </a:p>
              <a:p>
                <a:pPr marL="257175" indent="-257175" algn="just">
                  <a:buFont typeface="Arial" panose="020B0604020202020204" pitchFamily="34" charset="0"/>
                  <a:buChar char="•"/>
                </a:pPr>
                <a:r>
                  <a:rPr lang="es-EC" dirty="0">
                    <a:solidFill>
                      <a:schemeClr val="tx1"/>
                    </a:solidFill>
                    <a:effectLst/>
                  </a:rPr>
                  <a:t>Ahora suponga que se grava una tasa de impuesto unitario del 0.01 por unidad de capital </a:t>
                </a:r>
              </a:p>
              <a:p>
                <a:pPr algn="just"/>
                <a:endParaRPr lang="es-EC" dirty="0">
                  <a:solidFill>
                    <a:schemeClr val="tx1"/>
                  </a:solidFill>
                </a:endParaRPr>
              </a:p>
              <a:p>
                <a:pPr algn="just"/>
                <a:r>
                  <a:rPr lang="es-EC" b="1" dirty="0">
                    <a:solidFill>
                      <a:schemeClr val="tx1"/>
                    </a:solidFill>
                  </a:rPr>
                  <a:t>Calcule la recaudación tributaria total y la incidencia económica del impuesto </a:t>
                </a:r>
              </a:p>
            </p:txBody>
          </p:sp>
        </mc:Choice>
        <mc:Fallback xmlns="">
          <p:sp>
            <p:nvSpPr>
              <p:cNvPr id="7" name="Subtítulo 6">
                <a:extLst>
                  <a:ext uri="{FF2B5EF4-FFF2-40B4-BE49-F238E27FC236}">
                    <a16:creationId xmlns:a16="http://schemas.microsoft.com/office/drawing/2014/main" id="{DC9BB390-FBA3-46BF-A9A7-52AE7C739872}"/>
                  </a:ext>
                </a:extLst>
              </p:cNvPr>
              <p:cNvSpPr>
                <a:spLocks noGrp="1" noRot="1" noChangeAspect="1" noMove="1" noResize="1" noEditPoints="1" noAdjustHandles="1" noChangeArrowheads="1" noChangeShapeType="1" noTextEdit="1"/>
              </p:cNvSpPr>
              <p:nvPr>
                <p:ph type="subTitle" idx="1"/>
              </p:nvPr>
            </p:nvSpPr>
            <p:spPr>
              <a:xfrm>
                <a:off x="1078271" y="1273422"/>
                <a:ext cx="7133283" cy="2805284"/>
              </a:xfrm>
              <a:blipFill>
                <a:blip r:embed="rId2"/>
                <a:stretch>
                  <a:fillRect l="-769" t="-652" r="-684"/>
                </a:stretch>
              </a:blipFill>
            </p:spPr>
            <p:txBody>
              <a:bodyPr/>
              <a:lstStyle/>
              <a:p>
                <a:r>
                  <a:rPr lang="es-EC">
                    <a:noFill/>
                  </a:rPr>
                  <a:t> </a:t>
                </a:r>
              </a:p>
            </p:txBody>
          </p:sp>
        </mc:Fallback>
      </mc:AlternateContent>
    </p:spTree>
    <p:extLst>
      <p:ext uri="{BB962C8B-B14F-4D97-AF65-F5344CB8AC3E}">
        <p14:creationId xmlns:p14="http://schemas.microsoft.com/office/powerpoint/2010/main" val="3319883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523AA1A2-001A-4EF7-A284-A9FAFDE2587F}"/>
                  </a:ext>
                </a:extLst>
              </p:cNvPr>
              <p:cNvSpPr txBox="1"/>
              <p:nvPr/>
            </p:nvSpPr>
            <p:spPr>
              <a:xfrm>
                <a:off x="1172818" y="554399"/>
                <a:ext cx="2305878" cy="2733249"/>
              </a:xfrm>
              <a:prstGeom prst="rect">
                <a:avLst/>
              </a:prstGeom>
              <a:noFill/>
            </p:spPr>
            <p:txBody>
              <a:bodyPr wrap="square">
                <a:spAutoFit/>
              </a:bodyPr>
              <a:lstStyle/>
              <a:p>
                <a:pPr>
                  <a:lnSpc>
                    <a:spcPct val="107000"/>
                  </a:lnSpc>
                  <a:spcAft>
                    <a:spcPts val="600"/>
                  </a:spcAft>
                  <a:tabLst>
                    <a:tab pos="2735104" algn="l"/>
                  </a:tabLst>
                </a:pPr>
                <a:r>
                  <a:rPr lang="es-ES" sz="1350" dirty="0">
                    <a:latin typeface="Calibri" panose="020F0502020204030204" pitchFamily="34" charset="0"/>
                    <a:ea typeface="Calibri" panose="020F0502020204030204" pitchFamily="34" charset="0"/>
                    <a:cs typeface="Times New Roman" panose="02020603050405020304" pitchFamily="18" charset="0"/>
                  </a:rPr>
                  <a:t>Igualamos oferta y demanda </a:t>
                </a:r>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14:m>
                  <m:oMathPara xmlns:m="http://schemas.openxmlformats.org/officeDocument/2006/math">
                    <m:oMathParaPr>
                      <m:jc m:val="centerGroup"/>
                    </m:oMathParaPr>
                    <m:oMath xmlns:m="http://schemas.openxmlformats.org/officeDocument/2006/math">
                      <m:r>
                        <a:rPr lang="es-419" sz="1200" i="1">
                          <a:latin typeface="Cambria Math" panose="02040503050406030204" pitchFamily="18" charset="0"/>
                          <a:ea typeface="Calibri" panose="020F0502020204030204" pitchFamily="34" charset="0"/>
                          <a:cs typeface="Times New Roman" panose="02020603050405020304" pitchFamily="18" charset="0"/>
                        </a:rPr>
                        <m:t>0</m:t>
                      </m:r>
                      <m:r>
                        <a:rPr lang="es-419" sz="1200" i="1">
                          <a:latin typeface="Cambria Math" panose="02040503050406030204" pitchFamily="18" charset="0"/>
                          <a:ea typeface="Calibri" panose="020F0502020204030204" pitchFamily="34" charset="0"/>
                          <a:cs typeface="Times New Roman" panose="02020603050405020304" pitchFamily="18" charset="0"/>
                        </a:rPr>
                        <m:t>.</m:t>
                      </m:r>
                      <m:r>
                        <a:rPr lang="es-419" sz="1200" i="1">
                          <a:latin typeface="Cambria Math" panose="02040503050406030204" pitchFamily="18" charset="0"/>
                          <a:ea typeface="Calibri" panose="020F0502020204030204" pitchFamily="34" charset="0"/>
                          <a:cs typeface="Times New Roman" panose="02020603050405020304" pitchFamily="18" charset="0"/>
                        </a:rPr>
                        <m:t>4</m:t>
                      </m:r>
                      <m:r>
                        <a:rPr lang="es-419" sz="1200" i="1">
                          <a:latin typeface="Cambria Math" panose="02040503050406030204" pitchFamily="18" charset="0"/>
                          <a:ea typeface="Calibri" panose="020F0502020204030204" pitchFamily="34" charset="0"/>
                          <a:cs typeface="Times New Roman" panose="02020603050405020304" pitchFamily="18" charset="0"/>
                        </a:rPr>
                        <m:t>−</m:t>
                      </m:r>
                      <m:r>
                        <a:rPr lang="es-419" sz="1200" i="1">
                          <a:latin typeface="Cambria Math" panose="02040503050406030204" pitchFamily="18" charset="0"/>
                          <a:ea typeface="Calibri" panose="020F0502020204030204" pitchFamily="34" charset="0"/>
                          <a:cs typeface="Times New Roman" panose="02020603050405020304" pitchFamily="18" charset="0"/>
                        </a:rPr>
                        <m:t>0</m:t>
                      </m:r>
                      <m:r>
                        <a:rPr lang="es-419" sz="1200" i="1">
                          <a:latin typeface="Cambria Math" panose="02040503050406030204" pitchFamily="18" charset="0"/>
                          <a:ea typeface="Calibri" panose="020F0502020204030204" pitchFamily="34" charset="0"/>
                          <a:cs typeface="Times New Roman" panose="02020603050405020304" pitchFamily="18" charset="0"/>
                        </a:rPr>
                        <m:t>.</m:t>
                      </m:r>
                      <m:r>
                        <a:rPr lang="es-419" sz="1200" i="1">
                          <a:latin typeface="Cambria Math" panose="02040503050406030204" pitchFamily="18" charset="0"/>
                          <a:ea typeface="Calibri" panose="020F0502020204030204" pitchFamily="34" charset="0"/>
                          <a:cs typeface="Times New Roman" panose="02020603050405020304" pitchFamily="18" charset="0"/>
                        </a:rPr>
                        <m:t>002</m:t>
                      </m:r>
                      <m:r>
                        <a:rPr lang="es-419" sz="1200" i="1">
                          <a:latin typeface="Cambria Math" panose="02040503050406030204" pitchFamily="18" charset="0"/>
                          <a:ea typeface="Calibri" panose="020F0502020204030204" pitchFamily="34" charset="0"/>
                          <a:cs typeface="Times New Roman" panose="02020603050405020304" pitchFamily="18" charset="0"/>
                        </a:rPr>
                        <m:t>𝐾</m:t>
                      </m:r>
                      <m:r>
                        <a:rPr lang="es-419" sz="1200" i="1">
                          <a:latin typeface="Cambria Math" panose="02040503050406030204" pitchFamily="18" charset="0"/>
                          <a:ea typeface="Calibri" panose="020F0502020204030204" pitchFamily="34" charset="0"/>
                          <a:cs typeface="Times New Roman" panose="02020603050405020304" pitchFamily="18" charset="0"/>
                        </a:rPr>
                        <m:t>=</m:t>
                      </m:r>
                      <m:f>
                        <m:fPr>
                          <m:ctrlPr>
                            <a:rPr lang="es-EC" sz="1200" i="1">
                              <a:latin typeface="Cambria Math" panose="02040503050406030204" pitchFamily="18" charset="0"/>
                              <a:ea typeface="Calibri" panose="020F0502020204030204" pitchFamily="34" charset="0"/>
                              <a:cs typeface="Times New Roman" panose="02020603050405020304" pitchFamily="18" charset="0"/>
                            </a:rPr>
                          </m:ctrlPr>
                        </m:fPr>
                        <m:num>
                          <m:r>
                            <a:rPr lang="es-419" sz="1200" i="1">
                              <a:latin typeface="Cambria Math" panose="02040503050406030204" pitchFamily="18" charset="0"/>
                              <a:ea typeface="Calibri" panose="020F0502020204030204" pitchFamily="34" charset="0"/>
                              <a:cs typeface="Times New Roman" panose="02020603050405020304" pitchFamily="18" charset="0"/>
                            </a:rPr>
                            <m:t>1</m:t>
                          </m:r>
                        </m:num>
                        <m:den>
                          <m:r>
                            <a:rPr lang="es-419" sz="1200" i="1">
                              <a:latin typeface="Cambria Math" panose="02040503050406030204" pitchFamily="18" charset="0"/>
                              <a:ea typeface="Calibri" panose="020F0502020204030204" pitchFamily="34" charset="0"/>
                              <a:cs typeface="Times New Roman" panose="02020603050405020304" pitchFamily="18" charset="0"/>
                            </a:rPr>
                            <m:t>3500</m:t>
                          </m:r>
                        </m:den>
                      </m:f>
                      <m:r>
                        <a:rPr lang="es-419" sz="1200" i="1">
                          <a:latin typeface="Cambria Math" panose="02040503050406030204" pitchFamily="18" charset="0"/>
                          <a:ea typeface="Calibri" panose="020F0502020204030204" pitchFamily="34" charset="0"/>
                          <a:cs typeface="Times New Roman" panose="02020603050405020304" pitchFamily="18" charset="0"/>
                        </a:rPr>
                        <m:t>𝐾</m:t>
                      </m:r>
                    </m:oMath>
                  </m:oMathPara>
                </a14:m>
                <a:endParaRPr lang="es-EC"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14:m>
                  <m:oMathPara xmlns:m="http://schemas.openxmlformats.org/officeDocument/2006/math">
                    <m:oMathParaPr>
                      <m:jc m:val="centerGroup"/>
                    </m:oMathParaPr>
                    <m:oMath xmlns:m="http://schemas.openxmlformats.org/officeDocument/2006/math">
                      <m:r>
                        <a:rPr lang="es-419" sz="1200" i="1">
                          <a:latin typeface="Cambria Math" panose="02040503050406030204" pitchFamily="18" charset="0"/>
                          <a:ea typeface="Calibri" panose="020F0502020204030204" pitchFamily="34" charset="0"/>
                          <a:cs typeface="Times New Roman" panose="02020603050405020304" pitchFamily="18" charset="0"/>
                        </a:rPr>
                        <m:t>0</m:t>
                      </m:r>
                      <m:r>
                        <a:rPr lang="es-419" sz="1200" i="1">
                          <a:latin typeface="Cambria Math" panose="02040503050406030204" pitchFamily="18" charset="0"/>
                          <a:ea typeface="Calibri" panose="020F0502020204030204" pitchFamily="34" charset="0"/>
                          <a:cs typeface="Times New Roman" panose="02020603050405020304" pitchFamily="18" charset="0"/>
                        </a:rPr>
                        <m:t>.</m:t>
                      </m:r>
                      <m:r>
                        <a:rPr lang="es-419" sz="1200" i="1">
                          <a:latin typeface="Cambria Math" panose="02040503050406030204" pitchFamily="18" charset="0"/>
                          <a:ea typeface="Calibri" panose="020F0502020204030204" pitchFamily="34" charset="0"/>
                          <a:cs typeface="Times New Roman" panose="02020603050405020304" pitchFamily="18" charset="0"/>
                        </a:rPr>
                        <m:t>4</m:t>
                      </m:r>
                      <m:r>
                        <a:rPr lang="es-419" sz="1200" i="1">
                          <a:latin typeface="Cambria Math" panose="02040503050406030204" pitchFamily="18" charset="0"/>
                          <a:ea typeface="Calibri" panose="020F0502020204030204" pitchFamily="34" charset="0"/>
                          <a:cs typeface="Times New Roman" panose="02020603050405020304" pitchFamily="18" charset="0"/>
                        </a:rPr>
                        <m:t>=</m:t>
                      </m:r>
                      <m:r>
                        <a:rPr lang="es-419" sz="1200" i="1">
                          <a:latin typeface="Cambria Math" panose="02040503050406030204" pitchFamily="18" charset="0"/>
                          <a:ea typeface="Calibri" panose="020F0502020204030204" pitchFamily="34" charset="0"/>
                          <a:cs typeface="Times New Roman" panose="02020603050405020304" pitchFamily="18" charset="0"/>
                        </a:rPr>
                        <m:t>0</m:t>
                      </m:r>
                      <m:r>
                        <a:rPr lang="es-419" sz="1200" i="1">
                          <a:latin typeface="Cambria Math" panose="02040503050406030204" pitchFamily="18" charset="0"/>
                          <a:ea typeface="Calibri" panose="020F0502020204030204" pitchFamily="34" charset="0"/>
                          <a:cs typeface="Times New Roman" panose="02020603050405020304" pitchFamily="18" charset="0"/>
                        </a:rPr>
                        <m:t>.</m:t>
                      </m:r>
                      <m:r>
                        <a:rPr lang="es-419" sz="1200" i="1">
                          <a:latin typeface="Cambria Math" panose="02040503050406030204" pitchFamily="18" charset="0"/>
                          <a:ea typeface="Calibri" panose="020F0502020204030204" pitchFamily="34" charset="0"/>
                          <a:cs typeface="Times New Roman" panose="02020603050405020304" pitchFamily="18" charset="0"/>
                        </a:rPr>
                        <m:t>002</m:t>
                      </m:r>
                      <m:r>
                        <a:rPr lang="es-419" sz="1200" i="1">
                          <a:latin typeface="Cambria Math" panose="02040503050406030204" pitchFamily="18" charset="0"/>
                          <a:ea typeface="Calibri" panose="020F0502020204030204" pitchFamily="34" charset="0"/>
                          <a:cs typeface="Times New Roman" panose="02020603050405020304" pitchFamily="18" charset="0"/>
                        </a:rPr>
                        <m:t>𝐾</m:t>
                      </m:r>
                      <m:r>
                        <a:rPr lang="es-419" sz="1200" i="1">
                          <a:latin typeface="Cambria Math" panose="02040503050406030204" pitchFamily="18" charset="0"/>
                          <a:ea typeface="Calibri" panose="020F0502020204030204" pitchFamily="34" charset="0"/>
                          <a:cs typeface="Times New Roman" panose="02020603050405020304" pitchFamily="18" charset="0"/>
                        </a:rPr>
                        <m:t>+</m:t>
                      </m:r>
                      <m:f>
                        <m:fPr>
                          <m:ctrlPr>
                            <a:rPr lang="es-EC" sz="1200" i="1">
                              <a:latin typeface="Cambria Math" panose="02040503050406030204" pitchFamily="18" charset="0"/>
                              <a:ea typeface="Calibri" panose="020F0502020204030204" pitchFamily="34" charset="0"/>
                              <a:cs typeface="Times New Roman" panose="02020603050405020304" pitchFamily="18" charset="0"/>
                            </a:rPr>
                          </m:ctrlPr>
                        </m:fPr>
                        <m:num>
                          <m:r>
                            <a:rPr lang="es-419" sz="1200" i="1">
                              <a:latin typeface="Cambria Math" panose="02040503050406030204" pitchFamily="18" charset="0"/>
                              <a:ea typeface="Calibri" panose="020F0502020204030204" pitchFamily="34" charset="0"/>
                              <a:cs typeface="Times New Roman" panose="02020603050405020304" pitchFamily="18" charset="0"/>
                            </a:rPr>
                            <m:t>1</m:t>
                          </m:r>
                        </m:num>
                        <m:den>
                          <m:r>
                            <a:rPr lang="es-419" sz="1200" i="1">
                              <a:latin typeface="Cambria Math" panose="02040503050406030204" pitchFamily="18" charset="0"/>
                              <a:ea typeface="Calibri" panose="020F0502020204030204" pitchFamily="34" charset="0"/>
                              <a:cs typeface="Times New Roman" panose="02020603050405020304" pitchFamily="18" charset="0"/>
                            </a:rPr>
                            <m:t>3500</m:t>
                          </m:r>
                        </m:den>
                      </m:f>
                      <m:r>
                        <a:rPr lang="es-419" sz="1200" i="1">
                          <a:latin typeface="Cambria Math" panose="02040503050406030204" pitchFamily="18" charset="0"/>
                          <a:ea typeface="Calibri" panose="020F0502020204030204" pitchFamily="34" charset="0"/>
                          <a:cs typeface="Times New Roman" panose="02020603050405020304" pitchFamily="18" charset="0"/>
                        </a:rPr>
                        <m:t>𝐾</m:t>
                      </m:r>
                    </m:oMath>
                  </m:oMathPara>
                </a14:m>
                <a:endParaRPr lang="es-EC"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14:m>
                  <m:oMathPara xmlns:m="http://schemas.openxmlformats.org/officeDocument/2006/math">
                    <m:oMathParaPr>
                      <m:jc m:val="centerGroup"/>
                    </m:oMathParaPr>
                    <m:oMath xmlns:m="http://schemas.openxmlformats.org/officeDocument/2006/math">
                      <m:sSup>
                        <m:sSupPr>
                          <m:ctrlPr>
                            <a:rPr lang="es-EC" sz="1200"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pPr>
                        <m:e>
                          <m:r>
                            <a:rPr lang="es-419" sz="1200"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𝑲</m:t>
                          </m:r>
                        </m:e>
                        <m:sup>
                          <m:r>
                            <a:rPr lang="es-419" sz="1200"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𝒆</m:t>
                          </m:r>
                        </m:sup>
                      </m:sSup>
                      <m:r>
                        <a:rPr lang="es-419" sz="1200"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m:t>
                      </m:r>
                      <m:r>
                        <a:rPr lang="es-419" sz="1200"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𝟏𝟕𝟓</m:t>
                      </m:r>
                    </m:oMath>
                  </m:oMathPara>
                </a14:m>
                <a:endParaRPr lang="es-EC" sz="12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14:m>
                  <m:oMathPara xmlns:m="http://schemas.openxmlformats.org/officeDocument/2006/math">
                    <m:oMathParaPr>
                      <m:jc m:val="centerGroup"/>
                    </m:oMathParaPr>
                    <m:oMath xmlns:m="http://schemas.openxmlformats.org/officeDocument/2006/math">
                      <m:sSup>
                        <m:sSupPr>
                          <m:ctrlPr>
                            <a:rPr lang="es-EC" sz="1200" i="1">
                              <a:latin typeface="Cambria Math" panose="02040503050406030204" pitchFamily="18" charset="0"/>
                              <a:ea typeface="Calibri" panose="020F0502020204030204" pitchFamily="34" charset="0"/>
                              <a:cs typeface="Times New Roman" panose="02020603050405020304" pitchFamily="18" charset="0"/>
                            </a:rPr>
                          </m:ctrlPr>
                        </m:sSupPr>
                        <m:e>
                          <m:r>
                            <a:rPr lang="es-419" sz="1200" i="1">
                              <a:latin typeface="Cambria Math" panose="02040503050406030204" pitchFamily="18" charset="0"/>
                              <a:ea typeface="Calibri" panose="020F0502020204030204" pitchFamily="34" charset="0"/>
                              <a:cs typeface="Times New Roman" panose="02020603050405020304" pitchFamily="18" charset="0"/>
                            </a:rPr>
                            <m:t>𝑃</m:t>
                          </m:r>
                        </m:e>
                        <m:sup>
                          <m:r>
                            <a:rPr lang="es-419" sz="1200" i="1">
                              <a:latin typeface="Cambria Math" panose="02040503050406030204" pitchFamily="18" charset="0"/>
                              <a:ea typeface="Calibri" panose="020F0502020204030204" pitchFamily="34" charset="0"/>
                              <a:cs typeface="Times New Roman" panose="02020603050405020304" pitchFamily="18" charset="0"/>
                            </a:rPr>
                            <m:t>𝑒</m:t>
                          </m:r>
                        </m:sup>
                      </m:sSup>
                      <m:r>
                        <a:rPr lang="es-419" sz="1200" i="1">
                          <a:latin typeface="Cambria Math" panose="02040503050406030204" pitchFamily="18" charset="0"/>
                          <a:ea typeface="Times New Roman" panose="02020603050405020304" pitchFamily="18" charset="0"/>
                          <a:cs typeface="Times New Roman" panose="02020603050405020304" pitchFamily="18" charset="0"/>
                        </a:rPr>
                        <m:t>=</m:t>
                      </m:r>
                      <m:f>
                        <m:fPr>
                          <m:ctrlPr>
                            <a:rPr lang="es-EC" sz="1200" i="1">
                              <a:latin typeface="Cambria Math" panose="02040503050406030204" pitchFamily="18" charset="0"/>
                              <a:ea typeface="Times New Roman" panose="02020603050405020304" pitchFamily="18" charset="0"/>
                              <a:cs typeface="Times New Roman" panose="02020603050405020304" pitchFamily="18" charset="0"/>
                            </a:rPr>
                          </m:ctrlPr>
                        </m:fPr>
                        <m:num>
                          <m:r>
                            <a:rPr lang="es-419" sz="1200" i="1">
                              <a:latin typeface="Cambria Math" panose="02040503050406030204" pitchFamily="18" charset="0"/>
                              <a:ea typeface="Times New Roman" panose="02020603050405020304" pitchFamily="18" charset="0"/>
                              <a:cs typeface="Times New Roman" panose="02020603050405020304" pitchFamily="18" charset="0"/>
                            </a:rPr>
                            <m:t>1</m:t>
                          </m:r>
                        </m:num>
                        <m:den>
                          <m:r>
                            <a:rPr lang="es-419" sz="1200" i="1">
                              <a:latin typeface="Cambria Math" panose="02040503050406030204" pitchFamily="18" charset="0"/>
                              <a:ea typeface="Times New Roman" panose="02020603050405020304" pitchFamily="18" charset="0"/>
                              <a:cs typeface="Times New Roman" panose="02020603050405020304" pitchFamily="18" charset="0"/>
                            </a:rPr>
                            <m:t>3500</m:t>
                          </m:r>
                        </m:den>
                      </m:f>
                      <m:r>
                        <a:rPr lang="es-419" sz="1200" i="1">
                          <a:latin typeface="Cambria Math" panose="02040503050406030204" pitchFamily="18" charset="0"/>
                          <a:ea typeface="Times New Roman" panose="02020603050405020304" pitchFamily="18" charset="0"/>
                          <a:cs typeface="Times New Roman" panose="02020603050405020304" pitchFamily="18" charset="0"/>
                        </a:rPr>
                        <m:t>𝐾</m:t>
                      </m:r>
                    </m:oMath>
                  </m:oMathPara>
                </a14:m>
                <a:endParaRPr lang="es-EC"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14:m>
                  <m:oMathPara xmlns:m="http://schemas.openxmlformats.org/officeDocument/2006/math">
                    <m:oMathParaPr>
                      <m:jc m:val="centerGroup"/>
                    </m:oMathParaPr>
                    <m:oMath xmlns:m="http://schemas.openxmlformats.org/officeDocument/2006/math">
                      <m:sSup>
                        <m:sSupPr>
                          <m:ctrlPr>
                            <a:rPr lang="es-EC" sz="1200" i="1">
                              <a:latin typeface="Cambria Math" panose="02040503050406030204" pitchFamily="18" charset="0"/>
                              <a:ea typeface="Calibri" panose="020F0502020204030204" pitchFamily="34" charset="0"/>
                              <a:cs typeface="Times New Roman" panose="02020603050405020304" pitchFamily="18" charset="0"/>
                            </a:rPr>
                          </m:ctrlPr>
                        </m:sSupPr>
                        <m:e>
                          <m:r>
                            <a:rPr lang="es-419" sz="1200" i="1">
                              <a:latin typeface="Cambria Math" panose="02040503050406030204" pitchFamily="18" charset="0"/>
                              <a:ea typeface="Calibri" panose="020F0502020204030204" pitchFamily="34" charset="0"/>
                              <a:cs typeface="Times New Roman" panose="02020603050405020304" pitchFamily="18" charset="0"/>
                            </a:rPr>
                            <m:t>𝑃</m:t>
                          </m:r>
                        </m:e>
                        <m:sup>
                          <m:r>
                            <a:rPr lang="es-419" sz="1200" i="1">
                              <a:latin typeface="Cambria Math" panose="02040503050406030204" pitchFamily="18" charset="0"/>
                              <a:ea typeface="Calibri" panose="020F0502020204030204" pitchFamily="34" charset="0"/>
                              <a:cs typeface="Times New Roman" panose="02020603050405020304" pitchFamily="18" charset="0"/>
                            </a:rPr>
                            <m:t>𝑒</m:t>
                          </m:r>
                        </m:sup>
                      </m:sSup>
                      <m:r>
                        <a:rPr lang="es-419" sz="1200" i="1">
                          <a:latin typeface="Cambria Math" panose="02040503050406030204" pitchFamily="18" charset="0"/>
                          <a:ea typeface="Times New Roman" panose="02020603050405020304" pitchFamily="18" charset="0"/>
                          <a:cs typeface="Times New Roman" panose="02020603050405020304" pitchFamily="18" charset="0"/>
                        </a:rPr>
                        <m:t>=</m:t>
                      </m:r>
                      <m:f>
                        <m:fPr>
                          <m:ctrlPr>
                            <a:rPr lang="es-EC" sz="1200" i="1">
                              <a:latin typeface="Cambria Math" panose="02040503050406030204" pitchFamily="18" charset="0"/>
                              <a:ea typeface="Times New Roman" panose="02020603050405020304" pitchFamily="18" charset="0"/>
                              <a:cs typeface="Times New Roman" panose="02020603050405020304" pitchFamily="18" charset="0"/>
                            </a:rPr>
                          </m:ctrlPr>
                        </m:fPr>
                        <m:num>
                          <m:r>
                            <a:rPr lang="es-419" sz="1200" i="1">
                              <a:latin typeface="Cambria Math" panose="02040503050406030204" pitchFamily="18" charset="0"/>
                              <a:ea typeface="Times New Roman" panose="02020603050405020304" pitchFamily="18" charset="0"/>
                              <a:cs typeface="Times New Roman" panose="02020603050405020304" pitchFamily="18" charset="0"/>
                            </a:rPr>
                            <m:t>1</m:t>
                          </m:r>
                        </m:num>
                        <m:den>
                          <m:r>
                            <a:rPr lang="es-419" sz="1200" i="1">
                              <a:latin typeface="Cambria Math" panose="02040503050406030204" pitchFamily="18" charset="0"/>
                              <a:ea typeface="Times New Roman" panose="02020603050405020304" pitchFamily="18" charset="0"/>
                              <a:cs typeface="Times New Roman" panose="02020603050405020304" pitchFamily="18" charset="0"/>
                            </a:rPr>
                            <m:t>3500</m:t>
                          </m:r>
                        </m:den>
                      </m:f>
                      <m:r>
                        <a:rPr lang="es-419" sz="1200" i="1">
                          <a:latin typeface="Cambria Math" panose="02040503050406030204" pitchFamily="18" charset="0"/>
                          <a:ea typeface="Times New Roman" panose="02020603050405020304" pitchFamily="18" charset="0"/>
                          <a:cs typeface="Times New Roman" panose="02020603050405020304" pitchFamily="18" charset="0"/>
                        </a:rPr>
                        <m:t>(</m:t>
                      </m:r>
                      <m:r>
                        <a:rPr lang="es-419" sz="1200" i="1">
                          <a:latin typeface="Cambria Math" panose="02040503050406030204" pitchFamily="18" charset="0"/>
                          <a:ea typeface="Times New Roman" panose="02020603050405020304" pitchFamily="18" charset="0"/>
                          <a:cs typeface="Times New Roman" panose="02020603050405020304" pitchFamily="18" charset="0"/>
                        </a:rPr>
                        <m:t>175</m:t>
                      </m:r>
                      <m:r>
                        <a:rPr lang="es-419" sz="1200" i="1">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s-EC"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14:m>
                  <m:oMathPara xmlns:m="http://schemas.openxmlformats.org/officeDocument/2006/math">
                    <m:oMathParaPr>
                      <m:jc m:val="centerGroup"/>
                    </m:oMathParaPr>
                    <m:oMath xmlns:m="http://schemas.openxmlformats.org/officeDocument/2006/math">
                      <m:sSup>
                        <m:sSupPr>
                          <m:ctrlPr>
                            <a:rPr lang="es-EC" sz="1200"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pPr>
                        <m:e>
                          <m:r>
                            <a:rPr lang="es-419" sz="1200"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𝑷</m:t>
                          </m:r>
                        </m:e>
                        <m:sup>
                          <m:r>
                            <a:rPr lang="es-419" sz="1200"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𝒆</m:t>
                          </m:r>
                        </m:sup>
                      </m:sSup>
                      <m:r>
                        <a:rPr lang="es-419" sz="1200" b="1"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m:t>
                      </m:r>
                      <m:r>
                        <a:rPr lang="es-419" sz="1200" b="1"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𝟎</m:t>
                      </m:r>
                      <m:r>
                        <a:rPr lang="es-419" sz="1200" b="1"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m:t>
                      </m:r>
                      <m:r>
                        <a:rPr lang="es-419" sz="1200" b="1"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𝟎𝟓</m:t>
                      </m:r>
                    </m:oMath>
                  </m:oMathPara>
                </a14:m>
                <a:endParaRPr lang="es-EC" sz="1200" b="1"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523AA1A2-001A-4EF7-A284-A9FAFDE2587F}"/>
                  </a:ext>
                </a:extLst>
              </p:cNvPr>
              <p:cNvSpPr txBox="1">
                <a:spLocks noRot="1" noChangeAspect="1" noMove="1" noResize="1" noEditPoints="1" noAdjustHandles="1" noChangeArrowheads="1" noChangeShapeType="1" noTextEdit="1"/>
              </p:cNvSpPr>
              <p:nvPr/>
            </p:nvSpPr>
            <p:spPr>
              <a:xfrm>
                <a:off x="1172818" y="554399"/>
                <a:ext cx="2305878" cy="2733249"/>
              </a:xfrm>
              <a:prstGeom prst="rect">
                <a:avLst/>
              </a:prstGeom>
              <a:blipFill>
                <a:blip r:embed="rId2"/>
                <a:stretch>
                  <a:fillRect l="-528" t="-223"/>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0E11FB70-D2E1-4612-963C-9ADAC4797BB8}"/>
                  </a:ext>
                </a:extLst>
              </p:cNvPr>
              <p:cNvSpPr txBox="1"/>
              <p:nvPr/>
            </p:nvSpPr>
            <p:spPr>
              <a:xfrm>
                <a:off x="5287617" y="518331"/>
                <a:ext cx="2822713" cy="2805833"/>
              </a:xfrm>
              <a:prstGeom prst="rect">
                <a:avLst/>
              </a:prstGeom>
              <a:noFill/>
            </p:spPr>
            <p:txBody>
              <a:bodyPr wrap="square">
                <a:spAutoFit/>
              </a:bodyPr>
              <a:lstStyle/>
              <a:p>
                <a:pPr>
                  <a:lnSpc>
                    <a:spcPct val="107000"/>
                  </a:lnSpc>
                  <a:spcAft>
                    <a:spcPts val="600"/>
                  </a:spcAft>
                  <a:tabLst>
                    <a:tab pos="2735104" algn="l"/>
                  </a:tabLst>
                </a:pPr>
                <a:r>
                  <a:rPr lang="es-419" sz="1350" dirty="0">
                    <a:latin typeface="Calibri" panose="020F0502020204030204" pitchFamily="34" charset="0"/>
                    <a:ea typeface="Times New Roman" panose="02020603050405020304" pitchFamily="18" charset="0"/>
                    <a:cs typeface="Times New Roman" panose="02020603050405020304" pitchFamily="18" charset="0"/>
                  </a:rPr>
                  <a:t>Aplicando el impuesto </a:t>
                </a:r>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14:m>
                  <m:oMath xmlns:m="http://schemas.openxmlformats.org/officeDocument/2006/math">
                    <m:sSub>
                      <m:sSubPr>
                        <m:ctrlPr>
                          <a:rPr lang="es-EC" sz="1350" i="1">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latin typeface="Cambria Math" panose="02040503050406030204" pitchFamily="18" charset="0"/>
                            <a:ea typeface="Calibri" panose="020F0502020204030204" pitchFamily="34" charset="0"/>
                            <a:cs typeface="Times New Roman" panose="02020603050405020304" pitchFamily="18" charset="0"/>
                          </a:rPr>
                          <m:t>𝑃</m:t>
                        </m:r>
                      </m:e>
                      <m:sub>
                        <m:r>
                          <a:rPr lang="es-419" sz="1350" i="1">
                            <a:latin typeface="Cambria Math" panose="02040503050406030204" pitchFamily="18" charset="0"/>
                            <a:ea typeface="Calibri" panose="020F0502020204030204" pitchFamily="34" charset="0"/>
                            <a:cs typeface="Times New Roman" panose="02020603050405020304" pitchFamily="18" charset="0"/>
                          </a:rPr>
                          <m:t>𝐾</m:t>
                        </m:r>
                      </m:sub>
                    </m:sSub>
                    <m:r>
                      <a:rPr lang="es-419" sz="1350" i="1">
                        <a:latin typeface="Cambria Math" panose="02040503050406030204" pitchFamily="18" charset="0"/>
                        <a:ea typeface="Times New Roman" panose="02020603050405020304" pitchFamily="18" charset="0"/>
                        <a:cs typeface="Times New Roman" panose="02020603050405020304" pitchFamily="18" charset="0"/>
                      </a:rPr>
                      <m:t>=</m:t>
                    </m:r>
                    <m:f>
                      <m:fPr>
                        <m:ctrlPr>
                          <a:rPr lang="es-EC" sz="1350" i="1">
                            <a:latin typeface="Cambria Math" panose="02040503050406030204" pitchFamily="18" charset="0"/>
                            <a:ea typeface="Times New Roman" panose="02020603050405020304" pitchFamily="18" charset="0"/>
                            <a:cs typeface="Times New Roman" panose="02020603050405020304" pitchFamily="18" charset="0"/>
                          </a:rPr>
                        </m:ctrlPr>
                      </m:fPr>
                      <m:num>
                        <m:r>
                          <a:rPr lang="es-419" sz="1350" i="1">
                            <a:latin typeface="Cambria Math" panose="02040503050406030204" pitchFamily="18" charset="0"/>
                            <a:ea typeface="Times New Roman" panose="02020603050405020304" pitchFamily="18" charset="0"/>
                            <a:cs typeface="Times New Roman" panose="02020603050405020304" pitchFamily="18" charset="0"/>
                          </a:rPr>
                          <m:t>1</m:t>
                        </m:r>
                      </m:num>
                      <m:den>
                        <m:r>
                          <a:rPr lang="es-419" sz="1350" i="1">
                            <a:latin typeface="Cambria Math" panose="02040503050406030204" pitchFamily="18" charset="0"/>
                            <a:ea typeface="Times New Roman" panose="02020603050405020304" pitchFamily="18" charset="0"/>
                            <a:cs typeface="Times New Roman" panose="02020603050405020304" pitchFamily="18" charset="0"/>
                          </a:rPr>
                          <m:t>3500</m:t>
                        </m:r>
                      </m:den>
                    </m:f>
                    <m:r>
                      <a:rPr lang="es-419" sz="1350" i="1">
                        <a:latin typeface="Cambria Math" panose="02040503050406030204" pitchFamily="18" charset="0"/>
                        <a:ea typeface="Times New Roman" panose="02020603050405020304" pitchFamily="18" charset="0"/>
                        <a:cs typeface="Times New Roman" panose="02020603050405020304" pitchFamily="18" charset="0"/>
                      </a:rPr>
                      <m:t>𝐾</m:t>
                    </m:r>
                    <m:r>
                      <a:rPr lang="es-419" sz="1350" i="1">
                        <a:latin typeface="Cambria Math" panose="02040503050406030204" pitchFamily="18" charset="0"/>
                        <a:ea typeface="Times New Roman" panose="02020603050405020304" pitchFamily="18" charset="0"/>
                        <a:cs typeface="Times New Roman" panose="02020603050405020304" pitchFamily="18" charset="0"/>
                      </a:rPr>
                      <m:t>+</m:t>
                    </m:r>
                    <m:r>
                      <a:rPr lang="es-419" sz="1350" i="1">
                        <a:latin typeface="Cambria Math" panose="02040503050406030204" pitchFamily="18" charset="0"/>
                        <a:ea typeface="Times New Roman" panose="02020603050405020304" pitchFamily="18" charset="0"/>
                        <a:cs typeface="Times New Roman" panose="02020603050405020304" pitchFamily="18" charset="0"/>
                      </a:rPr>
                      <m:t>0</m:t>
                    </m:r>
                    <m:r>
                      <a:rPr lang="es-419" sz="1350" i="1">
                        <a:latin typeface="Cambria Math" panose="02040503050406030204" pitchFamily="18" charset="0"/>
                        <a:ea typeface="Times New Roman" panose="02020603050405020304" pitchFamily="18" charset="0"/>
                        <a:cs typeface="Times New Roman" panose="02020603050405020304" pitchFamily="18" charset="0"/>
                      </a:rPr>
                      <m:t>.</m:t>
                    </m:r>
                    <m:r>
                      <a:rPr lang="es-419" sz="1350" i="1">
                        <a:latin typeface="Cambria Math" panose="02040503050406030204" pitchFamily="18" charset="0"/>
                        <a:ea typeface="Times New Roman" panose="02020603050405020304" pitchFamily="18" charset="0"/>
                        <a:cs typeface="Times New Roman" panose="02020603050405020304" pitchFamily="18" charset="0"/>
                      </a:rPr>
                      <m:t>01</m:t>
                    </m:r>
                  </m:oMath>
                </a14:m>
                <a:r>
                  <a:rPr lang="es-419" sz="1350" dirty="0">
                    <a:latin typeface="Calibri" panose="020F0502020204030204" pitchFamily="34" charset="0"/>
                    <a:ea typeface="Times New Roman" panose="02020603050405020304" pitchFamily="18" charset="0"/>
                    <a:cs typeface="Times New Roman" panose="02020603050405020304" pitchFamily="18" charset="0"/>
                  </a:rPr>
                  <a:t> </a:t>
                </a:r>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r>
                  <a:rPr lang="es-419" sz="1350" dirty="0">
                    <a:latin typeface="Calibri" panose="020F0502020204030204" pitchFamily="34" charset="0"/>
                    <a:ea typeface="Times New Roman" panose="02020603050405020304" pitchFamily="18" charset="0"/>
                    <a:cs typeface="Times New Roman" panose="02020603050405020304" pitchFamily="18" charset="0"/>
                  </a:rPr>
                  <a:t>Nuevamente igualamos la curva y oferta </a:t>
                </a:r>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14:m>
                  <m:oMathPara xmlns:m="http://schemas.openxmlformats.org/officeDocument/2006/math">
                    <m:oMathParaPr>
                      <m:jc m:val="centerGroup"/>
                    </m:oMathParaPr>
                    <m:oMath xmlns:m="http://schemas.openxmlformats.org/officeDocument/2006/math">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4</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002</m:t>
                      </m:r>
                      <m:r>
                        <a:rPr lang="es-419" sz="1350" i="1">
                          <a:latin typeface="Cambria Math" panose="02040503050406030204" pitchFamily="18" charset="0"/>
                          <a:ea typeface="Calibri" panose="020F0502020204030204" pitchFamily="34" charset="0"/>
                          <a:cs typeface="Times New Roman" panose="02020603050405020304" pitchFamily="18" charset="0"/>
                        </a:rPr>
                        <m:t>𝐾</m:t>
                      </m:r>
                      <m:r>
                        <a:rPr lang="es-419" sz="1350" i="1">
                          <a:latin typeface="Cambria Math" panose="02040503050406030204" pitchFamily="18" charset="0"/>
                          <a:ea typeface="Calibri" panose="020F0502020204030204" pitchFamily="34" charset="0"/>
                          <a:cs typeface="Times New Roman" panose="02020603050405020304" pitchFamily="18" charset="0"/>
                        </a:rPr>
                        <m:t>=</m:t>
                      </m:r>
                      <m:f>
                        <m:fPr>
                          <m:ctrlPr>
                            <a:rPr lang="es-EC" sz="1350" i="1">
                              <a:latin typeface="Cambria Math" panose="02040503050406030204" pitchFamily="18" charset="0"/>
                              <a:ea typeface="Calibri" panose="020F0502020204030204" pitchFamily="34" charset="0"/>
                              <a:cs typeface="Times New Roman" panose="02020603050405020304" pitchFamily="18" charset="0"/>
                            </a:rPr>
                          </m:ctrlPr>
                        </m:fPr>
                        <m:num>
                          <m:r>
                            <a:rPr lang="es-419" sz="1350" i="1">
                              <a:latin typeface="Cambria Math" panose="02040503050406030204" pitchFamily="18" charset="0"/>
                              <a:ea typeface="Calibri" panose="020F0502020204030204" pitchFamily="34" charset="0"/>
                              <a:cs typeface="Times New Roman" panose="02020603050405020304" pitchFamily="18" charset="0"/>
                            </a:rPr>
                            <m:t>1</m:t>
                          </m:r>
                        </m:num>
                        <m:den>
                          <m:r>
                            <a:rPr lang="es-419" sz="1350" i="1">
                              <a:latin typeface="Cambria Math" panose="02040503050406030204" pitchFamily="18" charset="0"/>
                              <a:ea typeface="Calibri" panose="020F0502020204030204" pitchFamily="34" charset="0"/>
                              <a:cs typeface="Times New Roman" panose="02020603050405020304" pitchFamily="18" charset="0"/>
                            </a:rPr>
                            <m:t>3500</m:t>
                          </m:r>
                        </m:den>
                      </m:f>
                      <m:r>
                        <a:rPr lang="es-419" sz="1350" i="1">
                          <a:latin typeface="Cambria Math" panose="02040503050406030204" pitchFamily="18" charset="0"/>
                          <a:ea typeface="Calibri" panose="020F0502020204030204" pitchFamily="34" charset="0"/>
                          <a:cs typeface="Times New Roman" panose="02020603050405020304" pitchFamily="18" charset="0"/>
                        </a:rPr>
                        <m:t>𝐾</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01</m:t>
                      </m:r>
                    </m:oMath>
                  </m:oMathPara>
                </a14:m>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14:m>
                  <m:oMathPara xmlns:m="http://schemas.openxmlformats.org/officeDocument/2006/math">
                    <m:oMathParaPr>
                      <m:jc m:val="centerGroup"/>
                    </m:oMathParaPr>
                    <m:oMath xmlns:m="http://schemas.openxmlformats.org/officeDocument/2006/math">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39</m:t>
                      </m:r>
                      <m:r>
                        <a:rPr lang="es-419" sz="1350" i="1">
                          <a:latin typeface="Cambria Math" panose="02040503050406030204" pitchFamily="18" charset="0"/>
                          <a:ea typeface="Calibri" panose="020F0502020204030204" pitchFamily="34" charset="0"/>
                          <a:cs typeface="Times New Roman" panose="02020603050405020304" pitchFamily="18" charset="0"/>
                        </a:rPr>
                        <m:t>=</m:t>
                      </m:r>
                      <m:f>
                        <m:fPr>
                          <m:ctrlPr>
                            <a:rPr lang="es-EC" sz="1350" i="1">
                              <a:latin typeface="Cambria Math" panose="02040503050406030204" pitchFamily="18" charset="0"/>
                              <a:ea typeface="Calibri" panose="020F0502020204030204" pitchFamily="34" charset="0"/>
                              <a:cs typeface="Times New Roman" panose="02020603050405020304" pitchFamily="18" charset="0"/>
                            </a:rPr>
                          </m:ctrlPr>
                        </m:fPr>
                        <m:num>
                          <m:r>
                            <a:rPr lang="es-419" sz="1350" i="1">
                              <a:latin typeface="Cambria Math" panose="02040503050406030204" pitchFamily="18" charset="0"/>
                              <a:ea typeface="Calibri" panose="020F0502020204030204" pitchFamily="34" charset="0"/>
                              <a:cs typeface="Times New Roman" panose="02020603050405020304" pitchFamily="18" charset="0"/>
                            </a:rPr>
                            <m:t>1</m:t>
                          </m:r>
                        </m:num>
                        <m:den>
                          <m:r>
                            <a:rPr lang="es-419" sz="1350" i="1">
                              <a:latin typeface="Cambria Math" panose="02040503050406030204" pitchFamily="18" charset="0"/>
                              <a:ea typeface="Calibri" panose="020F0502020204030204" pitchFamily="34" charset="0"/>
                              <a:cs typeface="Times New Roman" panose="02020603050405020304" pitchFamily="18" charset="0"/>
                            </a:rPr>
                            <m:t>3500</m:t>
                          </m:r>
                        </m:den>
                      </m:f>
                      <m:r>
                        <a:rPr lang="es-419" sz="1350" i="1">
                          <a:latin typeface="Cambria Math" panose="02040503050406030204" pitchFamily="18" charset="0"/>
                          <a:ea typeface="Calibri" panose="020F0502020204030204" pitchFamily="34" charset="0"/>
                          <a:cs typeface="Times New Roman" panose="02020603050405020304" pitchFamily="18" charset="0"/>
                        </a:rPr>
                        <m:t>𝐾</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002</m:t>
                      </m:r>
                      <m:r>
                        <a:rPr lang="es-419" sz="1350" i="1">
                          <a:latin typeface="Cambria Math" panose="02040503050406030204" pitchFamily="18" charset="0"/>
                          <a:ea typeface="Calibri" panose="020F0502020204030204" pitchFamily="34" charset="0"/>
                          <a:cs typeface="Times New Roman" panose="02020603050405020304" pitchFamily="18" charset="0"/>
                        </a:rPr>
                        <m:t>𝐾</m:t>
                      </m:r>
                    </m:oMath>
                  </m:oMathPara>
                </a14:m>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r>
                  <a:rPr lang="es-419" sz="1350" dirty="0">
                    <a:latin typeface="Calibri" panose="020F0502020204030204" pitchFamily="34" charset="0"/>
                    <a:ea typeface="Times New Roman" panose="02020603050405020304" pitchFamily="18" charset="0"/>
                    <a:cs typeface="Times New Roman" panose="02020603050405020304" pitchFamily="18" charset="0"/>
                  </a:rPr>
                  <a:t> </a:t>
                </a:r>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14:m>
                  <m:oMath xmlns:m="http://schemas.openxmlformats.org/officeDocument/2006/math">
                    <m:sSub>
                      <m:sSubPr>
                        <m:ctrlPr>
                          <a:rPr lang="es-EC" sz="1350" i="1">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s-419" sz="1350"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𝐷𝐼</m:t>
                        </m:r>
                      </m:sub>
                    </m:sSub>
                    <m:r>
                      <a:rPr lang="es-419" sz="1350"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m:t>
                    </m:r>
                    <m:r>
                      <a:rPr lang="es-419" sz="1350"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170</m:t>
                    </m:r>
                    <m:r>
                      <a:rPr lang="es-419" sz="1350"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m:t>
                    </m:r>
                    <m:r>
                      <a:rPr lang="es-419" sz="1350"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63</m:t>
                    </m:r>
                  </m:oMath>
                </a14:m>
                <a:r>
                  <a:rPr lang="es-419" sz="1350"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 </a:t>
                </a:r>
                <a:endParaRPr lang="es-EC" sz="135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2" name="CuadroTexto 11">
                <a:extLst>
                  <a:ext uri="{FF2B5EF4-FFF2-40B4-BE49-F238E27FC236}">
                    <a16:creationId xmlns:a16="http://schemas.microsoft.com/office/drawing/2014/main" id="{0E11FB70-D2E1-4612-963C-9ADAC4797BB8}"/>
                  </a:ext>
                </a:extLst>
              </p:cNvPr>
              <p:cNvSpPr txBox="1">
                <a:spLocks noRot="1" noChangeAspect="1" noMove="1" noResize="1" noEditPoints="1" noAdjustHandles="1" noChangeArrowheads="1" noChangeShapeType="1" noTextEdit="1"/>
              </p:cNvSpPr>
              <p:nvPr/>
            </p:nvSpPr>
            <p:spPr>
              <a:xfrm>
                <a:off x="5287617" y="518331"/>
                <a:ext cx="2822713" cy="2805833"/>
              </a:xfrm>
              <a:prstGeom prst="rect">
                <a:avLst/>
              </a:prstGeom>
              <a:blipFill>
                <a:blip r:embed="rId3"/>
                <a:stretch>
                  <a:fillRect l="-432"/>
                </a:stretch>
              </a:blipFill>
            </p:spPr>
            <p:txBody>
              <a:bodyPr/>
              <a:lstStyle/>
              <a:p>
                <a:r>
                  <a:rPr lang="es-EC">
                    <a:noFill/>
                  </a:rPr>
                  <a:t> </a:t>
                </a:r>
              </a:p>
            </p:txBody>
          </p:sp>
        </mc:Fallback>
      </mc:AlternateContent>
    </p:spTree>
    <p:extLst>
      <p:ext uri="{BB962C8B-B14F-4D97-AF65-F5344CB8AC3E}">
        <p14:creationId xmlns:p14="http://schemas.microsoft.com/office/powerpoint/2010/main" val="3002562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D09C6473-C079-4EC9-9516-13D04F5AE75C}"/>
              </a:ext>
            </a:extLst>
          </p:cNvPr>
          <p:cNvPicPr>
            <a:picLocks noChangeAspect="1"/>
          </p:cNvPicPr>
          <p:nvPr/>
        </p:nvPicPr>
        <p:blipFill>
          <a:blip r:embed="rId2"/>
          <a:stretch>
            <a:fillRect/>
          </a:stretch>
        </p:blipFill>
        <p:spPr>
          <a:xfrm>
            <a:off x="4572000" y="129209"/>
            <a:ext cx="4478245" cy="4565208"/>
          </a:xfrm>
          <a:prstGeom prst="rect">
            <a:avLst/>
          </a:prstGeom>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003EF02D-7110-41A8-BAFB-957625B1BFC9}"/>
                  </a:ext>
                </a:extLst>
              </p:cNvPr>
              <p:cNvSpPr txBox="1"/>
              <p:nvPr/>
            </p:nvSpPr>
            <p:spPr>
              <a:xfrm>
                <a:off x="765313" y="722466"/>
                <a:ext cx="3806687" cy="3506729"/>
              </a:xfrm>
              <a:prstGeom prst="rect">
                <a:avLst/>
              </a:prstGeom>
              <a:noFill/>
            </p:spPr>
            <p:txBody>
              <a:bodyPr wrap="square">
                <a:spAutoFit/>
              </a:bodyPr>
              <a:lstStyle/>
              <a:p>
                <a:pPr>
                  <a:lnSpc>
                    <a:spcPct val="107000"/>
                  </a:lnSpc>
                  <a:spcAft>
                    <a:spcPts val="600"/>
                  </a:spcAft>
                  <a:tabLst>
                    <a:tab pos="2735104" algn="l"/>
                  </a:tabLst>
                </a:pPr>
                <a:r>
                  <a:rPr lang="es-419" sz="1350" dirty="0">
                    <a:latin typeface="Calibri" panose="020F0502020204030204" pitchFamily="34" charset="0"/>
                    <a:ea typeface="Times New Roman" panose="02020603050405020304" pitchFamily="18" charset="0"/>
                    <a:cs typeface="Times New Roman" panose="02020603050405020304" pitchFamily="18" charset="0"/>
                  </a:rPr>
                  <a:t>Reemplazando en las curvas iniciales tenemos:</a:t>
                </a:r>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14:m>
                  <m:oMathPara xmlns:m="http://schemas.openxmlformats.org/officeDocument/2006/math">
                    <m:oMathParaPr>
                      <m:jc m:val="centerGroup"/>
                    </m:oMathParaPr>
                    <m:oMath xmlns:m="http://schemas.openxmlformats.org/officeDocument/2006/math">
                      <m:sSubSup>
                        <m:sSubSupPr>
                          <m:ctrlPr>
                            <a:rPr lang="es-EC" sz="1200" i="1">
                              <a:latin typeface="Cambria Math" panose="02040503050406030204" pitchFamily="18" charset="0"/>
                              <a:ea typeface="Calibri" panose="020F0502020204030204" pitchFamily="34" charset="0"/>
                              <a:cs typeface="Times New Roman" panose="02020603050405020304" pitchFamily="18" charset="0"/>
                            </a:rPr>
                          </m:ctrlPr>
                        </m:sSubSupPr>
                        <m:e>
                          <m:r>
                            <a:rPr lang="es-419" sz="1200" i="1">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EC" sz="1200" i="1">
                                  <a:latin typeface="Cambria Math" panose="02040503050406030204" pitchFamily="18" charset="0"/>
                                  <a:ea typeface="Calibri" panose="020F0502020204030204" pitchFamily="34" charset="0"/>
                                  <a:cs typeface="Times New Roman" panose="02020603050405020304" pitchFamily="18" charset="0"/>
                                </a:rPr>
                              </m:ctrlPr>
                            </m:sSubSupPr>
                            <m:e>
                              <m:r>
                                <a:rPr lang="es-419" sz="1200" i="1">
                                  <a:latin typeface="Cambria Math" panose="02040503050406030204" pitchFamily="18" charset="0"/>
                                  <a:ea typeface="Calibri" panose="020F0502020204030204" pitchFamily="34" charset="0"/>
                                  <a:cs typeface="Times New Roman" panose="02020603050405020304" pitchFamily="18" charset="0"/>
                                </a:rPr>
                                <m:t>      </m:t>
                              </m:r>
                              <m:r>
                                <a:rPr lang="es-419" sz="1200" i="1">
                                  <a:latin typeface="Cambria Math" panose="02040503050406030204" pitchFamily="18" charset="0"/>
                                  <a:ea typeface="Calibri" panose="020F0502020204030204" pitchFamily="34" charset="0"/>
                                  <a:cs typeface="Times New Roman" panose="02020603050405020304" pitchFamily="18" charset="0"/>
                                </a:rPr>
                                <m:t>𝑃</m:t>
                              </m:r>
                            </m:e>
                            <m:sub>
                              <m:r>
                                <a:rPr lang="es-419" sz="1200" i="1">
                                  <a:latin typeface="Cambria Math" panose="02040503050406030204" pitchFamily="18" charset="0"/>
                                  <a:ea typeface="Calibri" panose="020F0502020204030204" pitchFamily="34" charset="0"/>
                                  <a:cs typeface="Times New Roman" panose="02020603050405020304" pitchFamily="18" charset="0"/>
                                </a:rPr>
                                <m:t>𝐾</m:t>
                              </m:r>
                            </m:sub>
                            <m:sup>
                              <m:r>
                                <a:rPr lang="es-419" sz="1200" i="1">
                                  <a:latin typeface="Cambria Math" panose="02040503050406030204" pitchFamily="18" charset="0"/>
                                  <a:ea typeface="Calibri" panose="020F0502020204030204" pitchFamily="34" charset="0"/>
                                  <a:cs typeface="Times New Roman" panose="02020603050405020304" pitchFamily="18" charset="0"/>
                                </a:rPr>
                                <m:t>𝐷</m:t>
                              </m:r>
                            </m:sup>
                          </m:sSubSup>
                          <m:r>
                            <a:rPr lang="es-419" sz="1200" i="1">
                              <a:latin typeface="Cambria Math" panose="02040503050406030204" pitchFamily="18" charset="0"/>
                              <a:ea typeface="Calibri" panose="020F0502020204030204" pitchFamily="34" charset="0"/>
                              <a:cs typeface="Times New Roman" panose="02020603050405020304" pitchFamily="18" charset="0"/>
                            </a:rPr>
                            <m:t>= </m:t>
                          </m:r>
                          <m:r>
                            <a:rPr lang="es-419" sz="1200" i="1">
                              <a:latin typeface="Cambria Math" panose="02040503050406030204" pitchFamily="18" charset="0"/>
                              <a:ea typeface="Calibri" panose="020F0502020204030204" pitchFamily="34" charset="0"/>
                              <a:cs typeface="Times New Roman" panose="02020603050405020304" pitchFamily="18" charset="0"/>
                            </a:rPr>
                            <m:t>0</m:t>
                          </m:r>
                          <m:r>
                            <a:rPr lang="es-419" sz="1200" i="1">
                              <a:latin typeface="Cambria Math" panose="02040503050406030204" pitchFamily="18" charset="0"/>
                              <a:ea typeface="Calibri" panose="020F0502020204030204" pitchFamily="34" charset="0"/>
                              <a:cs typeface="Times New Roman" panose="02020603050405020304" pitchFamily="18" charset="0"/>
                            </a:rPr>
                            <m:t>.</m:t>
                          </m:r>
                          <m:r>
                            <a:rPr lang="es-419" sz="1200" i="1">
                              <a:latin typeface="Cambria Math" panose="02040503050406030204" pitchFamily="18" charset="0"/>
                              <a:ea typeface="Calibri" panose="020F0502020204030204" pitchFamily="34" charset="0"/>
                              <a:cs typeface="Times New Roman" panose="02020603050405020304" pitchFamily="18" charset="0"/>
                            </a:rPr>
                            <m:t>4</m:t>
                          </m:r>
                          <m:r>
                            <a:rPr lang="es-419" sz="1200" i="1">
                              <a:latin typeface="Cambria Math" panose="02040503050406030204" pitchFamily="18" charset="0"/>
                              <a:ea typeface="Calibri" panose="020F0502020204030204" pitchFamily="34" charset="0"/>
                              <a:cs typeface="Times New Roman" panose="02020603050405020304" pitchFamily="18" charset="0"/>
                            </a:rPr>
                            <m:t>−</m:t>
                          </m:r>
                          <m:r>
                            <a:rPr lang="es-419" sz="1200" i="1">
                              <a:latin typeface="Cambria Math" panose="02040503050406030204" pitchFamily="18" charset="0"/>
                              <a:ea typeface="Calibri" panose="020F0502020204030204" pitchFamily="34" charset="0"/>
                              <a:cs typeface="Times New Roman" panose="02020603050405020304" pitchFamily="18" charset="0"/>
                            </a:rPr>
                            <m:t>0</m:t>
                          </m:r>
                          <m:r>
                            <a:rPr lang="es-419" sz="1200" i="1">
                              <a:latin typeface="Cambria Math" panose="02040503050406030204" pitchFamily="18" charset="0"/>
                              <a:ea typeface="Calibri" panose="020F0502020204030204" pitchFamily="34" charset="0"/>
                              <a:cs typeface="Times New Roman" panose="02020603050405020304" pitchFamily="18" charset="0"/>
                            </a:rPr>
                            <m:t>.</m:t>
                          </m:r>
                          <m:r>
                            <a:rPr lang="es-419" sz="1200" i="1">
                              <a:latin typeface="Cambria Math" panose="02040503050406030204" pitchFamily="18" charset="0"/>
                              <a:ea typeface="Calibri" panose="020F0502020204030204" pitchFamily="34" charset="0"/>
                              <a:cs typeface="Times New Roman" panose="02020603050405020304" pitchFamily="18" charset="0"/>
                            </a:rPr>
                            <m:t>002</m:t>
                          </m:r>
                          <m:d>
                            <m:dPr>
                              <m:ctrlPr>
                                <a:rPr lang="es-EC" sz="1200" i="1">
                                  <a:latin typeface="Cambria Math" panose="02040503050406030204" pitchFamily="18" charset="0"/>
                                  <a:ea typeface="Calibri" panose="020F0502020204030204" pitchFamily="34" charset="0"/>
                                  <a:cs typeface="Times New Roman" panose="02020603050405020304" pitchFamily="18" charset="0"/>
                                </a:rPr>
                              </m:ctrlPr>
                            </m:dPr>
                            <m:e>
                              <m:r>
                                <a:rPr lang="es-419" sz="1200" i="1">
                                  <a:latin typeface="Cambria Math" panose="02040503050406030204" pitchFamily="18" charset="0"/>
                                  <a:ea typeface="Calibri" panose="020F0502020204030204" pitchFamily="34" charset="0"/>
                                  <a:cs typeface="Times New Roman" panose="02020603050405020304" pitchFamily="18" charset="0"/>
                                </a:rPr>
                                <m:t>170</m:t>
                              </m:r>
                              <m:r>
                                <a:rPr lang="es-419" sz="1200" i="1">
                                  <a:latin typeface="Cambria Math" panose="02040503050406030204" pitchFamily="18" charset="0"/>
                                  <a:ea typeface="Calibri" panose="020F0502020204030204" pitchFamily="34" charset="0"/>
                                  <a:cs typeface="Times New Roman" panose="02020603050405020304" pitchFamily="18" charset="0"/>
                                </a:rPr>
                                <m:t>,</m:t>
                              </m:r>
                              <m:r>
                                <a:rPr lang="es-419" sz="1200" i="1">
                                  <a:latin typeface="Cambria Math" panose="02040503050406030204" pitchFamily="18" charset="0"/>
                                  <a:ea typeface="Calibri" panose="020F0502020204030204" pitchFamily="34" charset="0"/>
                                  <a:cs typeface="Times New Roman" panose="02020603050405020304" pitchFamily="18" charset="0"/>
                                </a:rPr>
                                <m:t>63</m:t>
                              </m:r>
                            </m:e>
                          </m:d>
                          <m:r>
                            <a:rPr lang="es-419" sz="1200" i="1">
                              <a:latin typeface="Cambria Math" panose="02040503050406030204" pitchFamily="18" charset="0"/>
                              <a:ea typeface="Calibri" panose="020F0502020204030204" pitchFamily="34" charset="0"/>
                              <a:cs typeface="Times New Roman" panose="02020603050405020304" pitchFamily="18" charset="0"/>
                            </a:rPr>
                            <m:t>=     </m:t>
                          </m:r>
                          <m:r>
                            <a:rPr lang="es-419" sz="1200" i="1">
                              <a:latin typeface="Cambria Math" panose="02040503050406030204" pitchFamily="18" charset="0"/>
                              <a:ea typeface="Calibri" panose="020F0502020204030204" pitchFamily="34" charset="0"/>
                              <a:cs typeface="Times New Roman" panose="02020603050405020304" pitchFamily="18" charset="0"/>
                            </a:rPr>
                            <m:t>𝑃</m:t>
                          </m:r>
                        </m:e>
                        <m:sub>
                          <m:r>
                            <a:rPr lang="es-419" sz="1200" i="1">
                              <a:latin typeface="Cambria Math" panose="02040503050406030204" pitchFamily="18" charset="0"/>
                              <a:ea typeface="Calibri" panose="020F0502020204030204" pitchFamily="34" charset="0"/>
                              <a:cs typeface="Times New Roman" panose="02020603050405020304" pitchFamily="18" charset="0"/>
                            </a:rPr>
                            <m:t>𝐾</m:t>
                          </m:r>
                        </m:sub>
                        <m:sup>
                          <m:r>
                            <a:rPr lang="es-419" sz="1200" i="1">
                              <a:latin typeface="Cambria Math" panose="02040503050406030204" pitchFamily="18" charset="0"/>
                              <a:ea typeface="Calibri" panose="020F0502020204030204" pitchFamily="34" charset="0"/>
                              <a:cs typeface="Times New Roman" panose="02020603050405020304" pitchFamily="18" charset="0"/>
                            </a:rPr>
                            <m:t>𝐷</m:t>
                          </m:r>
                        </m:sup>
                      </m:sSubSup>
                      <m:r>
                        <a:rPr lang="es-419" sz="1200" i="1">
                          <a:latin typeface="Cambria Math" panose="02040503050406030204" pitchFamily="18" charset="0"/>
                          <a:ea typeface="Calibri" panose="020F0502020204030204" pitchFamily="34" charset="0"/>
                          <a:cs typeface="Times New Roman" panose="02020603050405020304" pitchFamily="18" charset="0"/>
                        </a:rPr>
                        <m:t>=</m:t>
                      </m:r>
                      <m:r>
                        <a:rPr lang="es-419" sz="1200"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𝟎</m:t>
                      </m:r>
                      <m:r>
                        <a:rPr lang="es-419" sz="1200"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m:t>
                      </m:r>
                      <m:r>
                        <a:rPr lang="es-419" sz="1200"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𝟎𝟓𝟖𝟕𝟓</m:t>
                      </m:r>
                    </m:oMath>
                  </m:oMathPara>
                </a14:m>
                <a:endParaRPr lang="es-EC" sz="12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2735104" algn="l"/>
                  </a:tabLst>
                </a:pPr>
                <a:r>
                  <a:rPr lang="es-419" sz="1350" dirty="0">
                    <a:latin typeface="Calibri" panose="020F0502020204030204" pitchFamily="34" charset="0"/>
                    <a:ea typeface="Times New Roman" panose="02020603050405020304" pitchFamily="18" charset="0"/>
                    <a:cs typeface="Times New Roman" panose="02020603050405020304" pitchFamily="18" charset="0"/>
                  </a:rPr>
                  <a:t>	</a:t>
                </a:r>
                <a:br>
                  <a:rPr lang="es-419" sz="1350" i="1" dirty="0">
                    <a:latin typeface="Cambria Math" panose="02040503050406030204" pitchFamily="18" charset="0"/>
                    <a:ea typeface="Calibri" panose="020F0502020204030204" pitchFamily="34"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sSubSup>
                        <m:sSubSupPr>
                          <m:ctrlPr>
                            <a:rPr lang="es-EC" sz="1350" i="1">
                              <a:latin typeface="Cambria Math" panose="02040503050406030204" pitchFamily="18" charset="0"/>
                              <a:ea typeface="Calibri" panose="020F0502020204030204" pitchFamily="34" charset="0"/>
                              <a:cs typeface="Times New Roman" panose="02020603050405020304" pitchFamily="18" charset="0"/>
                            </a:rPr>
                          </m:ctrlPr>
                        </m:sSubSupPr>
                        <m:e>
                          <m:r>
                            <a:rPr lang="es-419" sz="1350" i="1">
                              <a:latin typeface="Cambria Math" panose="02040503050406030204" pitchFamily="18" charset="0"/>
                              <a:ea typeface="Calibri" panose="020F0502020204030204" pitchFamily="34" charset="0"/>
                              <a:cs typeface="Times New Roman" panose="02020603050405020304" pitchFamily="18" charset="0"/>
                            </a:rPr>
                            <m:t>     </m:t>
                          </m:r>
                          <m:r>
                            <a:rPr lang="es-419" sz="1350" i="1">
                              <a:latin typeface="Cambria Math" panose="02040503050406030204" pitchFamily="18" charset="0"/>
                              <a:ea typeface="Calibri" panose="020F0502020204030204" pitchFamily="34" charset="0"/>
                              <a:cs typeface="Times New Roman" panose="02020603050405020304" pitchFamily="18" charset="0"/>
                            </a:rPr>
                            <m:t>𝑃</m:t>
                          </m:r>
                        </m:e>
                        <m:sub>
                          <m:r>
                            <a:rPr lang="es-419" sz="1350" i="1">
                              <a:latin typeface="Cambria Math" panose="02040503050406030204" pitchFamily="18" charset="0"/>
                              <a:ea typeface="Calibri" panose="020F0502020204030204" pitchFamily="34" charset="0"/>
                              <a:cs typeface="Times New Roman" panose="02020603050405020304" pitchFamily="18" charset="0"/>
                            </a:rPr>
                            <m:t>𝐾</m:t>
                          </m:r>
                        </m:sub>
                        <m:sup>
                          <m:r>
                            <a:rPr lang="es-419" sz="1350" i="1">
                              <a:latin typeface="Cambria Math" panose="02040503050406030204" pitchFamily="18" charset="0"/>
                              <a:ea typeface="Calibri" panose="020F0502020204030204" pitchFamily="34" charset="0"/>
                              <a:cs typeface="Times New Roman" panose="02020603050405020304" pitchFamily="18" charset="0"/>
                            </a:rPr>
                            <m:t>𝑂</m:t>
                          </m:r>
                        </m:sup>
                      </m:sSubSup>
                      <m:r>
                        <a:rPr lang="es-419" sz="1350" i="1">
                          <a:latin typeface="Cambria Math" panose="02040503050406030204" pitchFamily="18" charset="0"/>
                          <a:ea typeface="Calibri" panose="020F0502020204030204" pitchFamily="34" charset="0"/>
                          <a:cs typeface="Times New Roman" panose="02020603050405020304" pitchFamily="18" charset="0"/>
                        </a:rPr>
                        <m:t>=</m:t>
                      </m:r>
                      <m:f>
                        <m:fPr>
                          <m:ctrlPr>
                            <a:rPr lang="es-EC" sz="1350" i="1">
                              <a:latin typeface="Cambria Math" panose="02040503050406030204" pitchFamily="18" charset="0"/>
                              <a:ea typeface="Calibri" panose="020F0502020204030204" pitchFamily="34" charset="0"/>
                              <a:cs typeface="Times New Roman" panose="02020603050405020304" pitchFamily="18" charset="0"/>
                            </a:rPr>
                          </m:ctrlPr>
                        </m:fPr>
                        <m:num>
                          <m:r>
                            <a:rPr lang="es-419" sz="1350" i="1">
                              <a:latin typeface="Cambria Math" panose="02040503050406030204" pitchFamily="18" charset="0"/>
                              <a:ea typeface="Calibri" panose="020F0502020204030204" pitchFamily="34" charset="0"/>
                              <a:cs typeface="Times New Roman" panose="02020603050405020304" pitchFamily="18" charset="0"/>
                            </a:rPr>
                            <m:t>1</m:t>
                          </m:r>
                        </m:num>
                        <m:den>
                          <m:r>
                            <a:rPr lang="es-419" sz="1350" i="1">
                              <a:latin typeface="Cambria Math" panose="02040503050406030204" pitchFamily="18" charset="0"/>
                              <a:ea typeface="Calibri" panose="020F0502020204030204" pitchFamily="34" charset="0"/>
                              <a:cs typeface="Times New Roman" panose="02020603050405020304" pitchFamily="18" charset="0"/>
                            </a:rPr>
                            <m:t>3500</m:t>
                          </m:r>
                        </m:den>
                      </m:f>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170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63</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b="1"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𝟎</m:t>
                      </m:r>
                      <m:r>
                        <a:rPr lang="es-419" sz="1350" b="1" i="1">
                          <a:solidFill>
                            <a:srgbClr val="00B050"/>
                          </a:solidFill>
                          <a:latin typeface="Cambria Math" panose="02040503050406030204" pitchFamily="18" charset="0"/>
                          <a:ea typeface="Calibri" panose="020F0502020204030204" pitchFamily="34" charset="0"/>
                          <a:cs typeface="Times New Roman" panose="02020603050405020304" pitchFamily="18" charset="0"/>
                        </a:rPr>
                        <m:t>.</m:t>
                      </m:r>
                      <m:r>
                        <a:rPr lang="es-419" sz="1350" b="1"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𝟎𝟒𝟖𝟕𝟓</m:t>
                      </m:r>
                    </m:oMath>
                  </m:oMathPara>
                </a14:m>
                <a:endParaRPr lang="es-EC" sz="1350" b="1" dirty="0">
                  <a:solidFill>
                    <a:srgbClr val="00B05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465296" algn="l"/>
                  </a:tabLst>
                </a:pPr>
                <a:r>
                  <a:rPr lang="es-419" sz="1350" b="1" dirty="0">
                    <a:latin typeface="Calibri" panose="020F0502020204030204" pitchFamily="34" charset="0"/>
                    <a:ea typeface="Times New Roman" panose="02020603050405020304" pitchFamily="18" charset="0"/>
                    <a:cs typeface="Times New Roman" panose="02020603050405020304" pitchFamily="18" charset="0"/>
                  </a:rPr>
                  <a:t>Recaudación total </a:t>
                </a:r>
                <a:endParaRPr lang="es-EC" sz="135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465296" algn="l"/>
                  </a:tabLst>
                </a:pPr>
                <a14:m>
                  <m:oMath xmlns:m="http://schemas.openxmlformats.org/officeDocument/2006/math">
                    <m:r>
                      <a:rPr lang="es-419" sz="1350" i="1">
                        <a:latin typeface="Cambria Math" panose="02040503050406030204" pitchFamily="18" charset="0"/>
                        <a:ea typeface="Calibri" panose="020F0502020204030204" pitchFamily="34" charset="0"/>
                        <a:cs typeface="Times New Roman" panose="02020603050405020304" pitchFamily="18" charset="0"/>
                      </a:rPr>
                      <m:t>𝑅𝑇</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01</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170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63</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1</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70625</m:t>
                    </m:r>
                  </m:oMath>
                </a14:m>
                <a:r>
                  <a:rPr lang="es-419" sz="1350" dirty="0">
                    <a:latin typeface="Calibri" panose="020F0502020204030204" pitchFamily="34" charset="0"/>
                    <a:ea typeface="Times New Roman" panose="02020603050405020304" pitchFamily="18" charset="0"/>
                    <a:cs typeface="Times New Roman" panose="02020603050405020304" pitchFamily="18" charset="0"/>
                  </a:rPr>
                  <a:t> como es en miles $1706,25</a:t>
                </a:r>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465296" algn="l"/>
                  </a:tabLst>
                </a:pPr>
                <a:r>
                  <a:rPr lang="es-419" sz="1350" b="1" dirty="0">
                    <a:latin typeface="Calibri" panose="020F0502020204030204" pitchFamily="34" charset="0"/>
                    <a:ea typeface="Times New Roman" panose="02020603050405020304" pitchFamily="18" charset="0"/>
                    <a:cs typeface="Times New Roman" panose="02020603050405020304" pitchFamily="18" charset="0"/>
                  </a:rPr>
                  <a:t>Incidencia económica es: </a:t>
                </a:r>
                <a:endParaRPr lang="es-EC" sz="135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465296" algn="l"/>
                  </a:tabLst>
                </a:pPr>
                <a14:m>
                  <m:oMathPara xmlns:m="http://schemas.openxmlformats.org/officeDocument/2006/math">
                    <m:oMathParaPr>
                      <m:jc m:val="centerGroup"/>
                    </m:oMathParaPr>
                    <m:oMath xmlns:m="http://schemas.openxmlformats.org/officeDocument/2006/math">
                      <m:sSub>
                        <m:sSubPr>
                          <m:ctrlPr>
                            <a:rPr lang="es-EC" sz="1350" i="1">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latin typeface="Cambria Math" panose="02040503050406030204" pitchFamily="18" charset="0"/>
                              <a:ea typeface="Calibri" panose="020F0502020204030204" pitchFamily="34" charset="0"/>
                              <a:cs typeface="Times New Roman" panose="02020603050405020304" pitchFamily="18" charset="0"/>
                            </a:rPr>
                            <m:t>𝐼</m:t>
                          </m:r>
                        </m:e>
                        <m:sub>
                          <m:r>
                            <a:rPr lang="es-419" sz="1350" i="1">
                              <a:latin typeface="Cambria Math" panose="02040503050406030204" pitchFamily="18" charset="0"/>
                              <a:ea typeface="Calibri" panose="020F0502020204030204" pitchFamily="34" charset="0"/>
                              <a:cs typeface="Times New Roman" panose="02020603050405020304" pitchFamily="18" charset="0"/>
                            </a:rPr>
                            <m:t>𝐷</m:t>
                          </m:r>
                        </m:sub>
                      </m:sSub>
                      <m:r>
                        <a:rPr lang="es-419" sz="1350" i="1">
                          <a:latin typeface="Cambria Math" panose="02040503050406030204" pitchFamily="18" charset="0"/>
                          <a:ea typeface="Calibri" panose="020F0502020204030204" pitchFamily="34" charset="0"/>
                          <a:cs typeface="Times New Roman" panose="02020603050405020304" pitchFamily="18" charset="0"/>
                        </a:rPr>
                        <m:t>=</m:t>
                      </m:r>
                      <m:f>
                        <m:fPr>
                          <m:ctrlPr>
                            <a:rPr lang="es-EC" sz="1350" i="1">
                              <a:latin typeface="Cambria Math" panose="02040503050406030204" pitchFamily="18" charset="0"/>
                              <a:ea typeface="Calibri" panose="020F0502020204030204" pitchFamily="34" charset="0"/>
                              <a:cs typeface="Times New Roman" panose="02020603050405020304" pitchFamily="18" charset="0"/>
                            </a:rPr>
                          </m:ctrlPr>
                        </m:fPr>
                        <m:num>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05875</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05</m:t>
                          </m:r>
                          <m:r>
                            <a:rPr lang="es-419" sz="1350" i="1">
                              <a:latin typeface="Cambria Math" panose="02040503050406030204" pitchFamily="18" charset="0"/>
                              <a:ea typeface="Calibri" panose="020F0502020204030204" pitchFamily="34" charset="0"/>
                              <a:cs typeface="Times New Roman" panose="02020603050405020304" pitchFamily="18" charset="0"/>
                            </a:rPr>
                            <m:t>)</m:t>
                          </m:r>
                        </m:num>
                        <m:den>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01</m:t>
                          </m:r>
                        </m:den>
                      </m:f>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87</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5</m:t>
                      </m:r>
                      <m:r>
                        <a:rPr lang="es-419" sz="1350" i="1">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s-EC"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tabLst>
                    <a:tab pos="465296" algn="l"/>
                  </a:tabLst>
                </a:pPr>
                <a14:m>
                  <m:oMathPara xmlns:m="http://schemas.openxmlformats.org/officeDocument/2006/math">
                    <m:oMathParaPr>
                      <m:jc m:val="centerGroup"/>
                    </m:oMathParaPr>
                    <m:oMath xmlns:m="http://schemas.openxmlformats.org/officeDocument/2006/math">
                      <m:sSub>
                        <m:sSubPr>
                          <m:ctrlPr>
                            <a:rPr lang="es-EC" sz="1350" i="1">
                              <a:latin typeface="Cambria Math" panose="02040503050406030204" pitchFamily="18" charset="0"/>
                              <a:ea typeface="Calibri" panose="020F0502020204030204" pitchFamily="34" charset="0"/>
                              <a:cs typeface="Times New Roman" panose="02020603050405020304" pitchFamily="18" charset="0"/>
                            </a:rPr>
                          </m:ctrlPr>
                        </m:sSubPr>
                        <m:e>
                          <m:r>
                            <a:rPr lang="es-419" sz="1350" i="1">
                              <a:latin typeface="Cambria Math" panose="02040503050406030204" pitchFamily="18" charset="0"/>
                              <a:ea typeface="Calibri" panose="020F0502020204030204" pitchFamily="34" charset="0"/>
                              <a:cs typeface="Times New Roman" panose="02020603050405020304" pitchFamily="18" charset="0"/>
                            </a:rPr>
                            <m:t>𝐼</m:t>
                          </m:r>
                        </m:e>
                        <m:sub>
                          <m:r>
                            <a:rPr lang="es-419" sz="1350" i="1">
                              <a:latin typeface="Cambria Math" panose="02040503050406030204" pitchFamily="18" charset="0"/>
                              <a:ea typeface="Calibri" panose="020F0502020204030204" pitchFamily="34" charset="0"/>
                              <a:cs typeface="Times New Roman" panose="02020603050405020304" pitchFamily="18" charset="0"/>
                            </a:rPr>
                            <m:t>𝑂</m:t>
                          </m:r>
                        </m:sub>
                      </m:sSub>
                      <m:r>
                        <a:rPr lang="es-419" sz="1350" i="1">
                          <a:latin typeface="Cambria Math" panose="02040503050406030204" pitchFamily="18" charset="0"/>
                          <a:ea typeface="Calibri" panose="020F0502020204030204" pitchFamily="34" charset="0"/>
                          <a:cs typeface="Times New Roman" panose="02020603050405020304" pitchFamily="18" charset="0"/>
                        </a:rPr>
                        <m:t>=</m:t>
                      </m:r>
                      <m:f>
                        <m:fPr>
                          <m:ctrlPr>
                            <a:rPr lang="es-EC" sz="1350" i="1">
                              <a:latin typeface="Cambria Math" panose="02040503050406030204" pitchFamily="18" charset="0"/>
                              <a:ea typeface="Calibri" panose="020F0502020204030204" pitchFamily="34" charset="0"/>
                              <a:cs typeface="Times New Roman" panose="02020603050405020304" pitchFamily="18" charset="0"/>
                            </a:rPr>
                          </m:ctrlPr>
                        </m:fPr>
                        <m:num>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05</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04875</m:t>
                          </m:r>
                          <m:r>
                            <a:rPr lang="es-419" sz="1350" i="1">
                              <a:latin typeface="Cambria Math" panose="02040503050406030204" pitchFamily="18" charset="0"/>
                              <a:ea typeface="Calibri" panose="020F0502020204030204" pitchFamily="34" charset="0"/>
                              <a:cs typeface="Times New Roman" panose="02020603050405020304" pitchFamily="18" charset="0"/>
                            </a:rPr>
                            <m:t>)</m:t>
                          </m:r>
                        </m:num>
                        <m:den>
                          <m:r>
                            <a:rPr lang="es-419" sz="1350" i="1">
                              <a:latin typeface="Cambria Math" panose="02040503050406030204" pitchFamily="18" charset="0"/>
                              <a:ea typeface="Calibri" panose="020F0502020204030204" pitchFamily="34" charset="0"/>
                              <a:cs typeface="Times New Roman" panose="02020603050405020304" pitchFamily="18" charset="0"/>
                            </a:rPr>
                            <m:t>0</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01</m:t>
                          </m:r>
                        </m:den>
                      </m:f>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12</m:t>
                      </m:r>
                      <m:r>
                        <a:rPr lang="es-419" sz="1350" i="1">
                          <a:latin typeface="Cambria Math" panose="02040503050406030204" pitchFamily="18" charset="0"/>
                          <a:ea typeface="Calibri" panose="020F0502020204030204" pitchFamily="34" charset="0"/>
                          <a:cs typeface="Times New Roman" panose="02020603050405020304" pitchFamily="18" charset="0"/>
                        </a:rPr>
                        <m:t>.</m:t>
                      </m:r>
                      <m:r>
                        <a:rPr lang="es-419" sz="1350" i="1">
                          <a:latin typeface="Cambria Math" panose="02040503050406030204" pitchFamily="18" charset="0"/>
                          <a:ea typeface="Calibri" panose="020F0502020204030204" pitchFamily="34" charset="0"/>
                          <a:cs typeface="Times New Roman" panose="02020603050405020304" pitchFamily="18" charset="0"/>
                        </a:rPr>
                        <m:t>5</m:t>
                      </m:r>
                      <m:r>
                        <a:rPr lang="es-419" sz="1350" i="1">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s-EC" sz="135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2" name="CuadroTexto 11">
                <a:extLst>
                  <a:ext uri="{FF2B5EF4-FFF2-40B4-BE49-F238E27FC236}">
                    <a16:creationId xmlns:a16="http://schemas.microsoft.com/office/drawing/2014/main" id="{003EF02D-7110-41A8-BAFB-957625B1BFC9}"/>
                  </a:ext>
                </a:extLst>
              </p:cNvPr>
              <p:cNvSpPr txBox="1">
                <a:spLocks noRot="1" noChangeAspect="1" noMove="1" noResize="1" noEditPoints="1" noAdjustHandles="1" noChangeArrowheads="1" noChangeShapeType="1" noTextEdit="1"/>
              </p:cNvSpPr>
              <p:nvPr/>
            </p:nvSpPr>
            <p:spPr>
              <a:xfrm>
                <a:off x="765313" y="722466"/>
                <a:ext cx="3806687" cy="3506729"/>
              </a:xfrm>
              <a:prstGeom prst="rect">
                <a:avLst/>
              </a:prstGeom>
              <a:blipFill>
                <a:blip r:embed="rId3"/>
                <a:stretch>
                  <a:fillRect l="-481" t="-174"/>
                </a:stretch>
              </a:blipFill>
            </p:spPr>
            <p:txBody>
              <a:bodyPr/>
              <a:lstStyle/>
              <a:p>
                <a:r>
                  <a:rPr lang="es-EC">
                    <a:noFill/>
                  </a:rPr>
                  <a:t> </a:t>
                </a:r>
              </a:p>
            </p:txBody>
          </p:sp>
        </mc:Fallback>
      </mc:AlternateContent>
    </p:spTree>
    <p:extLst>
      <p:ext uri="{BB962C8B-B14F-4D97-AF65-F5344CB8AC3E}">
        <p14:creationId xmlns:p14="http://schemas.microsoft.com/office/powerpoint/2010/main" val="1285970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sp>
        <p:nvSpPr>
          <p:cNvPr id="2336" name="Google Shape;2336;p45"/>
          <p:cNvSpPr txBox="1">
            <a:spLocks noGrp="1"/>
          </p:cNvSpPr>
          <p:nvPr>
            <p:ph type="title"/>
          </p:nvPr>
        </p:nvSpPr>
        <p:spPr>
          <a:xfrm>
            <a:off x="1502894" y="1502140"/>
            <a:ext cx="7258334" cy="1902000"/>
          </a:xfrm>
          <a:prstGeom prst="rect">
            <a:avLst/>
          </a:prstGeom>
        </p:spPr>
        <p:txBody>
          <a:bodyPr spcFirstLastPara="1" wrap="square" lIns="91425" tIns="91425" rIns="91425" bIns="91425" anchor="ctr" anchorCtr="0">
            <a:noAutofit/>
          </a:bodyPr>
          <a:lstStyle/>
          <a:p>
            <a:r>
              <a:rPr lang="es-419" sz="6000" dirty="0"/>
              <a:t>Teoría de las remesas tributarias</a:t>
            </a:r>
          </a:p>
        </p:txBody>
      </p:sp>
    </p:spTree>
    <p:extLst>
      <p:ext uri="{BB962C8B-B14F-4D97-AF65-F5344CB8AC3E}">
        <p14:creationId xmlns:p14="http://schemas.microsoft.com/office/powerpoint/2010/main" val="2401594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19"/>
        <p:cNvGrpSpPr/>
        <p:nvPr/>
      </p:nvGrpSpPr>
      <p:grpSpPr>
        <a:xfrm>
          <a:off x="0" y="0"/>
          <a:ext cx="0" cy="0"/>
          <a:chOff x="0" y="0"/>
          <a:chExt cx="0" cy="0"/>
        </a:xfrm>
      </p:grpSpPr>
      <p:grpSp>
        <p:nvGrpSpPr>
          <p:cNvPr id="2620" name="Google Shape;2620;p47"/>
          <p:cNvGrpSpPr/>
          <p:nvPr/>
        </p:nvGrpSpPr>
        <p:grpSpPr>
          <a:xfrm>
            <a:off x="1667284" y="526920"/>
            <a:ext cx="5744733" cy="1145236"/>
            <a:chOff x="2771600" y="526920"/>
            <a:chExt cx="3480300" cy="1145236"/>
          </a:xfrm>
        </p:grpSpPr>
        <p:sp>
          <p:nvSpPr>
            <p:cNvPr id="2621" name="Google Shape;2621;p47"/>
            <p:cNvSpPr/>
            <p:nvPr/>
          </p:nvSpPr>
          <p:spPr>
            <a:xfrm>
              <a:off x="2771600" y="526920"/>
              <a:ext cx="3480300" cy="1145236"/>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7"/>
            <p:cNvSpPr/>
            <p:nvPr/>
          </p:nvSpPr>
          <p:spPr>
            <a:xfrm>
              <a:off x="2849650" y="606775"/>
              <a:ext cx="3324000" cy="985500"/>
            </a:xfrm>
            <a:prstGeom prst="roundRect">
              <a:avLst>
                <a:gd name="adj" fmla="val 16667"/>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6" name="Google Shape;2626;p47"/>
          <p:cNvGrpSpPr/>
          <p:nvPr/>
        </p:nvGrpSpPr>
        <p:grpSpPr>
          <a:xfrm>
            <a:off x="1872162" y="1999195"/>
            <a:ext cx="5539855" cy="2633155"/>
            <a:chOff x="2771600" y="526920"/>
            <a:chExt cx="3480300" cy="1145100"/>
          </a:xfrm>
        </p:grpSpPr>
        <p:sp>
          <p:nvSpPr>
            <p:cNvPr id="2627" name="Google Shape;2627;p47"/>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419"/>
            </a:p>
          </p:txBody>
        </p:sp>
        <p:sp>
          <p:nvSpPr>
            <p:cNvPr id="2628" name="Google Shape;2628;p47"/>
            <p:cNvSpPr/>
            <p:nvPr/>
          </p:nvSpPr>
          <p:spPr>
            <a:xfrm>
              <a:off x="2849650" y="606775"/>
              <a:ext cx="3324000" cy="985500"/>
            </a:xfrm>
            <a:prstGeom prst="roundRect">
              <a:avLst>
                <a:gd name="adj" fmla="val 16667"/>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419"/>
            </a:p>
          </p:txBody>
        </p:sp>
      </p:grpSp>
      <p:sp>
        <p:nvSpPr>
          <p:cNvPr id="3" name="Título 2">
            <a:extLst>
              <a:ext uri="{FF2B5EF4-FFF2-40B4-BE49-F238E27FC236}">
                <a16:creationId xmlns:a16="http://schemas.microsoft.com/office/drawing/2014/main" id="{42C5EC21-5A3B-482E-9E96-39536EE17094}"/>
              </a:ext>
            </a:extLst>
          </p:cNvPr>
          <p:cNvSpPr>
            <a:spLocks noGrp="1"/>
          </p:cNvSpPr>
          <p:nvPr>
            <p:ph type="title"/>
          </p:nvPr>
        </p:nvSpPr>
        <p:spPr>
          <a:xfrm>
            <a:off x="1488402" y="1103060"/>
            <a:ext cx="5856163" cy="362123"/>
          </a:xfrm>
        </p:spPr>
        <p:txBody>
          <a:bodyPr/>
          <a:lstStyle/>
          <a:p>
            <a:r>
              <a:rPr lang="es-ES" sz="3200"/>
              <a:t>Antecedente</a:t>
            </a:r>
          </a:p>
        </p:txBody>
      </p:sp>
      <p:sp>
        <p:nvSpPr>
          <p:cNvPr id="2629" name="Google Shape;2629;p47"/>
          <p:cNvSpPr txBox="1">
            <a:spLocks noGrp="1"/>
          </p:cNvSpPr>
          <p:nvPr>
            <p:ph type="subTitle" idx="1"/>
          </p:nvPr>
        </p:nvSpPr>
        <p:spPr>
          <a:xfrm>
            <a:off x="2070685" y="2341641"/>
            <a:ext cx="5273880" cy="1934783"/>
          </a:xfrm>
          <a:prstGeom prst="rect">
            <a:avLst/>
          </a:prstGeom>
        </p:spPr>
        <p:txBody>
          <a:bodyPr spcFirstLastPara="1" wrap="square" lIns="91425" tIns="91425" rIns="91425" bIns="91425" anchor="ctr" anchorCtr="0">
            <a:noAutofit/>
          </a:bodyPr>
          <a:lstStyle/>
          <a:p>
            <a:pPr algn="just"/>
            <a:r>
              <a:rPr lang="es-419" sz="2400" dirty="0">
                <a:solidFill>
                  <a:schemeClr val="tx1"/>
                </a:solidFill>
              </a:rPr>
              <a:t>Artículo: ¿Importa quién firma el cheque enviado al gobierno? La economía de las remesas tributarias</a:t>
            </a:r>
          </a:p>
          <a:p>
            <a:pPr algn="r"/>
            <a:r>
              <a:rPr lang="es-419" sz="2400" dirty="0">
                <a:solidFill>
                  <a:schemeClr val="tx1"/>
                </a:solidFill>
              </a:rPr>
              <a:t>Joel Slemrod. 2008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19"/>
        <p:cNvGrpSpPr/>
        <p:nvPr/>
      </p:nvGrpSpPr>
      <p:grpSpPr>
        <a:xfrm>
          <a:off x="0" y="0"/>
          <a:ext cx="0" cy="0"/>
          <a:chOff x="0" y="0"/>
          <a:chExt cx="0" cy="0"/>
        </a:xfrm>
      </p:grpSpPr>
      <p:grpSp>
        <p:nvGrpSpPr>
          <p:cNvPr id="2620" name="Google Shape;2620;p47"/>
          <p:cNvGrpSpPr/>
          <p:nvPr/>
        </p:nvGrpSpPr>
        <p:grpSpPr>
          <a:xfrm>
            <a:off x="1667284" y="170121"/>
            <a:ext cx="5744733" cy="1502035"/>
            <a:chOff x="2771600" y="526920"/>
            <a:chExt cx="3480300" cy="1145236"/>
          </a:xfrm>
        </p:grpSpPr>
        <p:sp>
          <p:nvSpPr>
            <p:cNvPr id="2621" name="Google Shape;2621;p47"/>
            <p:cNvSpPr/>
            <p:nvPr/>
          </p:nvSpPr>
          <p:spPr>
            <a:xfrm>
              <a:off x="2771600" y="526920"/>
              <a:ext cx="3480300" cy="1145236"/>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7"/>
            <p:cNvSpPr/>
            <p:nvPr/>
          </p:nvSpPr>
          <p:spPr>
            <a:xfrm>
              <a:off x="2849650" y="606775"/>
              <a:ext cx="3324000" cy="985500"/>
            </a:xfrm>
            <a:prstGeom prst="roundRect">
              <a:avLst>
                <a:gd name="adj" fmla="val 16667"/>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6" name="Google Shape;2626;p47"/>
          <p:cNvGrpSpPr/>
          <p:nvPr/>
        </p:nvGrpSpPr>
        <p:grpSpPr>
          <a:xfrm>
            <a:off x="1872162" y="1999195"/>
            <a:ext cx="5539855" cy="2633155"/>
            <a:chOff x="2771600" y="526920"/>
            <a:chExt cx="3480300" cy="1145100"/>
          </a:xfrm>
        </p:grpSpPr>
        <p:sp>
          <p:nvSpPr>
            <p:cNvPr id="2627" name="Google Shape;2627;p47"/>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419"/>
            </a:p>
          </p:txBody>
        </p:sp>
        <p:sp>
          <p:nvSpPr>
            <p:cNvPr id="2628" name="Google Shape;2628;p47"/>
            <p:cNvSpPr/>
            <p:nvPr/>
          </p:nvSpPr>
          <p:spPr>
            <a:xfrm>
              <a:off x="2849650" y="606775"/>
              <a:ext cx="3324000" cy="985500"/>
            </a:xfrm>
            <a:prstGeom prst="roundRect">
              <a:avLst>
                <a:gd name="adj" fmla="val 16667"/>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419"/>
            </a:p>
          </p:txBody>
        </p:sp>
      </p:grpSp>
      <p:sp>
        <p:nvSpPr>
          <p:cNvPr id="3" name="Título 2">
            <a:extLst>
              <a:ext uri="{FF2B5EF4-FFF2-40B4-BE49-F238E27FC236}">
                <a16:creationId xmlns:a16="http://schemas.microsoft.com/office/drawing/2014/main" id="{42C5EC21-5A3B-482E-9E96-39536EE17094}"/>
              </a:ext>
            </a:extLst>
          </p:cNvPr>
          <p:cNvSpPr>
            <a:spLocks noGrp="1"/>
          </p:cNvSpPr>
          <p:nvPr>
            <p:ph type="title"/>
          </p:nvPr>
        </p:nvSpPr>
        <p:spPr>
          <a:xfrm>
            <a:off x="1553100" y="995229"/>
            <a:ext cx="5856163" cy="362123"/>
          </a:xfrm>
        </p:spPr>
        <p:txBody>
          <a:bodyPr/>
          <a:lstStyle/>
          <a:p>
            <a:r>
              <a:rPr lang="es-ES" sz="2800"/>
              <a:t>Planteamiento del análisis económico</a:t>
            </a:r>
          </a:p>
        </p:txBody>
      </p:sp>
      <p:sp>
        <p:nvSpPr>
          <p:cNvPr id="2629" name="Google Shape;2629;p47"/>
          <p:cNvSpPr txBox="1">
            <a:spLocks noGrp="1"/>
          </p:cNvSpPr>
          <p:nvPr>
            <p:ph type="subTitle" idx="1"/>
          </p:nvPr>
        </p:nvSpPr>
        <p:spPr>
          <a:xfrm>
            <a:off x="2070685" y="2341641"/>
            <a:ext cx="5015088" cy="1934783"/>
          </a:xfrm>
          <a:prstGeom prst="rect">
            <a:avLst/>
          </a:prstGeom>
        </p:spPr>
        <p:txBody>
          <a:bodyPr spcFirstLastPara="1" wrap="square" lIns="91425" tIns="91425" rIns="91425" bIns="91425" anchor="ctr" anchorCtr="0">
            <a:noAutofit/>
          </a:bodyPr>
          <a:lstStyle/>
          <a:p>
            <a:pPr algn="just"/>
            <a:r>
              <a:rPr lang="es-419" sz="2400" dirty="0">
                <a:solidFill>
                  <a:schemeClr val="tx1"/>
                </a:solidFill>
              </a:rPr>
              <a:t>Cualquiera que sea el lado del mercado gravado que remesa los ingresos tributarios al fisco es completamente irrelevante para los resultados de la incidencia económica</a:t>
            </a:r>
          </a:p>
        </p:txBody>
      </p:sp>
    </p:spTree>
    <p:extLst>
      <p:ext uri="{BB962C8B-B14F-4D97-AF65-F5344CB8AC3E}">
        <p14:creationId xmlns:p14="http://schemas.microsoft.com/office/powerpoint/2010/main" val="3912701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12"/>
        <p:cNvGrpSpPr/>
        <p:nvPr/>
      </p:nvGrpSpPr>
      <p:grpSpPr>
        <a:xfrm>
          <a:off x="0" y="0"/>
          <a:ext cx="0" cy="0"/>
          <a:chOff x="0" y="0"/>
          <a:chExt cx="0" cy="0"/>
        </a:xfrm>
      </p:grpSpPr>
      <p:sp>
        <p:nvSpPr>
          <p:cNvPr id="3214" name="Google Shape;3214;p57"/>
          <p:cNvSpPr txBox="1">
            <a:spLocks noGrp="1"/>
          </p:cNvSpPr>
          <p:nvPr>
            <p:ph type="subTitle" idx="1"/>
          </p:nvPr>
        </p:nvSpPr>
        <p:spPr>
          <a:xfrm>
            <a:off x="3731187" y="1491351"/>
            <a:ext cx="4851061" cy="2974323"/>
          </a:xfrm>
          <a:prstGeom prst="rect">
            <a:avLst/>
          </a:prstGeom>
        </p:spPr>
        <p:txBody>
          <a:bodyPr spcFirstLastPara="1" wrap="square" lIns="91425" tIns="91425" rIns="91425" bIns="91425" anchor="t" anchorCtr="0">
            <a:noAutofit/>
          </a:bodyPr>
          <a:lstStyle/>
          <a:p>
            <a:pPr>
              <a:buClr>
                <a:srgbClr val="3D3D3D"/>
              </a:buClr>
              <a:buSzPts val="1100"/>
            </a:pPr>
            <a:endParaRPr lang="es-419" dirty="0"/>
          </a:p>
          <a:p>
            <a:pPr marL="412750" indent="-285750" algn="just">
              <a:buSzPts val="1600"/>
              <a:buFont typeface="Wingdings"/>
              <a:buChar char="§"/>
            </a:pPr>
            <a:r>
              <a:rPr lang="es-419" dirty="0">
                <a:solidFill>
                  <a:schemeClr val="tx1"/>
                </a:solidFill>
              </a:rPr>
              <a:t>Quien remesa los impuestos puede ser un  aspecto importante de implementación  de un sistema tributario.</a:t>
            </a:r>
            <a:endParaRPr lang="en-US" dirty="0">
              <a:solidFill>
                <a:schemeClr val="tx1"/>
              </a:solidFill>
            </a:endParaRPr>
          </a:p>
          <a:p>
            <a:pPr marL="127000" algn="just">
              <a:buSzPts val="1600"/>
            </a:pPr>
            <a:endParaRPr lang="es-419" dirty="0">
              <a:solidFill>
                <a:schemeClr val="tx1"/>
              </a:solidFill>
            </a:endParaRPr>
          </a:p>
          <a:p>
            <a:pPr marL="127000" algn="just">
              <a:buSzPts val="1600"/>
            </a:pPr>
            <a:endParaRPr lang="es-419" dirty="0">
              <a:solidFill>
                <a:schemeClr val="tx1"/>
              </a:solidFill>
            </a:endParaRPr>
          </a:p>
          <a:p>
            <a:pPr marL="412750" indent="-285750" algn="just">
              <a:buSzPts val="1600"/>
              <a:buFont typeface="Wingdings"/>
              <a:buChar char="§"/>
            </a:pPr>
            <a:r>
              <a:rPr lang="es-419" dirty="0">
                <a:solidFill>
                  <a:schemeClr val="tx1"/>
                </a:solidFill>
              </a:rPr>
              <a:t>La proposición de la irrelevancia no se aplica en la presencia de elusión y evasión, algo que está presenta en los sistemas tributarios reales.</a:t>
            </a:r>
          </a:p>
          <a:p>
            <a:pPr marL="127000" indent="0" algn="just">
              <a:buSzPts val="1600"/>
            </a:pPr>
            <a:endParaRPr lang="es-419" dirty="0">
              <a:solidFill>
                <a:schemeClr val="tx1"/>
              </a:solidFill>
            </a:endParaRPr>
          </a:p>
          <a:p>
            <a:pPr marL="412750" indent="-285750" algn="just">
              <a:buSzPts val="1600"/>
              <a:buFont typeface="Arial" panose="020B0604020202020204" pitchFamily="34" charset="0"/>
              <a:buChar char="•"/>
            </a:pPr>
            <a:r>
              <a:rPr lang="es-ES" sz="1400" dirty="0">
                <a:solidFill>
                  <a:schemeClr val="tx1"/>
                </a:solidFill>
                <a:latin typeface="+mj-lt"/>
              </a:rPr>
              <a:t>Esto sucede cuando existe asimetría de información y los mercados no se organizan de manera perfectamente competitiva</a:t>
            </a:r>
            <a:endParaRPr lang="en-US" sz="1400" dirty="0">
              <a:solidFill>
                <a:schemeClr val="tx1"/>
              </a:solidFill>
              <a:latin typeface="+mj-lt"/>
            </a:endParaRPr>
          </a:p>
          <a:p>
            <a:pPr marL="457200" indent="-330200" algn="just">
              <a:buClr>
                <a:srgbClr val="77C6FC"/>
              </a:buClr>
              <a:buSzPts val="1600"/>
              <a:buFont typeface="Barlow Semi Condensed"/>
              <a:buChar char="●"/>
            </a:pPr>
            <a:endParaRPr lang="es-419" dirty="0">
              <a:latin typeface="Barlow Semi Condensed"/>
              <a:ea typeface="Barlow Semi Condensed"/>
              <a:cs typeface="Barlow Semi Condensed"/>
            </a:endParaRPr>
          </a:p>
        </p:txBody>
      </p:sp>
      <p:grpSp>
        <p:nvGrpSpPr>
          <p:cNvPr id="3215" name="Google Shape;3215;p57"/>
          <p:cNvGrpSpPr/>
          <p:nvPr/>
        </p:nvGrpSpPr>
        <p:grpSpPr>
          <a:xfrm>
            <a:off x="144921" y="1213281"/>
            <a:ext cx="3584753" cy="2934361"/>
            <a:chOff x="845850" y="467825"/>
            <a:chExt cx="5996575" cy="4908600"/>
          </a:xfrm>
        </p:grpSpPr>
        <p:sp>
          <p:nvSpPr>
            <p:cNvPr id="3216" name="Google Shape;3216;p57"/>
            <p:cNvSpPr/>
            <p:nvPr/>
          </p:nvSpPr>
          <p:spPr>
            <a:xfrm>
              <a:off x="845850" y="467825"/>
              <a:ext cx="5996575" cy="4814800"/>
            </a:xfrm>
            <a:custGeom>
              <a:avLst/>
              <a:gdLst/>
              <a:ahLst/>
              <a:cxnLst/>
              <a:rect l="l" t="t" r="r" b="b"/>
              <a:pathLst>
                <a:path w="239863" h="192592" extrusionOk="0">
                  <a:moveTo>
                    <a:pt x="147813" y="1"/>
                  </a:moveTo>
                  <a:cubicBezTo>
                    <a:pt x="142156" y="1"/>
                    <a:pt x="136078" y="789"/>
                    <a:pt x="129736" y="2770"/>
                  </a:cubicBezTo>
                  <a:cubicBezTo>
                    <a:pt x="98620" y="12477"/>
                    <a:pt x="86341" y="39929"/>
                    <a:pt x="68918" y="59055"/>
                  </a:cubicBezTo>
                  <a:cubicBezTo>
                    <a:pt x="59821" y="69084"/>
                    <a:pt x="45999" y="73102"/>
                    <a:pt x="35038" y="80945"/>
                  </a:cubicBezTo>
                  <a:cubicBezTo>
                    <a:pt x="1" y="106018"/>
                    <a:pt x="6976" y="159667"/>
                    <a:pt x="35231" y="179114"/>
                  </a:cubicBezTo>
                  <a:cubicBezTo>
                    <a:pt x="48326" y="188144"/>
                    <a:pt x="62992" y="192591"/>
                    <a:pt x="79703" y="192591"/>
                  </a:cubicBezTo>
                  <a:cubicBezTo>
                    <a:pt x="94167" y="192591"/>
                    <a:pt x="110163" y="189259"/>
                    <a:pt x="128000" y="182683"/>
                  </a:cubicBezTo>
                  <a:cubicBezTo>
                    <a:pt x="166445" y="168507"/>
                    <a:pt x="194025" y="159828"/>
                    <a:pt x="216944" y="121962"/>
                  </a:cubicBezTo>
                  <a:cubicBezTo>
                    <a:pt x="239863" y="84063"/>
                    <a:pt x="216108" y="37807"/>
                    <a:pt x="185539" y="11995"/>
                  </a:cubicBezTo>
                  <a:cubicBezTo>
                    <a:pt x="185539" y="11995"/>
                    <a:pt x="169878" y="1"/>
                    <a:pt x="1478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57"/>
            <p:cNvSpPr/>
            <p:nvPr/>
          </p:nvSpPr>
          <p:spPr>
            <a:xfrm>
              <a:off x="1128725" y="467950"/>
              <a:ext cx="5369750" cy="4814475"/>
            </a:xfrm>
            <a:custGeom>
              <a:avLst/>
              <a:gdLst/>
              <a:ahLst/>
              <a:cxnLst/>
              <a:rect l="l" t="t" r="r" b="b"/>
              <a:pathLst>
                <a:path w="214790" h="192579" extrusionOk="0">
                  <a:moveTo>
                    <a:pt x="136486" y="0"/>
                  </a:moveTo>
                  <a:cubicBezTo>
                    <a:pt x="130828" y="0"/>
                    <a:pt x="124753" y="772"/>
                    <a:pt x="118421" y="2765"/>
                  </a:cubicBezTo>
                  <a:cubicBezTo>
                    <a:pt x="98363" y="9033"/>
                    <a:pt x="86148" y="22630"/>
                    <a:pt x="75347" y="36645"/>
                  </a:cubicBezTo>
                  <a:lnTo>
                    <a:pt x="188978" y="36645"/>
                  </a:lnTo>
                  <a:lnTo>
                    <a:pt x="188978" y="143911"/>
                  </a:lnTo>
                  <a:cubicBezTo>
                    <a:pt x="194828" y="137836"/>
                    <a:pt x="200357" y="130668"/>
                    <a:pt x="205629" y="121957"/>
                  </a:cubicBezTo>
                  <a:cubicBezTo>
                    <a:pt x="212025" y="111381"/>
                    <a:pt x="214790" y="100195"/>
                    <a:pt x="214790" y="88944"/>
                  </a:cubicBezTo>
                  <a:cubicBezTo>
                    <a:pt x="214790" y="59886"/>
                    <a:pt x="196275" y="30602"/>
                    <a:pt x="174224" y="11990"/>
                  </a:cubicBezTo>
                  <a:cubicBezTo>
                    <a:pt x="174224" y="11990"/>
                    <a:pt x="158569" y="0"/>
                    <a:pt x="136486" y="0"/>
                  </a:cubicBezTo>
                  <a:close/>
                  <a:moveTo>
                    <a:pt x="26745" y="78915"/>
                  </a:moveTo>
                  <a:cubicBezTo>
                    <a:pt x="25716" y="79558"/>
                    <a:pt x="24720" y="80233"/>
                    <a:pt x="23723" y="80940"/>
                  </a:cubicBezTo>
                  <a:cubicBezTo>
                    <a:pt x="7201" y="92769"/>
                    <a:pt x="33" y="110963"/>
                    <a:pt x="33" y="128932"/>
                  </a:cubicBezTo>
                  <a:cubicBezTo>
                    <a:pt x="0" y="149022"/>
                    <a:pt x="9001" y="168855"/>
                    <a:pt x="23916" y="179109"/>
                  </a:cubicBezTo>
                  <a:cubicBezTo>
                    <a:pt x="36999" y="188142"/>
                    <a:pt x="51689" y="192578"/>
                    <a:pt x="68404" y="192578"/>
                  </a:cubicBezTo>
                  <a:cubicBezTo>
                    <a:pt x="82869" y="192578"/>
                    <a:pt x="98877" y="189267"/>
                    <a:pt x="116685" y="182678"/>
                  </a:cubicBezTo>
                  <a:cubicBezTo>
                    <a:pt x="127678" y="178627"/>
                    <a:pt x="137804" y="175027"/>
                    <a:pt x="147158" y="171041"/>
                  </a:cubicBezTo>
                  <a:lnTo>
                    <a:pt x="26745" y="171041"/>
                  </a:lnTo>
                  <a:lnTo>
                    <a:pt x="26745" y="7891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57"/>
            <p:cNvSpPr/>
            <p:nvPr/>
          </p:nvSpPr>
          <p:spPr>
            <a:xfrm>
              <a:off x="1797325" y="1384075"/>
              <a:ext cx="4055850" cy="3359925"/>
            </a:xfrm>
            <a:custGeom>
              <a:avLst/>
              <a:gdLst/>
              <a:ahLst/>
              <a:cxnLst/>
              <a:rect l="l" t="t" r="r" b="b"/>
              <a:pathLst>
                <a:path w="162234" h="134397" extrusionOk="0">
                  <a:moveTo>
                    <a:pt x="1" y="0"/>
                  </a:moveTo>
                  <a:lnTo>
                    <a:pt x="1" y="134396"/>
                  </a:lnTo>
                  <a:lnTo>
                    <a:pt x="162234" y="134396"/>
                  </a:lnTo>
                  <a:lnTo>
                    <a:pt x="1622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57"/>
            <p:cNvSpPr/>
            <p:nvPr/>
          </p:nvSpPr>
          <p:spPr>
            <a:xfrm>
              <a:off x="1797325" y="1384075"/>
              <a:ext cx="4055850" cy="3359925"/>
            </a:xfrm>
            <a:custGeom>
              <a:avLst/>
              <a:gdLst/>
              <a:ahLst/>
              <a:cxnLst/>
              <a:rect l="l" t="t" r="r" b="b"/>
              <a:pathLst>
                <a:path w="162234" h="134397" extrusionOk="0">
                  <a:moveTo>
                    <a:pt x="1" y="0"/>
                  </a:moveTo>
                  <a:lnTo>
                    <a:pt x="1" y="134396"/>
                  </a:lnTo>
                  <a:lnTo>
                    <a:pt x="162234" y="134396"/>
                  </a:lnTo>
                  <a:lnTo>
                    <a:pt x="1622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57"/>
            <p:cNvSpPr/>
            <p:nvPr/>
          </p:nvSpPr>
          <p:spPr>
            <a:xfrm>
              <a:off x="1895375" y="1994800"/>
              <a:ext cx="3780200" cy="1720575"/>
            </a:xfrm>
            <a:custGeom>
              <a:avLst/>
              <a:gdLst/>
              <a:ahLst/>
              <a:cxnLst/>
              <a:rect l="l" t="t" r="r" b="b"/>
              <a:pathLst>
                <a:path w="151208" h="68823" extrusionOk="0">
                  <a:moveTo>
                    <a:pt x="0" y="1"/>
                  </a:moveTo>
                  <a:lnTo>
                    <a:pt x="0" y="68822"/>
                  </a:lnTo>
                  <a:lnTo>
                    <a:pt x="151208" y="68822"/>
                  </a:lnTo>
                  <a:lnTo>
                    <a:pt x="1512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57"/>
            <p:cNvSpPr/>
            <p:nvPr/>
          </p:nvSpPr>
          <p:spPr>
            <a:xfrm>
              <a:off x="2015100" y="3464625"/>
              <a:ext cx="3521450" cy="6450"/>
            </a:xfrm>
            <a:custGeom>
              <a:avLst/>
              <a:gdLst/>
              <a:ahLst/>
              <a:cxnLst/>
              <a:rect l="l" t="t" r="r" b="b"/>
              <a:pathLst>
                <a:path w="140858" h="258" extrusionOk="0">
                  <a:moveTo>
                    <a:pt x="1" y="0"/>
                  </a:moveTo>
                  <a:lnTo>
                    <a:pt x="1" y="257"/>
                  </a:lnTo>
                  <a:lnTo>
                    <a:pt x="140858" y="257"/>
                  </a:lnTo>
                  <a:lnTo>
                    <a:pt x="140858"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57"/>
            <p:cNvSpPr/>
            <p:nvPr/>
          </p:nvSpPr>
          <p:spPr>
            <a:xfrm>
              <a:off x="2011900" y="3433275"/>
              <a:ext cx="6450" cy="34575"/>
            </a:xfrm>
            <a:custGeom>
              <a:avLst/>
              <a:gdLst/>
              <a:ahLst/>
              <a:cxnLst/>
              <a:rect l="l" t="t" r="r" b="b"/>
              <a:pathLst>
                <a:path w="258" h="1383" extrusionOk="0">
                  <a:moveTo>
                    <a:pt x="0" y="1"/>
                  </a:moveTo>
                  <a:lnTo>
                    <a:pt x="0" y="1383"/>
                  </a:lnTo>
                  <a:lnTo>
                    <a:pt x="257" y="1383"/>
                  </a:lnTo>
                  <a:lnTo>
                    <a:pt x="257"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57"/>
            <p:cNvSpPr/>
            <p:nvPr/>
          </p:nvSpPr>
          <p:spPr>
            <a:xfrm>
              <a:off x="2196725" y="3433275"/>
              <a:ext cx="7250" cy="34575"/>
            </a:xfrm>
            <a:custGeom>
              <a:avLst/>
              <a:gdLst/>
              <a:ahLst/>
              <a:cxnLst/>
              <a:rect l="l" t="t" r="r" b="b"/>
              <a:pathLst>
                <a:path w="290" h="1383" extrusionOk="0">
                  <a:moveTo>
                    <a:pt x="0" y="1"/>
                  </a:moveTo>
                  <a:lnTo>
                    <a:pt x="0" y="1383"/>
                  </a:lnTo>
                  <a:lnTo>
                    <a:pt x="290" y="1383"/>
                  </a:lnTo>
                  <a:lnTo>
                    <a:pt x="2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57"/>
            <p:cNvSpPr/>
            <p:nvPr/>
          </p:nvSpPr>
          <p:spPr>
            <a:xfrm>
              <a:off x="2382350" y="3433275"/>
              <a:ext cx="6475" cy="34575"/>
            </a:xfrm>
            <a:custGeom>
              <a:avLst/>
              <a:gdLst/>
              <a:ahLst/>
              <a:cxnLst/>
              <a:rect l="l" t="t" r="r" b="b"/>
              <a:pathLst>
                <a:path w="259" h="1383" extrusionOk="0">
                  <a:moveTo>
                    <a:pt x="1" y="1"/>
                  </a:moveTo>
                  <a:lnTo>
                    <a:pt x="1"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57"/>
            <p:cNvSpPr/>
            <p:nvPr/>
          </p:nvSpPr>
          <p:spPr>
            <a:xfrm>
              <a:off x="2568000" y="3433275"/>
              <a:ext cx="6450" cy="34575"/>
            </a:xfrm>
            <a:custGeom>
              <a:avLst/>
              <a:gdLst/>
              <a:ahLst/>
              <a:cxnLst/>
              <a:rect l="l" t="t" r="r" b="b"/>
              <a:pathLst>
                <a:path w="258" h="1383" extrusionOk="0">
                  <a:moveTo>
                    <a:pt x="0" y="1"/>
                  </a:moveTo>
                  <a:lnTo>
                    <a:pt x="0" y="1383"/>
                  </a:lnTo>
                  <a:lnTo>
                    <a:pt x="257" y="1383"/>
                  </a:lnTo>
                  <a:lnTo>
                    <a:pt x="257"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57"/>
            <p:cNvSpPr/>
            <p:nvPr/>
          </p:nvSpPr>
          <p:spPr>
            <a:xfrm>
              <a:off x="2752825" y="3433275"/>
              <a:ext cx="6450" cy="34575"/>
            </a:xfrm>
            <a:custGeom>
              <a:avLst/>
              <a:gdLst/>
              <a:ahLst/>
              <a:cxnLst/>
              <a:rect l="l" t="t" r="r" b="b"/>
              <a:pathLst>
                <a:path w="258" h="1383" extrusionOk="0">
                  <a:moveTo>
                    <a:pt x="0" y="1"/>
                  </a:moveTo>
                  <a:lnTo>
                    <a:pt x="0"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57"/>
            <p:cNvSpPr/>
            <p:nvPr/>
          </p:nvSpPr>
          <p:spPr>
            <a:xfrm>
              <a:off x="2938450" y="3433275"/>
              <a:ext cx="6450" cy="34575"/>
            </a:xfrm>
            <a:custGeom>
              <a:avLst/>
              <a:gdLst/>
              <a:ahLst/>
              <a:cxnLst/>
              <a:rect l="l" t="t" r="r" b="b"/>
              <a:pathLst>
                <a:path w="258" h="1383" extrusionOk="0">
                  <a:moveTo>
                    <a:pt x="1" y="1"/>
                  </a:moveTo>
                  <a:lnTo>
                    <a:pt x="1"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57"/>
            <p:cNvSpPr/>
            <p:nvPr/>
          </p:nvSpPr>
          <p:spPr>
            <a:xfrm>
              <a:off x="3123300" y="3433275"/>
              <a:ext cx="7250" cy="34575"/>
            </a:xfrm>
            <a:custGeom>
              <a:avLst/>
              <a:gdLst/>
              <a:ahLst/>
              <a:cxnLst/>
              <a:rect l="l" t="t" r="r" b="b"/>
              <a:pathLst>
                <a:path w="290" h="1383" extrusionOk="0">
                  <a:moveTo>
                    <a:pt x="0" y="1"/>
                  </a:moveTo>
                  <a:lnTo>
                    <a:pt x="0" y="1383"/>
                  </a:lnTo>
                  <a:lnTo>
                    <a:pt x="289" y="1383"/>
                  </a:lnTo>
                  <a:lnTo>
                    <a:pt x="289"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57"/>
            <p:cNvSpPr/>
            <p:nvPr/>
          </p:nvSpPr>
          <p:spPr>
            <a:xfrm>
              <a:off x="3308925" y="3433275"/>
              <a:ext cx="6450" cy="34575"/>
            </a:xfrm>
            <a:custGeom>
              <a:avLst/>
              <a:gdLst/>
              <a:ahLst/>
              <a:cxnLst/>
              <a:rect l="l" t="t" r="r" b="b"/>
              <a:pathLst>
                <a:path w="258" h="1383" extrusionOk="0">
                  <a:moveTo>
                    <a:pt x="0" y="1"/>
                  </a:moveTo>
                  <a:lnTo>
                    <a:pt x="0"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57"/>
            <p:cNvSpPr/>
            <p:nvPr/>
          </p:nvSpPr>
          <p:spPr>
            <a:xfrm>
              <a:off x="3494550" y="3433275"/>
              <a:ext cx="6450" cy="34575"/>
            </a:xfrm>
            <a:custGeom>
              <a:avLst/>
              <a:gdLst/>
              <a:ahLst/>
              <a:cxnLst/>
              <a:rect l="l" t="t" r="r" b="b"/>
              <a:pathLst>
                <a:path w="258" h="1383" extrusionOk="0">
                  <a:moveTo>
                    <a:pt x="1" y="1"/>
                  </a:moveTo>
                  <a:lnTo>
                    <a:pt x="1"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57"/>
            <p:cNvSpPr/>
            <p:nvPr/>
          </p:nvSpPr>
          <p:spPr>
            <a:xfrm>
              <a:off x="3679400" y="3433275"/>
              <a:ext cx="7250" cy="34575"/>
            </a:xfrm>
            <a:custGeom>
              <a:avLst/>
              <a:gdLst/>
              <a:ahLst/>
              <a:cxnLst/>
              <a:rect l="l" t="t" r="r" b="b"/>
              <a:pathLst>
                <a:path w="290" h="1383" extrusionOk="0">
                  <a:moveTo>
                    <a:pt x="0" y="1"/>
                  </a:moveTo>
                  <a:lnTo>
                    <a:pt x="0" y="1383"/>
                  </a:lnTo>
                  <a:lnTo>
                    <a:pt x="289" y="1383"/>
                  </a:lnTo>
                  <a:lnTo>
                    <a:pt x="289"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57"/>
            <p:cNvSpPr/>
            <p:nvPr/>
          </p:nvSpPr>
          <p:spPr>
            <a:xfrm>
              <a:off x="3865025" y="3433275"/>
              <a:ext cx="6450" cy="34575"/>
            </a:xfrm>
            <a:custGeom>
              <a:avLst/>
              <a:gdLst/>
              <a:ahLst/>
              <a:cxnLst/>
              <a:rect l="l" t="t" r="r" b="b"/>
              <a:pathLst>
                <a:path w="258" h="1383" extrusionOk="0">
                  <a:moveTo>
                    <a:pt x="0" y="1"/>
                  </a:moveTo>
                  <a:lnTo>
                    <a:pt x="0"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57"/>
            <p:cNvSpPr/>
            <p:nvPr/>
          </p:nvSpPr>
          <p:spPr>
            <a:xfrm>
              <a:off x="4049850" y="3433275"/>
              <a:ext cx="7250" cy="34575"/>
            </a:xfrm>
            <a:custGeom>
              <a:avLst/>
              <a:gdLst/>
              <a:ahLst/>
              <a:cxnLst/>
              <a:rect l="l" t="t" r="r" b="b"/>
              <a:pathLst>
                <a:path w="290" h="1383" extrusionOk="0">
                  <a:moveTo>
                    <a:pt x="1" y="1"/>
                  </a:moveTo>
                  <a:lnTo>
                    <a:pt x="1" y="1383"/>
                  </a:lnTo>
                  <a:lnTo>
                    <a:pt x="290" y="1383"/>
                  </a:lnTo>
                  <a:lnTo>
                    <a:pt x="2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57"/>
            <p:cNvSpPr/>
            <p:nvPr/>
          </p:nvSpPr>
          <p:spPr>
            <a:xfrm>
              <a:off x="4235500" y="3433275"/>
              <a:ext cx="6450" cy="34575"/>
            </a:xfrm>
            <a:custGeom>
              <a:avLst/>
              <a:gdLst/>
              <a:ahLst/>
              <a:cxnLst/>
              <a:rect l="l" t="t" r="r" b="b"/>
              <a:pathLst>
                <a:path w="258" h="1383" extrusionOk="0">
                  <a:moveTo>
                    <a:pt x="0" y="1"/>
                  </a:moveTo>
                  <a:lnTo>
                    <a:pt x="0" y="1383"/>
                  </a:lnTo>
                  <a:lnTo>
                    <a:pt x="257" y="1383"/>
                  </a:lnTo>
                  <a:lnTo>
                    <a:pt x="257"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57"/>
            <p:cNvSpPr/>
            <p:nvPr/>
          </p:nvSpPr>
          <p:spPr>
            <a:xfrm>
              <a:off x="4421125" y="3433275"/>
              <a:ext cx="6450" cy="34575"/>
            </a:xfrm>
            <a:custGeom>
              <a:avLst/>
              <a:gdLst/>
              <a:ahLst/>
              <a:cxnLst/>
              <a:rect l="l" t="t" r="r" b="b"/>
              <a:pathLst>
                <a:path w="258" h="1383" extrusionOk="0">
                  <a:moveTo>
                    <a:pt x="0" y="1"/>
                  </a:moveTo>
                  <a:lnTo>
                    <a:pt x="0"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57"/>
            <p:cNvSpPr/>
            <p:nvPr/>
          </p:nvSpPr>
          <p:spPr>
            <a:xfrm>
              <a:off x="4605950" y="3433275"/>
              <a:ext cx="7250" cy="34575"/>
            </a:xfrm>
            <a:custGeom>
              <a:avLst/>
              <a:gdLst/>
              <a:ahLst/>
              <a:cxnLst/>
              <a:rect l="l" t="t" r="r" b="b"/>
              <a:pathLst>
                <a:path w="290" h="1383" extrusionOk="0">
                  <a:moveTo>
                    <a:pt x="1" y="1"/>
                  </a:moveTo>
                  <a:lnTo>
                    <a:pt x="1" y="1383"/>
                  </a:lnTo>
                  <a:lnTo>
                    <a:pt x="290" y="1383"/>
                  </a:lnTo>
                  <a:lnTo>
                    <a:pt x="2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57"/>
            <p:cNvSpPr/>
            <p:nvPr/>
          </p:nvSpPr>
          <p:spPr>
            <a:xfrm>
              <a:off x="4791575" y="3433275"/>
              <a:ext cx="6475" cy="34575"/>
            </a:xfrm>
            <a:custGeom>
              <a:avLst/>
              <a:gdLst/>
              <a:ahLst/>
              <a:cxnLst/>
              <a:rect l="l" t="t" r="r" b="b"/>
              <a:pathLst>
                <a:path w="259" h="1383" extrusionOk="0">
                  <a:moveTo>
                    <a:pt x="1" y="1"/>
                  </a:moveTo>
                  <a:lnTo>
                    <a:pt x="1"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57"/>
            <p:cNvSpPr/>
            <p:nvPr/>
          </p:nvSpPr>
          <p:spPr>
            <a:xfrm>
              <a:off x="4977225" y="3433275"/>
              <a:ext cx="6450" cy="34575"/>
            </a:xfrm>
            <a:custGeom>
              <a:avLst/>
              <a:gdLst/>
              <a:ahLst/>
              <a:cxnLst/>
              <a:rect l="l" t="t" r="r" b="b"/>
              <a:pathLst>
                <a:path w="258" h="1383" extrusionOk="0">
                  <a:moveTo>
                    <a:pt x="0" y="1"/>
                  </a:moveTo>
                  <a:lnTo>
                    <a:pt x="0"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57"/>
            <p:cNvSpPr/>
            <p:nvPr/>
          </p:nvSpPr>
          <p:spPr>
            <a:xfrm>
              <a:off x="5162050" y="3433275"/>
              <a:ext cx="7250" cy="34575"/>
            </a:xfrm>
            <a:custGeom>
              <a:avLst/>
              <a:gdLst/>
              <a:ahLst/>
              <a:cxnLst/>
              <a:rect l="l" t="t" r="r" b="b"/>
              <a:pathLst>
                <a:path w="290" h="1383" extrusionOk="0">
                  <a:moveTo>
                    <a:pt x="1" y="1"/>
                  </a:moveTo>
                  <a:lnTo>
                    <a:pt x="1" y="1383"/>
                  </a:lnTo>
                  <a:lnTo>
                    <a:pt x="290" y="1383"/>
                  </a:lnTo>
                  <a:lnTo>
                    <a:pt x="2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57"/>
            <p:cNvSpPr/>
            <p:nvPr/>
          </p:nvSpPr>
          <p:spPr>
            <a:xfrm>
              <a:off x="5347675" y="3433275"/>
              <a:ext cx="6475" cy="34575"/>
            </a:xfrm>
            <a:custGeom>
              <a:avLst/>
              <a:gdLst/>
              <a:ahLst/>
              <a:cxnLst/>
              <a:rect l="l" t="t" r="r" b="b"/>
              <a:pathLst>
                <a:path w="259" h="1383" extrusionOk="0">
                  <a:moveTo>
                    <a:pt x="1" y="1"/>
                  </a:moveTo>
                  <a:lnTo>
                    <a:pt x="1" y="1383"/>
                  </a:lnTo>
                  <a:lnTo>
                    <a:pt x="258" y="1383"/>
                  </a:lnTo>
                  <a:lnTo>
                    <a:pt x="258"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57"/>
            <p:cNvSpPr/>
            <p:nvPr/>
          </p:nvSpPr>
          <p:spPr>
            <a:xfrm>
              <a:off x="5532525" y="3433275"/>
              <a:ext cx="7250" cy="34575"/>
            </a:xfrm>
            <a:custGeom>
              <a:avLst/>
              <a:gdLst/>
              <a:ahLst/>
              <a:cxnLst/>
              <a:rect l="l" t="t" r="r" b="b"/>
              <a:pathLst>
                <a:path w="290" h="1383" extrusionOk="0">
                  <a:moveTo>
                    <a:pt x="0" y="1"/>
                  </a:moveTo>
                  <a:lnTo>
                    <a:pt x="0" y="1383"/>
                  </a:lnTo>
                  <a:lnTo>
                    <a:pt x="289" y="1383"/>
                  </a:lnTo>
                  <a:lnTo>
                    <a:pt x="289"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57"/>
            <p:cNvSpPr/>
            <p:nvPr/>
          </p:nvSpPr>
          <p:spPr>
            <a:xfrm>
              <a:off x="2011900" y="2086425"/>
              <a:ext cx="6450" cy="1381425"/>
            </a:xfrm>
            <a:custGeom>
              <a:avLst/>
              <a:gdLst/>
              <a:ahLst/>
              <a:cxnLst/>
              <a:rect l="l" t="t" r="r" b="b"/>
              <a:pathLst>
                <a:path w="258" h="55257" extrusionOk="0">
                  <a:moveTo>
                    <a:pt x="0" y="0"/>
                  </a:moveTo>
                  <a:lnTo>
                    <a:pt x="0" y="55257"/>
                  </a:lnTo>
                  <a:lnTo>
                    <a:pt x="257" y="55257"/>
                  </a:lnTo>
                  <a:lnTo>
                    <a:pt x="257"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57"/>
            <p:cNvSpPr/>
            <p:nvPr/>
          </p:nvSpPr>
          <p:spPr>
            <a:xfrm>
              <a:off x="2015100" y="3464625"/>
              <a:ext cx="87625" cy="6450"/>
            </a:xfrm>
            <a:custGeom>
              <a:avLst/>
              <a:gdLst/>
              <a:ahLst/>
              <a:cxnLst/>
              <a:rect l="l" t="t" r="r" b="b"/>
              <a:pathLst>
                <a:path w="3505" h="258" extrusionOk="0">
                  <a:moveTo>
                    <a:pt x="1" y="0"/>
                  </a:moveTo>
                  <a:lnTo>
                    <a:pt x="1" y="257"/>
                  </a:lnTo>
                  <a:lnTo>
                    <a:pt x="3505" y="257"/>
                  </a:lnTo>
                  <a:lnTo>
                    <a:pt x="3505"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57"/>
            <p:cNvSpPr/>
            <p:nvPr/>
          </p:nvSpPr>
          <p:spPr>
            <a:xfrm>
              <a:off x="1917875" y="3188175"/>
              <a:ext cx="97250" cy="6450"/>
            </a:xfrm>
            <a:custGeom>
              <a:avLst/>
              <a:gdLst/>
              <a:ahLst/>
              <a:cxnLst/>
              <a:rect l="l" t="t" r="r" b="b"/>
              <a:pathLst>
                <a:path w="3890" h="258" extrusionOk="0">
                  <a:moveTo>
                    <a:pt x="0" y="0"/>
                  </a:moveTo>
                  <a:lnTo>
                    <a:pt x="0" y="258"/>
                  </a:lnTo>
                  <a:lnTo>
                    <a:pt x="3890" y="258"/>
                  </a:lnTo>
                  <a:lnTo>
                    <a:pt x="3890"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57"/>
            <p:cNvSpPr/>
            <p:nvPr/>
          </p:nvSpPr>
          <p:spPr>
            <a:xfrm>
              <a:off x="1917875" y="2911725"/>
              <a:ext cx="97250" cy="7275"/>
            </a:xfrm>
            <a:custGeom>
              <a:avLst/>
              <a:gdLst/>
              <a:ahLst/>
              <a:cxnLst/>
              <a:rect l="l" t="t" r="r" b="b"/>
              <a:pathLst>
                <a:path w="3890" h="291" extrusionOk="0">
                  <a:moveTo>
                    <a:pt x="0" y="1"/>
                  </a:moveTo>
                  <a:lnTo>
                    <a:pt x="0" y="290"/>
                  </a:lnTo>
                  <a:lnTo>
                    <a:pt x="3890" y="290"/>
                  </a:lnTo>
                  <a:lnTo>
                    <a:pt x="38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57"/>
            <p:cNvSpPr/>
            <p:nvPr/>
          </p:nvSpPr>
          <p:spPr>
            <a:xfrm>
              <a:off x="1917875" y="2636100"/>
              <a:ext cx="97250" cy="6450"/>
            </a:xfrm>
            <a:custGeom>
              <a:avLst/>
              <a:gdLst/>
              <a:ahLst/>
              <a:cxnLst/>
              <a:rect l="l" t="t" r="r" b="b"/>
              <a:pathLst>
                <a:path w="3890" h="258" extrusionOk="0">
                  <a:moveTo>
                    <a:pt x="0" y="0"/>
                  </a:moveTo>
                  <a:lnTo>
                    <a:pt x="0" y="257"/>
                  </a:lnTo>
                  <a:lnTo>
                    <a:pt x="3890" y="257"/>
                  </a:lnTo>
                  <a:lnTo>
                    <a:pt x="3890"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57"/>
            <p:cNvSpPr/>
            <p:nvPr/>
          </p:nvSpPr>
          <p:spPr>
            <a:xfrm>
              <a:off x="1917875" y="2359650"/>
              <a:ext cx="97250" cy="6450"/>
            </a:xfrm>
            <a:custGeom>
              <a:avLst/>
              <a:gdLst/>
              <a:ahLst/>
              <a:cxnLst/>
              <a:rect l="l" t="t" r="r" b="b"/>
              <a:pathLst>
                <a:path w="3890" h="258" extrusionOk="0">
                  <a:moveTo>
                    <a:pt x="0" y="0"/>
                  </a:moveTo>
                  <a:lnTo>
                    <a:pt x="0" y="258"/>
                  </a:lnTo>
                  <a:lnTo>
                    <a:pt x="3890" y="258"/>
                  </a:lnTo>
                  <a:lnTo>
                    <a:pt x="3890" y="0"/>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57"/>
            <p:cNvSpPr/>
            <p:nvPr/>
          </p:nvSpPr>
          <p:spPr>
            <a:xfrm>
              <a:off x="1917875" y="2083200"/>
              <a:ext cx="97250" cy="6450"/>
            </a:xfrm>
            <a:custGeom>
              <a:avLst/>
              <a:gdLst/>
              <a:ahLst/>
              <a:cxnLst/>
              <a:rect l="l" t="t" r="r" b="b"/>
              <a:pathLst>
                <a:path w="3890" h="258" extrusionOk="0">
                  <a:moveTo>
                    <a:pt x="0" y="1"/>
                  </a:moveTo>
                  <a:lnTo>
                    <a:pt x="0" y="258"/>
                  </a:lnTo>
                  <a:lnTo>
                    <a:pt x="3890" y="258"/>
                  </a:lnTo>
                  <a:lnTo>
                    <a:pt x="3890" y="1"/>
                  </a:lnTo>
                  <a:close/>
                </a:path>
              </a:pathLst>
            </a:custGeom>
            <a:solidFill>
              <a:srgbClr val="8C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57"/>
            <p:cNvSpPr/>
            <p:nvPr/>
          </p:nvSpPr>
          <p:spPr>
            <a:xfrm>
              <a:off x="2093050" y="2349650"/>
              <a:ext cx="214600" cy="855725"/>
            </a:xfrm>
            <a:custGeom>
              <a:avLst/>
              <a:gdLst/>
              <a:ahLst/>
              <a:cxnLst/>
              <a:rect l="l" t="t" r="r" b="b"/>
              <a:pathLst>
                <a:path w="8584" h="34229" extrusionOk="0">
                  <a:moveTo>
                    <a:pt x="7976" y="1"/>
                  </a:moveTo>
                  <a:cubicBezTo>
                    <a:pt x="7740" y="1"/>
                    <a:pt x="7541" y="154"/>
                    <a:pt x="7458" y="400"/>
                  </a:cubicBezTo>
                  <a:lnTo>
                    <a:pt x="65" y="33574"/>
                  </a:lnTo>
                  <a:cubicBezTo>
                    <a:pt x="1" y="33863"/>
                    <a:pt x="194" y="34152"/>
                    <a:pt x="483" y="34217"/>
                  </a:cubicBezTo>
                  <a:cubicBezTo>
                    <a:pt x="517" y="34225"/>
                    <a:pt x="551" y="34229"/>
                    <a:pt x="585" y="34229"/>
                  </a:cubicBezTo>
                  <a:cubicBezTo>
                    <a:pt x="812" y="34229"/>
                    <a:pt x="1038" y="34050"/>
                    <a:pt x="1094" y="33799"/>
                  </a:cubicBezTo>
                  <a:lnTo>
                    <a:pt x="8519" y="658"/>
                  </a:lnTo>
                  <a:cubicBezTo>
                    <a:pt x="8583" y="368"/>
                    <a:pt x="8391" y="79"/>
                    <a:pt x="8101" y="15"/>
                  </a:cubicBezTo>
                  <a:cubicBezTo>
                    <a:pt x="8059" y="5"/>
                    <a:pt x="8017" y="1"/>
                    <a:pt x="79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57"/>
            <p:cNvSpPr/>
            <p:nvPr/>
          </p:nvSpPr>
          <p:spPr>
            <a:xfrm>
              <a:off x="2277900" y="2349575"/>
              <a:ext cx="215375" cy="496275"/>
            </a:xfrm>
            <a:custGeom>
              <a:avLst/>
              <a:gdLst/>
              <a:ahLst/>
              <a:cxnLst/>
              <a:rect l="l" t="t" r="r" b="b"/>
              <a:pathLst>
                <a:path w="8615" h="19851" extrusionOk="0">
                  <a:moveTo>
                    <a:pt x="629" y="0"/>
                  </a:moveTo>
                  <a:cubicBezTo>
                    <a:pt x="558" y="0"/>
                    <a:pt x="486" y="16"/>
                    <a:pt x="418" y="50"/>
                  </a:cubicBezTo>
                  <a:cubicBezTo>
                    <a:pt x="129" y="146"/>
                    <a:pt x="0" y="468"/>
                    <a:pt x="97" y="725"/>
                  </a:cubicBezTo>
                  <a:lnTo>
                    <a:pt x="7522" y="19529"/>
                  </a:lnTo>
                  <a:cubicBezTo>
                    <a:pt x="7597" y="19729"/>
                    <a:pt x="7806" y="19851"/>
                    <a:pt x="8017" y="19851"/>
                  </a:cubicBezTo>
                  <a:cubicBezTo>
                    <a:pt x="8078" y="19851"/>
                    <a:pt x="8139" y="19840"/>
                    <a:pt x="8197" y="19819"/>
                  </a:cubicBezTo>
                  <a:cubicBezTo>
                    <a:pt x="8486" y="19722"/>
                    <a:pt x="8615" y="19401"/>
                    <a:pt x="8518" y="19112"/>
                  </a:cubicBezTo>
                  <a:lnTo>
                    <a:pt x="1093" y="339"/>
                  </a:lnTo>
                  <a:cubicBezTo>
                    <a:pt x="1022" y="126"/>
                    <a:pt x="829" y="0"/>
                    <a:pt x="6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57"/>
            <p:cNvSpPr/>
            <p:nvPr/>
          </p:nvSpPr>
          <p:spPr>
            <a:xfrm>
              <a:off x="2463525" y="2625750"/>
              <a:ext cx="214600" cy="220300"/>
            </a:xfrm>
            <a:custGeom>
              <a:avLst/>
              <a:gdLst/>
              <a:ahLst/>
              <a:cxnLst/>
              <a:rect l="l" t="t" r="r" b="b"/>
              <a:pathLst>
                <a:path w="8584" h="8812" extrusionOk="0">
                  <a:moveTo>
                    <a:pt x="8009" y="0"/>
                  </a:moveTo>
                  <a:cubicBezTo>
                    <a:pt x="7862" y="0"/>
                    <a:pt x="7719" y="57"/>
                    <a:pt x="7619" y="157"/>
                  </a:cubicBezTo>
                  <a:lnTo>
                    <a:pt x="193" y="7904"/>
                  </a:lnTo>
                  <a:cubicBezTo>
                    <a:pt x="0" y="8129"/>
                    <a:pt x="0" y="8450"/>
                    <a:pt x="225" y="8643"/>
                  </a:cubicBezTo>
                  <a:cubicBezTo>
                    <a:pt x="322" y="8756"/>
                    <a:pt x="459" y="8812"/>
                    <a:pt x="595" y="8812"/>
                  </a:cubicBezTo>
                  <a:cubicBezTo>
                    <a:pt x="732" y="8812"/>
                    <a:pt x="868" y="8756"/>
                    <a:pt x="965" y="8643"/>
                  </a:cubicBezTo>
                  <a:lnTo>
                    <a:pt x="8390" y="896"/>
                  </a:lnTo>
                  <a:cubicBezTo>
                    <a:pt x="8583" y="703"/>
                    <a:pt x="8583" y="350"/>
                    <a:pt x="8390" y="157"/>
                  </a:cubicBezTo>
                  <a:cubicBezTo>
                    <a:pt x="8282" y="49"/>
                    <a:pt x="8144" y="0"/>
                    <a:pt x="80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57"/>
            <p:cNvSpPr/>
            <p:nvPr/>
          </p:nvSpPr>
          <p:spPr>
            <a:xfrm>
              <a:off x="2648350" y="2625650"/>
              <a:ext cx="215400" cy="523975"/>
            </a:xfrm>
            <a:custGeom>
              <a:avLst/>
              <a:gdLst/>
              <a:ahLst/>
              <a:cxnLst/>
              <a:rect l="l" t="t" r="r" b="b"/>
              <a:pathLst>
                <a:path w="8616" h="20959" extrusionOk="0">
                  <a:moveTo>
                    <a:pt x="609" y="1"/>
                  </a:moveTo>
                  <a:cubicBezTo>
                    <a:pt x="547" y="1"/>
                    <a:pt x="483" y="11"/>
                    <a:pt x="419" y="32"/>
                  </a:cubicBezTo>
                  <a:cubicBezTo>
                    <a:pt x="161" y="129"/>
                    <a:pt x="1" y="450"/>
                    <a:pt x="97" y="740"/>
                  </a:cubicBezTo>
                  <a:lnTo>
                    <a:pt x="7522" y="20605"/>
                  </a:lnTo>
                  <a:cubicBezTo>
                    <a:pt x="7598" y="20830"/>
                    <a:pt x="7809" y="20958"/>
                    <a:pt x="8020" y="20958"/>
                  </a:cubicBezTo>
                  <a:cubicBezTo>
                    <a:pt x="8081" y="20958"/>
                    <a:pt x="8141" y="20948"/>
                    <a:pt x="8198" y="20926"/>
                  </a:cubicBezTo>
                  <a:cubicBezTo>
                    <a:pt x="8487" y="20830"/>
                    <a:pt x="8615" y="20509"/>
                    <a:pt x="8519" y="20251"/>
                  </a:cubicBezTo>
                  <a:lnTo>
                    <a:pt x="1126" y="354"/>
                  </a:lnTo>
                  <a:cubicBezTo>
                    <a:pt x="1026" y="129"/>
                    <a:pt x="828" y="1"/>
                    <a:pt x="6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57"/>
            <p:cNvSpPr/>
            <p:nvPr/>
          </p:nvSpPr>
          <p:spPr>
            <a:xfrm>
              <a:off x="2834000" y="2349650"/>
              <a:ext cx="215375" cy="800275"/>
            </a:xfrm>
            <a:custGeom>
              <a:avLst/>
              <a:gdLst/>
              <a:ahLst/>
              <a:cxnLst/>
              <a:rect l="l" t="t" r="r" b="b"/>
              <a:pathLst>
                <a:path w="8615" h="32011" extrusionOk="0">
                  <a:moveTo>
                    <a:pt x="8005" y="1"/>
                  </a:moveTo>
                  <a:cubicBezTo>
                    <a:pt x="7763" y="1"/>
                    <a:pt x="7545" y="154"/>
                    <a:pt x="7490" y="400"/>
                  </a:cubicBezTo>
                  <a:lnTo>
                    <a:pt x="64" y="31356"/>
                  </a:lnTo>
                  <a:cubicBezTo>
                    <a:pt x="0" y="31645"/>
                    <a:pt x="193" y="31934"/>
                    <a:pt x="482" y="31999"/>
                  </a:cubicBezTo>
                  <a:cubicBezTo>
                    <a:pt x="520" y="32007"/>
                    <a:pt x="558" y="32011"/>
                    <a:pt x="595" y="32011"/>
                  </a:cubicBezTo>
                  <a:cubicBezTo>
                    <a:pt x="843" y="32011"/>
                    <a:pt x="1069" y="31832"/>
                    <a:pt x="1125" y="31581"/>
                  </a:cubicBezTo>
                  <a:lnTo>
                    <a:pt x="8518" y="658"/>
                  </a:lnTo>
                  <a:cubicBezTo>
                    <a:pt x="8615" y="368"/>
                    <a:pt x="8422" y="79"/>
                    <a:pt x="8133" y="15"/>
                  </a:cubicBezTo>
                  <a:cubicBezTo>
                    <a:pt x="8090" y="5"/>
                    <a:pt x="8047" y="1"/>
                    <a:pt x="8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57"/>
            <p:cNvSpPr/>
            <p:nvPr/>
          </p:nvSpPr>
          <p:spPr>
            <a:xfrm>
              <a:off x="3018825" y="2072975"/>
              <a:ext cx="216200" cy="303350"/>
            </a:xfrm>
            <a:custGeom>
              <a:avLst/>
              <a:gdLst/>
              <a:ahLst/>
              <a:cxnLst/>
              <a:rect l="l" t="t" r="r" b="b"/>
              <a:pathLst>
                <a:path w="8648" h="12134" extrusionOk="0">
                  <a:moveTo>
                    <a:pt x="8042" y="1"/>
                  </a:moveTo>
                  <a:cubicBezTo>
                    <a:pt x="7867" y="1"/>
                    <a:pt x="7688" y="86"/>
                    <a:pt x="7586" y="249"/>
                  </a:cubicBezTo>
                  <a:lnTo>
                    <a:pt x="161" y="11307"/>
                  </a:lnTo>
                  <a:cubicBezTo>
                    <a:pt x="0" y="11532"/>
                    <a:pt x="65" y="11885"/>
                    <a:pt x="322" y="12046"/>
                  </a:cubicBezTo>
                  <a:cubicBezTo>
                    <a:pt x="416" y="12105"/>
                    <a:pt x="519" y="12134"/>
                    <a:pt x="619" y="12134"/>
                  </a:cubicBezTo>
                  <a:cubicBezTo>
                    <a:pt x="793" y="12134"/>
                    <a:pt x="959" y="12048"/>
                    <a:pt x="1061" y="11885"/>
                  </a:cubicBezTo>
                  <a:lnTo>
                    <a:pt x="8486" y="860"/>
                  </a:lnTo>
                  <a:cubicBezTo>
                    <a:pt x="8647" y="603"/>
                    <a:pt x="8583" y="281"/>
                    <a:pt x="8326" y="88"/>
                  </a:cubicBezTo>
                  <a:cubicBezTo>
                    <a:pt x="8243" y="29"/>
                    <a:pt x="8143" y="1"/>
                    <a:pt x="80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57"/>
            <p:cNvSpPr/>
            <p:nvPr/>
          </p:nvSpPr>
          <p:spPr>
            <a:xfrm>
              <a:off x="3205250" y="2073275"/>
              <a:ext cx="213800" cy="1270100"/>
            </a:xfrm>
            <a:custGeom>
              <a:avLst/>
              <a:gdLst/>
              <a:ahLst/>
              <a:cxnLst/>
              <a:rect l="l" t="t" r="r" b="b"/>
              <a:pathLst>
                <a:path w="8552" h="50804" extrusionOk="0">
                  <a:moveTo>
                    <a:pt x="592" y="1"/>
                  </a:moveTo>
                  <a:cubicBezTo>
                    <a:pt x="557" y="1"/>
                    <a:pt x="520" y="5"/>
                    <a:pt x="483" y="12"/>
                  </a:cubicBezTo>
                  <a:cubicBezTo>
                    <a:pt x="194" y="44"/>
                    <a:pt x="1" y="333"/>
                    <a:pt x="33" y="623"/>
                  </a:cubicBezTo>
                  <a:lnTo>
                    <a:pt x="7458" y="50350"/>
                  </a:lnTo>
                  <a:cubicBezTo>
                    <a:pt x="7488" y="50619"/>
                    <a:pt x="7739" y="50804"/>
                    <a:pt x="8006" y="50804"/>
                  </a:cubicBezTo>
                  <a:cubicBezTo>
                    <a:pt x="8027" y="50804"/>
                    <a:pt x="8048" y="50803"/>
                    <a:pt x="8069" y="50800"/>
                  </a:cubicBezTo>
                  <a:cubicBezTo>
                    <a:pt x="8358" y="50736"/>
                    <a:pt x="8551" y="50479"/>
                    <a:pt x="8519" y="50190"/>
                  </a:cubicBezTo>
                  <a:lnTo>
                    <a:pt x="1094" y="462"/>
                  </a:lnTo>
                  <a:cubicBezTo>
                    <a:pt x="1065" y="206"/>
                    <a:pt x="861" y="1"/>
                    <a:pt x="5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57"/>
            <p:cNvSpPr/>
            <p:nvPr/>
          </p:nvSpPr>
          <p:spPr>
            <a:xfrm>
              <a:off x="3390100" y="3233525"/>
              <a:ext cx="215375" cy="109425"/>
            </a:xfrm>
            <a:custGeom>
              <a:avLst/>
              <a:gdLst/>
              <a:ahLst/>
              <a:cxnLst/>
              <a:rect l="l" t="t" r="r" b="b"/>
              <a:pathLst>
                <a:path w="8615" h="4377" extrusionOk="0">
                  <a:moveTo>
                    <a:pt x="8014" y="0"/>
                  </a:moveTo>
                  <a:cubicBezTo>
                    <a:pt x="7936" y="0"/>
                    <a:pt x="7857" y="16"/>
                    <a:pt x="7779" y="51"/>
                  </a:cubicBezTo>
                  <a:lnTo>
                    <a:pt x="386" y="3362"/>
                  </a:lnTo>
                  <a:cubicBezTo>
                    <a:pt x="96" y="3490"/>
                    <a:pt x="0" y="3812"/>
                    <a:pt x="96" y="4069"/>
                  </a:cubicBezTo>
                  <a:cubicBezTo>
                    <a:pt x="191" y="4257"/>
                    <a:pt x="388" y="4377"/>
                    <a:pt x="588" y="4377"/>
                  </a:cubicBezTo>
                  <a:cubicBezTo>
                    <a:pt x="661" y="4377"/>
                    <a:pt x="735" y="4361"/>
                    <a:pt x="804" y="4326"/>
                  </a:cubicBezTo>
                  <a:lnTo>
                    <a:pt x="8229" y="1015"/>
                  </a:lnTo>
                  <a:cubicBezTo>
                    <a:pt x="8486" y="887"/>
                    <a:pt x="8615" y="597"/>
                    <a:pt x="8486" y="308"/>
                  </a:cubicBezTo>
                  <a:cubicBezTo>
                    <a:pt x="8416" y="120"/>
                    <a:pt x="8224" y="0"/>
                    <a:pt x="80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57"/>
            <p:cNvSpPr/>
            <p:nvPr/>
          </p:nvSpPr>
          <p:spPr>
            <a:xfrm>
              <a:off x="3575725" y="3205775"/>
              <a:ext cx="214575" cy="54250"/>
            </a:xfrm>
            <a:custGeom>
              <a:avLst/>
              <a:gdLst/>
              <a:ahLst/>
              <a:cxnLst/>
              <a:rect l="l" t="t" r="r" b="b"/>
              <a:pathLst>
                <a:path w="8583" h="2170" extrusionOk="0">
                  <a:moveTo>
                    <a:pt x="7971" y="0"/>
                  </a:moveTo>
                  <a:cubicBezTo>
                    <a:pt x="7950" y="0"/>
                    <a:pt x="7929" y="1"/>
                    <a:pt x="7908" y="4"/>
                  </a:cubicBezTo>
                  <a:lnTo>
                    <a:pt x="515" y="1129"/>
                  </a:lnTo>
                  <a:cubicBezTo>
                    <a:pt x="225" y="1161"/>
                    <a:pt x="0" y="1418"/>
                    <a:pt x="65" y="1707"/>
                  </a:cubicBezTo>
                  <a:cubicBezTo>
                    <a:pt x="93" y="1987"/>
                    <a:pt x="291" y="2170"/>
                    <a:pt x="554" y="2170"/>
                  </a:cubicBezTo>
                  <a:cubicBezTo>
                    <a:pt x="593" y="2170"/>
                    <a:pt x="634" y="2166"/>
                    <a:pt x="675" y="2157"/>
                  </a:cubicBezTo>
                  <a:lnTo>
                    <a:pt x="8069" y="1064"/>
                  </a:lnTo>
                  <a:cubicBezTo>
                    <a:pt x="8358" y="1032"/>
                    <a:pt x="8583" y="743"/>
                    <a:pt x="8519" y="454"/>
                  </a:cubicBezTo>
                  <a:cubicBezTo>
                    <a:pt x="8489" y="185"/>
                    <a:pt x="8238" y="0"/>
                    <a:pt x="79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57"/>
            <p:cNvSpPr/>
            <p:nvPr/>
          </p:nvSpPr>
          <p:spPr>
            <a:xfrm>
              <a:off x="3760550" y="3122975"/>
              <a:ext cx="215400" cy="109875"/>
            </a:xfrm>
            <a:custGeom>
              <a:avLst/>
              <a:gdLst/>
              <a:ahLst/>
              <a:cxnLst/>
              <a:rect l="l" t="t" r="r" b="b"/>
              <a:pathLst>
                <a:path w="8616" h="4395" extrusionOk="0">
                  <a:moveTo>
                    <a:pt x="8013" y="1"/>
                  </a:moveTo>
                  <a:cubicBezTo>
                    <a:pt x="7944" y="1"/>
                    <a:pt x="7876" y="13"/>
                    <a:pt x="7812" y="37"/>
                  </a:cubicBezTo>
                  <a:lnTo>
                    <a:pt x="386" y="3348"/>
                  </a:lnTo>
                  <a:cubicBezTo>
                    <a:pt x="129" y="3476"/>
                    <a:pt x="1" y="3798"/>
                    <a:pt x="129" y="4055"/>
                  </a:cubicBezTo>
                  <a:cubicBezTo>
                    <a:pt x="200" y="4268"/>
                    <a:pt x="394" y="4394"/>
                    <a:pt x="606" y="4394"/>
                  </a:cubicBezTo>
                  <a:cubicBezTo>
                    <a:pt x="682" y="4394"/>
                    <a:pt x="760" y="4378"/>
                    <a:pt x="836" y="4344"/>
                  </a:cubicBezTo>
                  <a:lnTo>
                    <a:pt x="8230" y="1033"/>
                  </a:lnTo>
                  <a:cubicBezTo>
                    <a:pt x="8519" y="905"/>
                    <a:pt x="8615" y="583"/>
                    <a:pt x="8519" y="326"/>
                  </a:cubicBezTo>
                  <a:cubicBezTo>
                    <a:pt x="8422" y="109"/>
                    <a:pt x="8218" y="1"/>
                    <a:pt x="8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57"/>
            <p:cNvSpPr/>
            <p:nvPr/>
          </p:nvSpPr>
          <p:spPr>
            <a:xfrm>
              <a:off x="3945375" y="3012600"/>
              <a:ext cx="216200" cy="137375"/>
            </a:xfrm>
            <a:custGeom>
              <a:avLst/>
              <a:gdLst/>
              <a:ahLst/>
              <a:cxnLst/>
              <a:rect l="l" t="t" r="r" b="b"/>
              <a:pathLst>
                <a:path w="8648" h="5495" extrusionOk="0">
                  <a:moveTo>
                    <a:pt x="8032" y="0"/>
                  </a:moveTo>
                  <a:cubicBezTo>
                    <a:pt x="7935" y="0"/>
                    <a:pt x="7836" y="25"/>
                    <a:pt x="7748" y="80"/>
                  </a:cubicBezTo>
                  <a:lnTo>
                    <a:pt x="354" y="4484"/>
                  </a:lnTo>
                  <a:cubicBezTo>
                    <a:pt x="97" y="4645"/>
                    <a:pt x="1" y="4966"/>
                    <a:pt x="162" y="5223"/>
                  </a:cubicBezTo>
                  <a:cubicBezTo>
                    <a:pt x="269" y="5395"/>
                    <a:pt x="447" y="5495"/>
                    <a:pt x="631" y="5495"/>
                  </a:cubicBezTo>
                  <a:cubicBezTo>
                    <a:pt x="722" y="5495"/>
                    <a:pt x="815" y="5470"/>
                    <a:pt x="901" y="5416"/>
                  </a:cubicBezTo>
                  <a:lnTo>
                    <a:pt x="8326" y="980"/>
                  </a:lnTo>
                  <a:cubicBezTo>
                    <a:pt x="8551" y="852"/>
                    <a:pt x="8648" y="498"/>
                    <a:pt x="8487" y="241"/>
                  </a:cubicBezTo>
                  <a:cubicBezTo>
                    <a:pt x="8402" y="93"/>
                    <a:pt x="8220" y="0"/>
                    <a:pt x="8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57"/>
            <p:cNvSpPr/>
            <p:nvPr/>
          </p:nvSpPr>
          <p:spPr>
            <a:xfrm>
              <a:off x="4131025" y="3012275"/>
              <a:ext cx="215375" cy="82250"/>
            </a:xfrm>
            <a:custGeom>
              <a:avLst/>
              <a:gdLst/>
              <a:ahLst/>
              <a:cxnLst/>
              <a:rect l="l" t="t" r="r" b="b"/>
              <a:pathLst>
                <a:path w="8615" h="3290" extrusionOk="0">
                  <a:moveTo>
                    <a:pt x="602" y="1"/>
                  </a:moveTo>
                  <a:cubicBezTo>
                    <a:pt x="376" y="1"/>
                    <a:pt x="174" y="150"/>
                    <a:pt x="97" y="383"/>
                  </a:cubicBezTo>
                  <a:cubicBezTo>
                    <a:pt x="0" y="672"/>
                    <a:pt x="161" y="961"/>
                    <a:pt x="450" y="1058"/>
                  </a:cubicBezTo>
                  <a:lnTo>
                    <a:pt x="7876" y="3276"/>
                  </a:lnTo>
                  <a:cubicBezTo>
                    <a:pt x="7919" y="3285"/>
                    <a:pt x="7962" y="3290"/>
                    <a:pt x="8004" y="3290"/>
                  </a:cubicBezTo>
                  <a:cubicBezTo>
                    <a:pt x="8247" y="3290"/>
                    <a:pt x="8469" y="3141"/>
                    <a:pt x="8551" y="2922"/>
                  </a:cubicBezTo>
                  <a:cubicBezTo>
                    <a:pt x="8615" y="2633"/>
                    <a:pt x="8454" y="2311"/>
                    <a:pt x="8165" y="2247"/>
                  </a:cubicBezTo>
                  <a:lnTo>
                    <a:pt x="772" y="29"/>
                  </a:lnTo>
                  <a:cubicBezTo>
                    <a:pt x="715" y="10"/>
                    <a:pt x="658" y="1"/>
                    <a:pt x="6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57"/>
            <p:cNvSpPr/>
            <p:nvPr/>
          </p:nvSpPr>
          <p:spPr>
            <a:xfrm>
              <a:off x="4316650" y="3067625"/>
              <a:ext cx="215400" cy="137450"/>
            </a:xfrm>
            <a:custGeom>
              <a:avLst/>
              <a:gdLst/>
              <a:ahLst/>
              <a:cxnLst/>
              <a:rect l="l" t="t" r="r" b="b"/>
              <a:pathLst>
                <a:path w="8616" h="5498" extrusionOk="0">
                  <a:moveTo>
                    <a:pt x="598" y="1"/>
                  </a:moveTo>
                  <a:cubicBezTo>
                    <a:pt x="415" y="1"/>
                    <a:pt x="236" y="87"/>
                    <a:pt x="129" y="258"/>
                  </a:cubicBezTo>
                  <a:cubicBezTo>
                    <a:pt x="1" y="515"/>
                    <a:pt x="65" y="837"/>
                    <a:pt x="322" y="997"/>
                  </a:cubicBezTo>
                  <a:lnTo>
                    <a:pt x="7747" y="5433"/>
                  </a:lnTo>
                  <a:cubicBezTo>
                    <a:pt x="7833" y="5476"/>
                    <a:pt x="7926" y="5498"/>
                    <a:pt x="8018" y="5498"/>
                  </a:cubicBezTo>
                  <a:cubicBezTo>
                    <a:pt x="8201" y="5498"/>
                    <a:pt x="8380" y="5412"/>
                    <a:pt x="8487" y="5240"/>
                  </a:cubicBezTo>
                  <a:cubicBezTo>
                    <a:pt x="8615" y="4983"/>
                    <a:pt x="8551" y="4662"/>
                    <a:pt x="8294" y="4501"/>
                  </a:cubicBezTo>
                  <a:lnTo>
                    <a:pt x="868" y="65"/>
                  </a:lnTo>
                  <a:cubicBezTo>
                    <a:pt x="783" y="22"/>
                    <a:pt x="690" y="1"/>
                    <a:pt x="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57"/>
            <p:cNvSpPr/>
            <p:nvPr/>
          </p:nvSpPr>
          <p:spPr>
            <a:xfrm>
              <a:off x="4502275" y="2598425"/>
              <a:ext cx="215400" cy="606550"/>
            </a:xfrm>
            <a:custGeom>
              <a:avLst/>
              <a:gdLst/>
              <a:ahLst/>
              <a:cxnLst/>
              <a:rect l="l" t="t" r="r" b="b"/>
              <a:pathLst>
                <a:path w="8616" h="24262" extrusionOk="0">
                  <a:moveTo>
                    <a:pt x="7994" y="0"/>
                  </a:moveTo>
                  <a:cubicBezTo>
                    <a:pt x="7768" y="0"/>
                    <a:pt x="7568" y="144"/>
                    <a:pt x="7491" y="350"/>
                  </a:cubicBezTo>
                  <a:lnTo>
                    <a:pt x="65" y="23558"/>
                  </a:lnTo>
                  <a:cubicBezTo>
                    <a:pt x="1" y="23848"/>
                    <a:pt x="130" y="24137"/>
                    <a:pt x="419" y="24233"/>
                  </a:cubicBezTo>
                  <a:cubicBezTo>
                    <a:pt x="476" y="24252"/>
                    <a:pt x="533" y="24261"/>
                    <a:pt x="589" y="24261"/>
                  </a:cubicBezTo>
                  <a:cubicBezTo>
                    <a:pt x="815" y="24261"/>
                    <a:pt x="1016" y="24112"/>
                    <a:pt x="1094" y="23880"/>
                  </a:cubicBezTo>
                  <a:lnTo>
                    <a:pt x="8519" y="671"/>
                  </a:lnTo>
                  <a:cubicBezTo>
                    <a:pt x="8616" y="414"/>
                    <a:pt x="8455" y="93"/>
                    <a:pt x="8166" y="29"/>
                  </a:cubicBezTo>
                  <a:cubicBezTo>
                    <a:pt x="8108" y="9"/>
                    <a:pt x="8050" y="0"/>
                    <a:pt x="79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57"/>
            <p:cNvSpPr/>
            <p:nvPr/>
          </p:nvSpPr>
          <p:spPr>
            <a:xfrm>
              <a:off x="4687125" y="2515100"/>
              <a:ext cx="215375" cy="109875"/>
            </a:xfrm>
            <a:custGeom>
              <a:avLst/>
              <a:gdLst/>
              <a:ahLst/>
              <a:cxnLst/>
              <a:rect l="l" t="t" r="r" b="b"/>
              <a:pathLst>
                <a:path w="8615" h="4395" extrusionOk="0">
                  <a:moveTo>
                    <a:pt x="8027" y="0"/>
                  </a:moveTo>
                  <a:cubicBezTo>
                    <a:pt x="7954" y="0"/>
                    <a:pt x="7880" y="16"/>
                    <a:pt x="7811" y="51"/>
                  </a:cubicBezTo>
                  <a:lnTo>
                    <a:pt x="386" y="3362"/>
                  </a:lnTo>
                  <a:cubicBezTo>
                    <a:pt x="129" y="3490"/>
                    <a:pt x="0" y="3812"/>
                    <a:pt x="129" y="4069"/>
                  </a:cubicBezTo>
                  <a:cubicBezTo>
                    <a:pt x="201" y="4286"/>
                    <a:pt x="400" y="4394"/>
                    <a:pt x="617" y="4394"/>
                  </a:cubicBezTo>
                  <a:cubicBezTo>
                    <a:pt x="689" y="4394"/>
                    <a:pt x="764" y="4382"/>
                    <a:pt x="836" y="4358"/>
                  </a:cubicBezTo>
                  <a:lnTo>
                    <a:pt x="8229" y="1015"/>
                  </a:lnTo>
                  <a:cubicBezTo>
                    <a:pt x="8518" y="919"/>
                    <a:pt x="8615" y="597"/>
                    <a:pt x="8518" y="308"/>
                  </a:cubicBezTo>
                  <a:cubicBezTo>
                    <a:pt x="8424" y="120"/>
                    <a:pt x="8227" y="0"/>
                    <a:pt x="80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57"/>
            <p:cNvSpPr/>
            <p:nvPr/>
          </p:nvSpPr>
          <p:spPr>
            <a:xfrm>
              <a:off x="4871950" y="2404650"/>
              <a:ext cx="216200" cy="137450"/>
            </a:xfrm>
            <a:custGeom>
              <a:avLst/>
              <a:gdLst/>
              <a:ahLst/>
              <a:cxnLst/>
              <a:rect l="l" t="t" r="r" b="b"/>
              <a:pathLst>
                <a:path w="8648" h="5498" extrusionOk="0">
                  <a:moveTo>
                    <a:pt x="8034" y="1"/>
                  </a:moveTo>
                  <a:cubicBezTo>
                    <a:pt x="7944" y="1"/>
                    <a:pt x="7854" y="22"/>
                    <a:pt x="7779" y="65"/>
                  </a:cubicBezTo>
                  <a:lnTo>
                    <a:pt x="354" y="4501"/>
                  </a:lnTo>
                  <a:cubicBezTo>
                    <a:pt x="97" y="4662"/>
                    <a:pt x="0" y="4983"/>
                    <a:pt x="161" y="5240"/>
                  </a:cubicBezTo>
                  <a:cubicBezTo>
                    <a:pt x="268" y="5412"/>
                    <a:pt x="447" y="5497"/>
                    <a:pt x="630" y="5497"/>
                  </a:cubicBezTo>
                  <a:cubicBezTo>
                    <a:pt x="722" y="5497"/>
                    <a:pt x="815" y="5476"/>
                    <a:pt x="900" y="5433"/>
                  </a:cubicBezTo>
                  <a:lnTo>
                    <a:pt x="8326" y="997"/>
                  </a:lnTo>
                  <a:cubicBezTo>
                    <a:pt x="8583" y="836"/>
                    <a:pt x="8647" y="515"/>
                    <a:pt x="8487" y="258"/>
                  </a:cubicBezTo>
                  <a:cubicBezTo>
                    <a:pt x="8401" y="86"/>
                    <a:pt x="8215" y="1"/>
                    <a:pt x="8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57"/>
            <p:cNvSpPr/>
            <p:nvPr/>
          </p:nvSpPr>
          <p:spPr>
            <a:xfrm>
              <a:off x="5057575" y="2404650"/>
              <a:ext cx="216200" cy="137450"/>
            </a:xfrm>
            <a:custGeom>
              <a:avLst/>
              <a:gdLst/>
              <a:ahLst/>
              <a:cxnLst/>
              <a:rect l="l" t="t" r="r" b="b"/>
              <a:pathLst>
                <a:path w="8648" h="5498" extrusionOk="0">
                  <a:moveTo>
                    <a:pt x="623" y="1"/>
                  </a:moveTo>
                  <a:cubicBezTo>
                    <a:pt x="433" y="1"/>
                    <a:pt x="247" y="86"/>
                    <a:pt x="162" y="258"/>
                  </a:cubicBezTo>
                  <a:cubicBezTo>
                    <a:pt x="1" y="515"/>
                    <a:pt x="97" y="836"/>
                    <a:pt x="354" y="997"/>
                  </a:cubicBezTo>
                  <a:lnTo>
                    <a:pt x="7748" y="5433"/>
                  </a:lnTo>
                  <a:cubicBezTo>
                    <a:pt x="7833" y="5476"/>
                    <a:pt x="7926" y="5497"/>
                    <a:pt x="8018" y="5497"/>
                  </a:cubicBezTo>
                  <a:cubicBezTo>
                    <a:pt x="8201" y="5497"/>
                    <a:pt x="8380" y="5412"/>
                    <a:pt x="8487" y="5240"/>
                  </a:cubicBezTo>
                  <a:cubicBezTo>
                    <a:pt x="8648" y="4983"/>
                    <a:pt x="8551" y="4662"/>
                    <a:pt x="8294" y="4501"/>
                  </a:cubicBezTo>
                  <a:lnTo>
                    <a:pt x="901" y="65"/>
                  </a:lnTo>
                  <a:cubicBezTo>
                    <a:pt x="815" y="22"/>
                    <a:pt x="719" y="1"/>
                    <a:pt x="6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57"/>
            <p:cNvSpPr/>
            <p:nvPr/>
          </p:nvSpPr>
          <p:spPr>
            <a:xfrm>
              <a:off x="5243225" y="2515200"/>
              <a:ext cx="215375" cy="137350"/>
            </a:xfrm>
            <a:custGeom>
              <a:avLst/>
              <a:gdLst/>
              <a:ahLst/>
              <a:cxnLst/>
              <a:rect l="l" t="t" r="r" b="b"/>
              <a:pathLst>
                <a:path w="8615" h="5494" extrusionOk="0">
                  <a:moveTo>
                    <a:pt x="598" y="0"/>
                  </a:moveTo>
                  <a:cubicBezTo>
                    <a:pt x="414" y="0"/>
                    <a:pt x="236" y="100"/>
                    <a:pt x="129" y="272"/>
                  </a:cubicBezTo>
                  <a:cubicBezTo>
                    <a:pt x="0" y="529"/>
                    <a:pt x="64" y="850"/>
                    <a:pt x="322" y="1011"/>
                  </a:cubicBezTo>
                  <a:lnTo>
                    <a:pt x="7747" y="5415"/>
                  </a:lnTo>
                  <a:cubicBezTo>
                    <a:pt x="7833" y="5468"/>
                    <a:pt x="7926" y="5493"/>
                    <a:pt x="8017" y="5493"/>
                  </a:cubicBezTo>
                  <a:cubicBezTo>
                    <a:pt x="8201" y="5493"/>
                    <a:pt x="8379" y="5393"/>
                    <a:pt x="8486" y="5222"/>
                  </a:cubicBezTo>
                  <a:cubicBezTo>
                    <a:pt x="8615" y="4965"/>
                    <a:pt x="8551" y="4643"/>
                    <a:pt x="8293" y="4483"/>
                  </a:cubicBezTo>
                  <a:lnTo>
                    <a:pt x="868" y="79"/>
                  </a:lnTo>
                  <a:cubicBezTo>
                    <a:pt x="782" y="25"/>
                    <a:pt x="689" y="0"/>
                    <a:pt x="5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57"/>
            <p:cNvSpPr/>
            <p:nvPr/>
          </p:nvSpPr>
          <p:spPr>
            <a:xfrm>
              <a:off x="2074575" y="3159250"/>
              <a:ext cx="65925" cy="65100"/>
            </a:xfrm>
            <a:custGeom>
              <a:avLst/>
              <a:gdLst/>
              <a:ahLst/>
              <a:cxnLst/>
              <a:rect l="l" t="t" r="r" b="b"/>
              <a:pathLst>
                <a:path w="2637" h="2604" extrusionOk="0">
                  <a:moveTo>
                    <a:pt x="1318" y="0"/>
                  </a:moveTo>
                  <a:cubicBezTo>
                    <a:pt x="611" y="0"/>
                    <a:pt x="1" y="579"/>
                    <a:pt x="1" y="1286"/>
                  </a:cubicBezTo>
                  <a:cubicBezTo>
                    <a:pt x="1" y="2025"/>
                    <a:pt x="611" y="2604"/>
                    <a:pt x="1318" y="2604"/>
                  </a:cubicBezTo>
                  <a:cubicBezTo>
                    <a:pt x="2058" y="2604"/>
                    <a:pt x="2636" y="2025"/>
                    <a:pt x="2636" y="1286"/>
                  </a:cubicBezTo>
                  <a:cubicBezTo>
                    <a:pt x="2636" y="579"/>
                    <a:pt x="2058"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57"/>
            <p:cNvSpPr/>
            <p:nvPr/>
          </p:nvSpPr>
          <p:spPr>
            <a:xfrm>
              <a:off x="2068150" y="3152000"/>
              <a:ext cx="78775" cy="78800"/>
            </a:xfrm>
            <a:custGeom>
              <a:avLst/>
              <a:gdLst/>
              <a:ahLst/>
              <a:cxnLst/>
              <a:rect l="l" t="t" r="r" b="b"/>
              <a:pathLst>
                <a:path w="3151" h="3152" extrusionOk="0">
                  <a:moveTo>
                    <a:pt x="1575" y="547"/>
                  </a:moveTo>
                  <a:cubicBezTo>
                    <a:pt x="2154" y="547"/>
                    <a:pt x="2636" y="997"/>
                    <a:pt x="2636" y="1576"/>
                  </a:cubicBezTo>
                  <a:cubicBezTo>
                    <a:pt x="2636" y="2155"/>
                    <a:pt x="2154" y="2637"/>
                    <a:pt x="1575" y="2637"/>
                  </a:cubicBezTo>
                  <a:cubicBezTo>
                    <a:pt x="997" y="2637"/>
                    <a:pt x="547" y="2155"/>
                    <a:pt x="547" y="1576"/>
                  </a:cubicBezTo>
                  <a:cubicBezTo>
                    <a:pt x="547" y="997"/>
                    <a:pt x="997" y="547"/>
                    <a:pt x="1575" y="547"/>
                  </a:cubicBezTo>
                  <a:close/>
                  <a:moveTo>
                    <a:pt x="1575" y="1"/>
                  </a:moveTo>
                  <a:cubicBezTo>
                    <a:pt x="708" y="1"/>
                    <a:pt x="0" y="708"/>
                    <a:pt x="0" y="1576"/>
                  </a:cubicBezTo>
                  <a:cubicBezTo>
                    <a:pt x="0" y="2444"/>
                    <a:pt x="708" y="3151"/>
                    <a:pt x="1575" y="3151"/>
                  </a:cubicBezTo>
                  <a:cubicBezTo>
                    <a:pt x="2443" y="3151"/>
                    <a:pt x="3151" y="2444"/>
                    <a:pt x="3151" y="1576"/>
                  </a:cubicBezTo>
                  <a:cubicBezTo>
                    <a:pt x="3151" y="708"/>
                    <a:pt x="2443" y="1"/>
                    <a:pt x="15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57"/>
            <p:cNvSpPr/>
            <p:nvPr/>
          </p:nvSpPr>
          <p:spPr>
            <a:xfrm>
              <a:off x="2260200" y="2329925"/>
              <a:ext cx="65925" cy="65900"/>
            </a:xfrm>
            <a:custGeom>
              <a:avLst/>
              <a:gdLst/>
              <a:ahLst/>
              <a:cxnLst/>
              <a:rect l="l" t="t" r="r" b="b"/>
              <a:pathLst>
                <a:path w="2637" h="2636" extrusionOk="0">
                  <a:moveTo>
                    <a:pt x="1319" y="0"/>
                  </a:moveTo>
                  <a:cubicBezTo>
                    <a:pt x="579" y="0"/>
                    <a:pt x="1" y="579"/>
                    <a:pt x="1" y="1318"/>
                  </a:cubicBezTo>
                  <a:cubicBezTo>
                    <a:pt x="1" y="2057"/>
                    <a:pt x="579" y="2636"/>
                    <a:pt x="1319" y="2636"/>
                  </a:cubicBezTo>
                  <a:cubicBezTo>
                    <a:pt x="2026" y="2636"/>
                    <a:pt x="2637" y="2057"/>
                    <a:pt x="2637" y="1318"/>
                  </a:cubicBezTo>
                  <a:cubicBezTo>
                    <a:pt x="2637" y="579"/>
                    <a:pt x="2026" y="0"/>
                    <a:pt x="13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57"/>
            <p:cNvSpPr/>
            <p:nvPr/>
          </p:nvSpPr>
          <p:spPr>
            <a:xfrm>
              <a:off x="2253775" y="2323475"/>
              <a:ext cx="78775" cy="78800"/>
            </a:xfrm>
            <a:custGeom>
              <a:avLst/>
              <a:gdLst/>
              <a:ahLst/>
              <a:cxnLst/>
              <a:rect l="l" t="t" r="r" b="b"/>
              <a:pathLst>
                <a:path w="3151" h="3152" extrusionOk="0">
                  <a:moveTo>
                    <a:pt x="1576" y="547"/>
                  </a:moveTo>
                  <a:cubicBezTo>
                    <a:pt x="2154" y="547"/>
                    <a:pt x="2604" y="997"/>
                    <a:pt x="2604" y="1576"/>
                  </a:cubicBezTo>
                  <a:cubicBezTo>
                    <a:pt x="2604" y="2155"/>
                    <a:pt x="2154" y="2605"/>
                    <a:pt x="1576" y="2605"/>
                  </a:cubicBezTo>
                  <a:cubicBezTo>
                    <a:pt x="997" y="2605"/>
                    <a:pt x="515" y="2155"/>
                    <a:pt x="515" y="1576"/>
                  </a:cubicBezTo>
                  <a:cubicBezTo>
                    <a:pt x="515" y="997"/>
                    <a:pt x="997" y="547"/>
                    <a:pt x="1576" y="547"/>
                  </a:cubicBezTo>
                  <a:close/>
                  <a:moveTo>
                    <a:pt x="1576" y="1"/>
                  </a:moveTo>
                  <a:cubicBezTo>
                    <a:pt x="708" y="1"/>
                    <a:pt x="1" y="708"/>
                    <a:pt x="1" y="1576"/>
                  </a:cubicBezTo>
                  <a:cubicBezTo>
                    <a:pt x="1" y="2444"/>
                    <a:pt x="708" y="3151"/>
                    <a:pt x="1576" y="3151"/>
                  </a:cubicBezTo>
                  <a:cubicBezTo>
                    <a:pt x="2444" y="3151"/>
                    <a:pt x="3151" y="2444"/>
                    <a:pt x="3151" y="1576"/>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57"/>
            <p:cNvSpPr/>
            <p:nvPr/>
          </p:nvSpPr>
          <p:spPr>
            <a:xfrm>
              <a:off x="2445850" y="2800025"/>
              <a:ext cx="65100" cy="65125"/>
            </a:xfrm>
            <a:custGeom>
              <a:avLst/>
              <a:gdLst/>
              <a:ahLst/>
              <a:cxnLst/>
              <a:rect l="l" t="t" r="r" b="b"/>
              <a:pathLst>
                <a:path w="2604" h="2605" extrusionOk="0">
                  <a:moveTo>
                    <a:pt x="1286" y="1"/>
                  </a:moveTo>
                  <a:cubicBezTo>
                    <a:pt x="579" y="1"/>
                    <a:pt x="0" y="579"/>
                    <a:pt x="0" y="1286"/>
                  </a:cubicBezTo>
                  <a:cubicBezTo>
                    <a:pt x="0" y="2026"/>
                    <a:pt x="579" y="2604"/>
                    <a:pt x="1286" y="2604"/>
                  </a:cubicBezTo>
                  <a:cubicBezTo>
                    <a:pt x="2025" y="2604"/>
                    <a:pt x="2604" y="2026"/>
                    <a:pt x="2604" y="1286"/>
                  </a:cubicBezTo>
                  <a:cubicBezTo>
                    <a:pt x="2604" y="579"/>
                    <a:pt x="2025" y="1"/>
                    <a:pt x="12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57"/>
            <p:cNvSpPr/>
            <p:nvPr/>
          </p:nvSpPr>
          <p:spPr>
            <a:xfrm>
              <a:off x="2438600" y="2792800"/>
              <a:ext cx="78800" cy="78775"/>
            </a:xfrm>
            <a:custGeom>
              <a:avLst/>
              <a:gdLst/>
              <a:ahLst/>
              <a:cxnLst/>
              <a:rect l="l" t="t" r="r" b="b"/>
              <a:pathLst>
                <a:path w="3152" h="3151" extrusionOk="0">
                  <a:moveTo>
                    <a:pt x="1576" y="547"/>
                  </a:moveTo>
                  <a:cubicBezTo>
                    <a:pt x="2155" y="547"/>
                    <a:pt x="2637" y="997"/>
                    <a:pt x="2637" y="1575"/>
                  </a:cubicBezTo>
                  <a:cubicBezTo>
                    <a:pt x="2637" y="2154"/>
                    <a:pt x="2155" y="2636"/>
                    <a:pt x="1576" y="2636"/>
                  </a:cubicBezTo>
                  <a:cubicBezTo>
                    <a:pt x="997" y="2636"/>
                    <a:pt x="547" y="2154"/>
                    <a:pt x="547" y="1575"/>
                  </a:cubicBezTo>
                  <a:cubicBezTo>
                    <a:pt x="547" y="997"/>
                    <a:pt x="997" y="547"/>
                    <a:pt x="1576" y="547"/>
                  </a:cubicBezTo>
                  <a:close/>
                  <a:moveTo>
                    <a:pt x="1576" y="0"/>
                  </a:moveTo>
                  <a:cubicBezTo>
                    <a:pt x="708" y="0"/>
                    <a:pt x="1" y="708"/>
                    <a:pt x="1" y="1575"/>
                  </a:cubicBezTo>
                  <a:cubicBezTo>
                    <a:pt x="1" y="2475"/>
                    <a:pt x="708" y="3151"/>
                    <a:pt x="1576" y="3151"/>
                  </a:cubicBezTo>
                  <a:cubicBezTo>
                    <a:pt x="2476" y="3151"/>
                    <a:pt x="3151" y="2475"/>
                    <a:pt x="3151" y="1575"/>
                  </a:cubicBezTo>
                  <a:cubicBezTo>
                    <a:pt x="3151" y="708"/>
                    <a:pt x="2476" y="0"/>
                    <a:pt x="1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57"/>
            <p:cNvSpPr/>
            <p:nvPr/>
          </p:nvSpPr>
          <p:spPr>
            <a:xfrm>
              <a:off x="2630675" y="2606350"/>
              <a:ext cx="65925" cy="65925"/>
            </a:xfrm>
            <a:custGeom>
              <a:avLst/>
              <a:gdLst/>
              <a:ahLst/>
              <a:cxnLst/>
              <a:rect l="l" t="t" r="r" b="b"/>
              <a:pathLst>
                <a:path w="2637" h="2637" extrusionOk="0">
                  <a:moveTo>
                    <a:pt x="1318" y="1"/>
                  </a:moveTo>
                  <a:cubicBezTo>
                    <a:pt x="611" y="1"/>
                    <a:pt x="0" y="579"/>
                    <a:pt x="0" y="1319"/>
                  </a:cubicBezTo>
                  <a:cubicBezTo>
                    <a:pt x="0" y="2026"/>
                    <a:pt x="611" y="2637"/>
                    <a:pt x="1318" y="2637"/>
                  </a:cubicBezTo>
                  <a:cubicBezTo>
                    <a:pt x="2058" y="2637"/>
                    <a:pt x="2636" y="2026"/>
                    <a:pt x="2636" y="1319"/>
                  </a:cubicBezTo>
                  <a:cubicBezTo>
                    <a:pt x="2636" y="579"/>
                    <a:pt x="2058" y="1"/>
                    <a:pt x="13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57"/>
            <p:cNvSpPr/>
            <p:nvPr/>
          </p:nvSpPr>
          <p:spPr>
            <a:xfrm>
              <a:off x="2624250" y="2599925"/>
              <a:ext cx="78775" cy="78775"/>
            </a:xfrm>
            <a:custGeom>
              <a:avLst/>
              <a:gdLst/>
              <a:ahLst/>
              <a:cxnLst/>
              <a:rect l="l" t="t" r="r" b="b"/>
              <a:pathLst>
                <a:path w="3151" h="3151" extrusionOk="0">
                  <a:moveTo>
                    <a:pt x="1575" y="515"/>
                  </a:moveTo>
                  <a:cubicBezTo>
                    <a:pt x="2154" y="515"/>
                    <a:pt x="2604" y="997"/>
                    <a:pt x="2604" y="1576"/>
                  </a:cubicBezTo>
                  <a:cubicBezTo>
                    <a:pt x="2604" y="2154"/>
                    <a:pt x="2154" y="2604"/>
                    <a:pt x="1575" y="2604"/>
                  </a:cubicBezTo>
                  <a:cubicBezTo>
                    <a:pt x="997" y="2604"/>
                    <a:pt x="547" y="2154"/>
                    <a:pt x="547" y="1576"/>
                  </a:cubicBezTo>
                  <a:cubicBezTo>
                    <a:pt x="547" y="997"/>
                    <a:pt x="997" y="515"/>
                    <a:pt x="1575" y="515"/>
                  </a:cubicBezTo>
                  <a:close/>
                  <a:moveTo>
                    <a:pt x="1575" y="1"/>
                  </a:moveTo>
                  <a:cubicBezTo>
                    <a:pt x="708" y="1"/>
                    <a:pt x="0" y="708"/>
                    <a:pt x="0" y="1576"/>
                  </a:cubicBezTo>
                  <a:cubicBezTo>
                    <a:pt x="0" y="2444"/>
                    <a:pt x="708" y="3151"/>
                    <a:pt x="1575" y="3151"/>
                  </a:cubicBezTo>
                  <a:cubicBezTo>
                    <a:pt x="2443" y="3151"/>
                    <a:pt x="3151" y="2444"/>
                    <a:pt x="3151" y="1576"/>
                  </a:cubicBezTo>
                  <a:cubicBezTo>
                    <a:pt x="3151" y="708"/>
                    <a:pt x="2443" y="1"/>
                    <a:pt x="15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57"/>
            <p:cNvSpPr/>
            <p:nvPr/>
          </p:nvSpPr>
          <p:spPr>
            <a:xfrm>
              <a:off x="2816300" y="3103800"/>
              <a:ext cx="65125" cy="65100"/>
            </a:xfrm>
            <a:custGeom>
              <a:avLst/>
              <a:gdLst/>
              <a:ahLst/>
              <a:cxnLst/>
              <a:rect l="l" t="t" r="r" b="b"/>
              <a:pathLst>
                <a:path w="2605" h="2604" extrusionOk="0">
                  <a:moveTo>
                    <a:pt x="1319" y="0"/>
                  </a:moveTo>
                  <a:cubicBezTo>
                    <a:pt x="579" y="0"/>
                    <a:pt x="1" y="579"/>
                    <a:pt x="1" y="1318"/>
                  </a:cubicBezTo>
                  <a:cubicBezTo>
                    <a:pt x="1" y="2025"/>
                    <a:pt x="579" y="2604"/>
                    <a:pt x="1319" y="2604"/>
                  </a:cubicBezTo>
                  <a:cubicBezTo>
                    <a:pt x="2026" y="2604"/>
                    <a:pt x="2605" y="2025"/>
                    <a:pt x="2605" y="1318"/>
                  </a:cubicBezTo>
                  <a:cubicBezTo>
                    <a:pt x="2605" y="579"/>
                    <a:pt x="2026" y="0"/>
                    <a:pt x="13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57"/>
            <p:cNvSpPr/>
            <p:nvPr/>
          </p:nvSpPr>
          <p:spPr>
            <a:xfrm>
              <a:off x="2809875" y="3096550"/>
              <a:ext cx="78775" cy="79600"/>
            </a:xfrm>
            <a:custGeom>
              <a:avLst/>
              <a:gdLst/>
              <a:ahLst/>
              <a:cxnLst/>
              <a:rect l="l" t="t" r="r" b="b"/>
              <a:pathLst>
                <a:path w="3151" h="3184" extrusionOk="0">
                  <a:moveTo>
                    <a:pt x="1576" y="547"/>
                  </a:moveTo>
                  <a:cubicBezTo>
                    <a:pt x="2154" y="547"/>
                    <a:pt x="2604" y="1030"/>
                    <a:pt x="2604" y="1608"/>
                  </a:cubicBezTo>
                  <a:cubicBezTo>
                    <a:pt x="2604" y="2155"/>
                    <a:pt x="2154" y="2637"/>
                    <a:pt x="1576" y="2637"/>
                  </a:cubicBezTo>
                  <a:cubicBezTo>
                    <a:pt x="997" y="2637"/>
                    <a:pt x="515" y="2155"/>
                    <a:pt x="515" y="1608"/>
                  </a:cubicBezTo>
                  <a:cubicBezTo>
                    <a:pt x="515" y="1030"/>
                    <a:pt x="997" y="547"/>
                    <a:pt x="1576" y="547"/>
                  </a:cubicBezTo>
                  <a:close/>
                  <a:moveTo>
                    <a:pt x="1576" y="1"/>
                  </a:moveTo>
                  <a:cubicBezTo>
                    <a:pt x="708" y="1"/>
                    <a:pt x="1" y="708"/>
                    <a:pt x="1" y="1608"/>
                  </a:cubicBezTo>
                  <a:cubicBezTo>
                    <a:pt x="1" y="2476"/>
                    <a:pt x="708" y="3183"/>
                    <a:pt x="1576" y="3183"/>
                  </a:cubicBezTo>
                  <a:cubicBezTo>
                    <a:pt x="2444" y="3183"/>
                    <a:pt x="3151" y="2476"/>
                    <a:pt x="3151" y="1608"/>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57"/>
            <p:cNvSpPr/>
            <p:nvPr/>
          </p:nvSpPr>
          <p:spPr>
            <a:xfrm>
              <a:off x="3001150" y="2329925"/>
              <a:ext cx="65900" cy="65900"/>
            </a:xfrm>
            <a:custGeom>
              <a:avLst/>
              <a:gdLst/>
              <a:ahLst/>
              <a:cxnLst/>
              <a:rect l="l" t="t" r="r" b="b"/>
              <a:pathLst>
                <a:path w="2636" h="2636" extrusionOk="0">
                  <a:moveTo>
                    <a:pt x="1318" y="0"/>
                  </a:moveTo>
                  <a:cubicBezTo>
                    <a:pt x="611" y="0"/>
                    <a:pt x="0" y="579"/>
                    <a:pt x="0" y="1318"/>
                  </a:cubicBezTo>
                  <a:cubicBezTo>
                    <a:pt x="0" y="2057"/>
                    <a:pt x="611" y="2636"/>
                    <a:pt x="1318" y="2636"/>
                  </a:cubicBezTo>
                  <a:cubicBezTo>
                    <a:pt x="2057" y="2636"/>
                    <a:pt x="2636" y="2057"/>
                    <a:pt x="2636" y="1318"/>
                  </a:cubicBezTo>
                  <a:cubicBezTo>
                    <a:pt x="2636" y="579"/>
                    <a:pt x="2057"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57"/>
            <p:cNvSpPr/>
            <p:nvPr/>
          </p:nvSpPr>
          <p:spPr>
            <a:xfrm>
              <a:off x="2994700" y="2323475"/>
              <a:ext cx="78800" cy="78800"/>
            </a:xfrm>
            <a:custGeom>
              <a:avLst/>
              <a:gdLst/>
              <a:ahLst/>
              <a:cxnLst/>
              <a:rect l="l" t="t" r="r" b="b"/>
              <a:pathLst>
                <a:path w="3152" h="3152" extrusionOk="0">
                  <a:moveTo>
                    <a:pt x="1576" y="547"/>
                  </a:moveTo>
                  <a:cubicBezTo>
                    <a:pt x="2155" y="547"/>
                    <a:pt x="2637" y="997"/>
                    <a:pt x="2637" y="1576"/>
                  </a:cubicBezTo>
                  <a:cubicBezTo>
                    <a:pt x="2637" y="2155"/>
                    <a:pt x="2155" y="2605"/>
                    <a:pt x="1576" y="2605"/>
                  </a:cubicBezTo>
                  <a:cubicBezTo>
                    <a:pt x="997" y="2605"/>
                    <a:pt x="547" y="2155"/>
                    <a:pt x="547" y="1576"/>
                  </a:cubicBezTo>
                  <a:cubicBezTo>
                    <a:pt x="547" y="997"/>
                    <a:pt x="997" y="547"/>
                    <a:pt x="1576" y="547"/>
                  </a:cubicBezTo>
                  <a:close/>
                  <a:moveTo>
                    <a:pt x="1576" y="1"/>
                  </a:moveTo>
                  <a:cubicBezTo>
                    <a:pt x="708" y="1"/>
                    <a:pt x="1" y="708"/>
                    <a:pt x="1" y="1576"/>
                  </a:cubicBezTo>
                  <a:cubicBezTo>
                    <a:pt x="1" y="2444"/>
                    <a:pt x="708" y="3151"/>
                    <a:pt x="1576" y="3151"/>
                  </a:cubicBezTo>
                  <a:cubicBezTo>
                    <a:pt x="2444" y="3151"/>
                    <a:pt x="3151" y="2444"/>
                    <a:pt x="3151" y="1576"/>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57"/>
            <p:cNvSpPr/>
            <p:nvPr/>
          </p:nvSpPr>
          <p:spPr>
            <a:xfrm>
              <a:off x="3186775" y="2054275"/>
              <a:ext cx="65925" cy="65125"/>
            </a:xfrm>
            <a:custGeom>
              <a:avLst/>
              <a:gdLst/>
              <a:ahLst/>
              <a:cxnLst/>
              <a:rect l="l" t="t" r="r" b="b"/>
              <a:pathLst>
                <a:path w="2637" h="2605" extrusionOk="0">
                  <a:moveTo>
                    <a:pt x="1318" y="1"/>
                  </a:moveTo>
                  <a:cubicBezTo>
                    <a:pt x="579" y="1"/>
                    <a:pt x="0" y="579"/>
                    <a:pt x="0" y="1286"/>
                  </a:cubicBezTo>
                  <a:cubicBezTo>
                    <a:pt x="0" y="2026"/>
                    <a:pt x="579" y="2604"/>
                    <a:pt x="1318" y="2604"/>
                  </a:cubicBezTo>
                  <a:cubicBezTo>
                    <a:pt x="2026" y="2604"/>
                    <a:pt x="2636" y="2026"/>
                    <a:pt x="2636" y="1286"/>
                  </a:cubicBezTo>
                  <a:cubicBezTo>
                    <a:pt x="2636" y="579"/>
                    <a:pt x="2026"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57"/>
            <p:cNvSpPr/>
            <p:nvPr/>
          </p:nvSpPr>
          <p:spPr>
            <a:xfrm>
              <a:off x="3180350" y="2047050"/>
              <a:ext cx="78775" cy="78775"/>
            </a:xfrm>
            <a:custGeom>
              <a:avLst/>
              <a:gdLst/>
              <a:ahLst/>
              <a:cxnLst/>
              <a:rect l="l" t="t" r="r" b="b"/>
              <a:pathLst>
                <a:path w="3151" h="3151" extrusionOk="0">
                  <a:moveTo>
                    <a:pt x="1575" y="547"/>
                  </a:moveTo>
                  <a:cubicBezTo>
                    <a:pt x="2154" y="547"/>
                    <a:pt x="2604" y="997"/>
                    <a:pt x="2604" y="1575"/>
                  </a:cubicBezTo>
                  <a:cubicBezTo>
                    <a:pt x="2604" y="2154"/>
                    <a:pt x="2154" y="2636"/>
                    <a:pt x="1575" y="2636"/>
                  </a:cubicBezTo>
                  <a:cubicBezTo>
                    <a:pt x="997" y="2636"/>
                    <a:pt x="515" y="2154"/>
                    <a:pt x="515" y="1575"/>
                  </a:cubicBezTo>
                  <a:cubicBezTo>
                    <a:pt x="515" y="997"/>
                    <a:pt x="997" y="547"/>
                    <a:pt x="1575" y="547"/>
                  </a:cubicBezTo>
                  <a:close/>
                  <a:moveTo>
                    <a:pt x="1575" y="0"/>
                  </a:moveTo>
                  <a:cubicBezTo>
                    <a:pt x="707" y="0"/>
                    <a:pt x="0" y="707"/>
                    <a:pt x="0" y="1575"/>
                  </a:cubicBezTo>
                  <a:cubicBezTo>
                    <a:pt x="0" y="2443"/>
                    <a:pt x="707" y="3150"/>
                    <a:pt x="1575" y="3150"/>
                  </a:cubicBezTo>
                  <a:cubicBezTo>
                    <a:pt x="2443" y="3150"/>
                    <a:pt x="3150" y="2443"/>
                    <a:pt x="3150" y="1575"/>
                  </a:cubicBezTo>
                  <a:cubicBezTo>
                    <a:pt x="3150" y="707"/>
                    <a:pt x="2443" y="0"/>
                    <a:pt x="15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57"/>
            <p:cNvSpPr/>
            <p:nvPr/>
          </p:nvSpPr>
          <p:spPr>
            <a:xfrm>
              <a:off x="3372400" y="3296650"/>
              <a:ext cx="65125" cy="65925"/>
            </a:xfrm>
            <a:custGeom>
              <a:avLst/>
              <a:gdLst/>
              <a:ahLst/>
              <a:cxnLst/>
              <a:rect l="l" t="t" r="r" b="b"/>
              <a:pathLst>
                <a:path w="2605" h="2637" extrusionOk="0">
                  <a:moveTo>
                    <a:pt x="1287" y="1"/>
                  </a:moveTo>
                  <a:cubicBezTo>
                    <a:pt x="579" y="1"/>
                    <a:pt x="1" y="612"/>
                    <a:pt x="1" y="1319"/>
                  </a:cubicBezTo>
                  <a:cubicBezTo>
                    <a:pt x="1" y="2058"/>
                    <a:pt x="579" y="2637"/>
                    <a:pt x="1287" y="2637"/>
                  </a:cubicBezTo>
                  <a:cubicBezTo>
                    <a:pt x="2026" y="2637"/>
                    <a:pt x="2605" y="2058"/>
                    <a:pt x="2605" y="1319"/>
                  </a:cubicBezTo>
                  <a:cubicBezTo>
                    <a:pt x="2605" y="612"/>
                    <a:pt x="2026" y="1"/>
                    <a:pt x="12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57"/>
            <p:cNvSpPr/>
            <p:nvPr/>
          </p:nvSpPr>
          <p:spPr>
            <a:xfrm>
              <a:off x="3365175" y="3290225"/>
              <a:ext cx="79575" cy="78775"/>
            </a:xfrm>
            <a:custGeom>
              <a:avLst/>
              <a:gdLst/>
              <a:ahLst/>
              <a:cxnLst/>
              <a:rect l="l" t="t" r="r" b="b"/>
              <a:pathLst>
                <a:path w="3183" h="3151" extrusionOk="0">
                  <a:moveTo>
                    <a:pt x="1576" y="547"/>
                  </a:moveTo>
                  <a:cubicBezTo>
                    <a:pt x="2154" y="547"/>
                    <a:pt x="2636" y="997"/>
                    <a:pt x="2636" y="1576"/>
                  </a:cubicBezTo>
                  <a:cubicBezTo>
                    <a:pt x="2636" y="2155"/>
                    <a:pt x="2154" y="2637"/>
                    <a:pt x="1576" y="2637"/>
                  </a:cubicBezTo>
                  <a:cubicBezTo>
                    <a:pt x="1029" y="2637"/>
                    <a:pt x="547" y="2155"/>
                    <a:pt x="547" y="1576"/>
                  </a:cubicBezTo>
                  <a:cubicBezTo>
                    <a:pt x="547" y="997"/>
                    <a:pt x="1029" y="547"/>
                    <a:pt x="1576" y="547"/>
                  </a:cubicBezTo>
                  <a:close/>
                  <a:moveTo>
                    <a:pt x="1576" y="1"/>
                  </a:moveTo>
                  <a:cubicBezTo>
                    <a:pt x="708" y="1"/>
                    <a:pt x="1" y="708"/>
                    <a:pt x="1" y="1576"/>
                  </a:cubicBezTo>
                  <a:cubicBezTo>
                    <a:pt x="1" y="2444"/>
                    <a:pt x="708" y="3151"/>
                    <a:pt x="1576" y="3151"/>
                  </a:cubicBezTo>
                  <a:cubicBezTo>
                    <a:pt x="2476" y="3151"/>
                    <a:pt x="3183" y="2444"/>
                    <a:pt x="3183" y="1576"/>
                  </a:cubicBezTo>
                  <a:cubicBezTo>
                    <a:pt x="3183" y="708"/>
                    <a:pt x="2476"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57"/>
            <p:cNvSpPr/>
            <p:nvPr/>
          </p:nvSpPr>
          <p:spPr>
            <a:xfrm>
              <a:off x="3557250" y="3213900"/>
              <a:ext cx="65900" cy="65900"/>
            </a:xfrm>
            <a:custGeom>
              <a:avLst/>
              <a:gdLst/>
              <a:ahLst/>
              <a:cxnLst/>
              <a:rect l="l" t="t" r="r" b="b"/>
              <a:pathLst>
                <a:path w="2636" h="2636" extrusionOk="0">
                  <a:moveTo>
                    <a:pt x="1318" y="0"/>
                  </a:moveTo>
                  <a:cubicBezTo>
                    <a:pt x="611" y="0"/>
                    <a:pt x="0" y="579"/>
                    <a:pt x="0" y="1318"/>
                  </a:cubicBezTo>
                  <a:cubicBezTo>
                    <a:pt x="0" y="2057"/>
                    <a:pt x="611" y="2636"/>
                    <a:pt x="1318" y="2636"/>
                  </a:cubicBezTo>
                  <a:cubicBezTo>
                    <a:pt x="2057" y="2636"/>
                    <a:pt x="2636" y="2057"/>
                    <a:pt x="2636" y="1318"/>
                  </a:cubicBezTo>
                  <a:cubicBezTo>
                    <a:pt x="2636" y="579"/>
                    <a:pt x="2057"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57"/>
            <p:cNvSpPr/>
            <p:nvPr/>
          </p:nvSpPr>
          <p:spPr>
            <a:xfrm>
              <a:off x="3550800" y="3207450"/>
              <a:ext cx="78800" cy="78800"/>
            </a:xfrm>
            <a:custGeom>
              <a:avLst/>
              <a:gdLst/>
              <a:ahLst/>
              <a:cxnLst/>
              <a:rect l="l" t="t" r="r" b="b"/>
              <a:pathLst>
                <a:path w="3152" h="3152" extrusionOk="0">
                  <a:moveTo>
                    <a:pt x="1576" y="547"/>
                  </a:moveTo>
                  <a:cubicBezTo>
                    <a:pt x="2155" y="547"/>
                    <a:pt x="2637" y="997"/>
                    <a:pt x="2637" y="1576"/>
                  </a:cubicBezTo>
                  <a:cubicBezTo>
                    <a:pt x="2637" y="2155"/>
                    <a:pt x="2155" y="2605"/>
                    <a:pt x="1576" y="2605"/>
                  </a:cubicBezTo>
                  <a:cubicBezTo>
                    <a:pt x="997" y="2605"/>
                    <a:pt x="547" y="2155"/>
                    <a:pt x="547" y="1576"/>
                  </a:cubicBezTo>
                  <a:cubicBezTo>
                    <a:pt x="547" y="997"/>
                    <a:pt x="997" y="547"/>
                    <a:pt x="1576" y="547"/>
                  </a:cubicBezTo>
                  <a:close/>
                  <a:moveTo>
                    <a:pt x="1576" y="1"/>
                  </a:moveTo>
                  <a:cubicBezTo>
                    <a:pt x="708" y="1"/>
                    <a:pt x="1" y="708"/>
                    <a:pt x="1" y="1576"/>
                  </a:cubicBezTo>
                  <a:cubicBezTo>
                    <a:pt x="1" y="2444"/>
                    <a:pt x="708" y="3151"/>
                    <a:pt x="1576" y="3151"/>
                  </a:cubicBezTo>
                  <a:cubicBezTo>
                    <a:pt x="2444" y="3151"/>
                    <a:pt x="3151" y="2444"/>
                    <a:pt x="3151" y="1576"/>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57"/>
            <p:cNvSpPr/>
            <p:nvPr/>
          </p:nvSpPr>
          <p:spPr>
            <a:xfrm>
              <a:off x="3742875" y="3186575"/>
              <a:ext cx="65125" cy="65100"/>
            </a:xfrm>
            <a:custGeom>
              <a:avLst/>
              <a:gdLst/>
              <a:ahLst/>
              <a:cxnLst/>
              <a:rect l="l" t="t" r="r" b="b"/>
              <a:pathLst>
                <a:path w="2605" h="2604" extrusionOk="0">
                  <a:moveTo>
                    <a:pt x="1318" y="0"/>
                  </a:moveTo>
                  <a:cubicBezTo>
                    <a:pt x="579" y="0"/>
                    <a:pt x="0" y="579"/>
                    <a:pt x="0" y="1318"/>
                  </a:cubicBezTo>
                  <a:cubicBezTo>
                    <a:pt x="0" y="2025"/>
                    <a:pt x="579" y="2604"/>
                    <a:pt x="1318" y="2604"/>
                  </a:cubicBezTo>
                  <a:cubicBezTo>
                    <a:pt x="2026" y="2604"/>
                    <a:pt x="2604" y="2025"/>
                    <a:pt x="2604" y="1318"/>
                  </a:cubicBezTo>
                  <a:cubicBezTo>
                    <a:pt x="2604" y="579"/>
                    <a:pt x="2026"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57"/>
            <p:cNvSpPr/>
            <p:nvPr/>
          </p:nvSpPr>
          <p:spPr>
            <a:xfrm>
              <a:off x="3736450" y="3180150"/>
              <a:ext cx="78775" cy="78775"/>
            </a:xfrm>
            <a:custGeom>
              <a:avLst/>
              <a:gdLst/>
              <a:ahLst/>
              <a:cxnLst/>
              <a:rect l="l" t="t" r="r" b="b"/>
              <a:pathLst>
                <a:path w="3151" h="3151" extrusionOk="0">
                  <a:moveTo>
                    <a:pt x="1575" y="514"/>
                  </a:moveTo>
                  <a:cubicBezTo>
                    <a:pt x="2154" y="514"/>
                    <a:pt x="2604" y="997"/>
                    <a:pt x="2604" y="1575"/>
                  </a:cubicBezTo>
                  <a:cubicBezTo>
                    <a:pt x="2604" y="2154"/>
                    <a:pt x="2154" y="2604"/>
                    <a:pt x="1575" y="2604"/>
                  </a:cubicBezTo>
                  <a:cubicBezTo>
                    <a:pt x="997" y="2604"/>
                    <a:pt x="515" y="2154"/>
                    <a:pt x="515" y="1575"/>
                  </a:cubicBezTo>
                  <a:cubicBezTo>
                    <a:pt x="515" y="997"/>
                    <a:pt x="997" y="514"/>
                    <a:pt x="1575" y="514"/>
                  </a:cubicBezTo>
                  <a:close/>
                  <a:moveTo>
                    <a:pt x="1575" y="0"/>
                  </a:moveTo>
                  <a:cubicBezTo>
                    <a:pt x="707" y="0"/>
                    <a:pt x="0" y="707"/>
                    <a:pt x="0" y="1575"/>
                  </a:cubicBezTo>
                  <a:cubicBezTo>
                    <a:pt x="0" y="2443"/>
                    <a:pt x="707" y="3150"/>
                    <a:pt x="1575" y="3150"/>
                  </a:cubicBezTo>
                  <a:cubicBezTo>
                    <a:pt x="2443" y="3150"/>
                    <a:pt x="3150" y="2443"/>
                    <a:pt x="3150" y="1575"/>
                  </a:cubicBezTo>
                  <a:cubicBezTo>
                    <a:pt x="3150" y="707"/>
                    <a:pt x="2443" y="0"/>
                    <a:pt x="15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57"/>
            <p:cNvSpPr/>
            <p:nvPr/>
          </p:nvSpPr>
          <p:spPr>
            <a:xfrm>
              <a:off x="3928500" y="3103800"/>
              <a:ext cx="65125" cy="65100"/>
            </a:xfrm>
            <a:custGeom>
              <a:avLst/>
              <a:gdLst/>
              <a:ahLst/>
              <a:cxnLst/>
              <a:rect l="l" t="t" r="r" b="b"/>
              <a:pathLst>
                <a:path w="2605" h="2604" extrusionOk="0">
                  <a:moveTo>
                    <a:pt x="1287" y="0"/>
                  </a:moveTo>
                  <a:cubicBezTo>
                    <a:pt x="579" y="0"/>
                    <a:pt x="1" y="579"/>
                    <a:pt x="1" y="1318"/>
                  </a:cubicBezTo>
                  <a:cubicBezTo>
                    <a:pt x="1" y="2025"/>
                    <a:pt x="579" y="2604"/>
                    <a:pt x="1287" y="2604"/>
                  </a:cubicBezTo>
                  <a:cubicBezTo>
                    <a:pt x="2026" y="2604"/>
                    <a:pt x="2605" y="2025"/>
                    <a:pt x="2605" y="1318"/>
                  </a:cubicBezTo>
                  <a:cubicBezTo>
                    <a:pt x="2605" y="579"/>
                    <a:pt x="2026" y="0"/>
                    <a:pt x="12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57"/>
            <p:cNvSpPr/>
            <p:nvPr/>
          </p:nvSpPr>
          <p:spPr>
            <a:xfrm>
              <a:off x="3921275" y="3096550"/>
              <a:ext cx="78775" cy="79600"/>
            </a:xfrm>
            <a:custGeom>
              <a:avLst/>
              <a:gdLst/>
              <a:ahLst/>
              <a:cxnLst/>
              <a:rect l="l" t="t" r="r" b="b"/>
              <a:pathLst>
                <a:path w="3151" h="3184" extrusionOk="0">
                  <a:moveTo>
                    <a:pt x="1576" y="547"/>
                  </a:moveTo>
                  <a:cubicBezTo>
                    <a:pt x="2154" y="547"/>
                    <a:pt x="2636" y="1030"/>
                    <a:pt x="2636" y="1608"/>
                  </a:cubicBezTo>
                  <a:cubicBezTo>
                    <a:pt x="2636" y="2155"/>
                    <a:pt x="2154" y="2637"/>
                    <a:pt x="1576" y="2637"/>
                  </a:cubicBezTo>
                  <a:cubicBezTo>
                    <a:pt x="997" y="2637"/>
                    <a:pt x="547" y="2155"/>
                    <a:pt x="547" y="1608"/>
                  </a:cubicBezTo>
                  <a:cubicBezTo>
                    <a:pt x="547" y="1030"/>
                    <a:pt x="997" y="547"/>
                    <a:pt x="1576" y="547"/>
                  </a:cubicBezTo>
                  <a:close/>
                  <a:moveTo>
                    <a:pt x="1576" y="1"/>
                  </a:moveTo>
                  <a:cubicBezTo>
                    <a:pt x="708" y="1"/>
                    <a:pt x="1" y="708"/>
                    <a:pt x="1" y="1608"/>
                  </a:cubicBezTo>
                  <a:cubicBezTo>
                    <a:pt x="1" y="2476"/>
                    <a:pt x="708" y="3183"/>
                    <a:pt x="1576" y="3183"/>
                  </a:cubicBezTo>
                  <a:cubicBezTo>
                    <a:pt x="2443" y="3183"/>
                    <a:pt x="3151" y="2476"/>
                    <a:pt x="3151" y="1608"/>
                  </a:cubicBezTo>
                  <a:cubicBezTo>
                    <a:pt x="3151" y="708"/>
                    <a:pt x="2443"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57"/>
            <p:cNvSpPr/>
            <p:nvPr/>
          </p:nvSpPr>
          <p:spPr>
            <a:xfrm>
              <a:off x="4113350" y="2992900"/>
              <a:ext cx="65900" cy="65925"/>
            </a:xfrm>
            <a:custGeom>
              <a:avLst/>
              <a:gdLst/>
              <a:ahLst/>
              <a:cxnLst/>
              <a:rect l="l" t="t" r="r" b="b"/>
              <a:pathLst>
                <a:path w="2636" h="2637" extrusionOk="0">
                  <a:moveTo>
                    <a:pt x="1318" y="0"/>
                  </a:moveTo>
                  <a:cubicBezTo>
                    <a:pt x="579" y="0"/>
                    <a:pt x="0" y="579"/>
                    <a:pt x="0" y="1318"/>
                  </a:cubicBezTo>
                  <a:cubicBezTo>
                    <a:pt x="0" y="2058"/>
                    <a:pt x="579" y="2636"/>
                    <a:pt x="1318" y="2636"/>
                  </a:cubicBezTo>
                  <a:cubicBezTo>
                    <a:pt x="2025" y="2636"/>
                    <a:pt x="2636" y="2058"/>
                    <a:pt x="2636" y="1318"/>
                  </a:cubicBezTo>
                  <a:cubicBezTo>
                    <a:pt x="2636" y="579"/>
                    <a:pt x="2025"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57"/>
            <p:cNvSpPr/>
            <p:nvPr/>
          </p:nvSpPr>
          <p:spPr>
            <a:xfrm>
              <a:off x="4106900" y="2986475"/>
              <a:ext cx="78800" cy="78775"/>
            </a:xfrm>
            <a:custGeom>
              <a:avLst/>
              <a:gdLst/>
              <a:ahLst/>
              <a:cxnLst/>
              <a:rect l="l" t="t" r="r" b="b"/>
              <a:pathLst>
                <a:path w="3152" h="3151" extrusionOk="0">
                  <a:moveTo>
                    <a:pt x="1576" y="547"/>
                  </a:moveTo>
                  <a:cubicBezTo>
                    <a:pt x="2155" y="547"/>
                    <a:pt x="2605" y="997"/>
                    <a:pt x="2605" y="1575"/>
                  </a:cubicBezTo>
                  <a:cubicBezTo>
                    <a:pt x="2605" y="2154"/>
                    <a:pt x="2155" y="2604"/>
                    <a:pt x="1576" y="2604"/>
                  </a:cubicBezTo>
                  <a:cubicBezTo>
                    <a:pt x="997" y="2604"/>
                    <a:pt x="547" y="2154"/>
                    <a:pt x="547" y="1575"/>
                  </a:cubicBezTo>
                  <a:cubicBezTo>
                    <a:pt x="547" y="997"/>
                    <a:pt x="997" y="547"/>
                    <a:pt x="1576" y="547"/>
                  </a:cubicBezTo>
                  <a:close/>
                  <a:moveTo>
                    <a:pt x="1576" y="0"/>
                  </a:moveTo>
                  <a:cubicBezTo>
                    <a:pt x="708" y="0"/>
                    <a:pt x="1" y="707"/>
                    <a:pt x="1" y="1575"/>
                  </a:cubicBezTo>
                  <a:cubicBezTo>
                    <a:pt x="1" y="2443"/>
                    <a:pt x="708" y="3150"/>
                    <a:pt x="1576" y="3150"/>
                  </a:cubicBezTo>
                  <a:cubicBezTo>
                    <a:pt x="2444" y="3150"/>
                    <a:pt x="3151" y="2443"/>
                    <a:pt x="3151" y="1575"/>
                  </a:cubicBezTo>
                  <a:cubicBezTo>
                    <a:pt x="3151" y="707"/>
                    <a:pt x="2444" y="0"/>
                    <a:pt x="1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57"/>
            <p:cNvSpPr/>
            <p:nvPr/>
          </p:nvSpPr>
          <p:spPr>
            <a:xfrm>
              <a:off x="4298975" y="3048350"/>
              <a:ext cx="65125" cy="65925"/>
            </a:xfrm>
            <a:custGeom>
              <a:avLst/>
              <a:gdLst/>
              <a:ahLst/>
              <a:cxnLst/>
              <a:rect l="l" t="t" r="r" b="b"/>
              <a:pathLst>
                <a:path w="2605" h="2637" extrusionOk="0">
                  <a:moveTo>
                    <a:pt x="1318" y="0"/>
                  </a:moveTo>
                  <a:cubicBezTo>
                    <a:pt x="579" y="0"/>
                    <a:pt x="0" y="579"/>
                    <a:pt x="0" y="1318"/>
                  </a:cubicBezTo>
                  <a:cubicBezTo>
                    <a:pt x="0" y="2025"/>
                    <a:pt x="579" y="2636"/>
                    <a:pt x="1318" y="2636"/>
                  </a:cubicBezTo>
                  <a:cubicBezTo>
                    <a:pt x="2026" y="2636"/>
                    <a:pt x="2604" y="2025"/>
                    <a:pt x="2604" y="1318"/>
                  </a:cubicBezTo>
                  <a:cubicBezTo>
                    <a:pt x="2604" y="579"/>
                    <a:pt x="2026" y="0"/>
                    <a:pt x="1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57"/>
            <p:cNvSpPr/>
            <p:nvPr/>
          </p:nvSpPr>
          <p:spPr>
            <a:xfrm>
              <a:off x="4292550" y="3041925"/>
              <a:ext cx="78775" cy="78775"/>
            </a:xfrm>
            <a:custGeom>
              <a:avLst/>
              <a:gdLst/>
              <a:ahLst/>
              <a:cxnLst/>
              <a:rect l="l" t="t" r="r" b="b"/>
              <a:pathLst>
                <a:path w="3151" h="3151" extrusionOk="0">
                  <a:moveTo>
                    <a:pt x="1575" y="514"/>
                  </a:moveTo>
                  <a:cubicBezTo>
                    <a:pt x="2122" y="514"/>
                    <a:pt x="2604" y="997"/>
                    <a:pt x="2604" y="1575"/>
                  </a:cubicBezTo>
                  <a:cubicBezTo>
                    <a:pt x="2604" y="2154"/>
                    <a:pt x="2122" y="2604"/>
                    <a:pt x="1575" y="2604"/>
                  </a:cubicBezTo>
                  <a:cubicBezTo>
                    <a:pt x="997" y="2604"/>
                    <a:pt x="515" y="2154"/>
                    <a:pt x="515" y="1575"/>
                  </a:cubicBezTo>
                  <a:cubicBezTo>
                    <a:pt x="515" y="997"/>
                    <a:pt x="997" y="514"/>
                    <a:pt x="1575" y="514"/>
                  </a:cubicBezTo>
                  <a:close/>
                  <a:moveTo>
                    <a:pt x="1575" y="0"/>
                  </a:moveTo>
                  <a:cubicBezTo>
                    <a:pt x="675" y="0"/>
                    <a:pt x="0" y="707"/>
                    <a:pt x="0" y="1575"/>
                  </a:cubicBezTo>
                  <a:cubicBezTo>
                    <a:pt x="0" y="2443"/>
                    <a:pt x="675" y="3150"/>
                    <a:pt x="1575" y="3150"/>
                  </a:cubicBezTo>
                  <a:cubicBezTo>
                    <a:pt x="2443" y="3150"/>
                    <a:pt x="3150" y="2443"/>
                    <a:pt x="3150" y="1575"/>
                  </a:cubicBezTo>
                  <a:cubicBezTo>
                    <a:pt x="3150" y="707"/>
                    <a:pt x="2443" y="0"/>
                    <a:pt x="15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57"/>
            <p:cNvSpPr/>
            <p:nvPr/>
          </p:nvSpPr>
          <p:spPr>
            <a:xfrm>
              <a:off x="4483800" y="3159250"/>
              <a:ext cx="65925" cy="65100"/>
            </a:xfrm>
            <a:custGeom>
              <a:avLst/>
              <a:gdLst/>
              <a:ahLst/>
              <a:cxnLst/>
              <a:rect l="l" t="t" r="r" b="b"/>
              <a:pathLst>
                <a:path w="2637" h="2604" extrusionOk="0">
                  <a:moveTo>
                    <a:pt x="1319" y="0"/>
                  </a:moveTo>
                  <a:cubicBezTo>
                    <a:pt x="611" y="0"/>
                    <a:pt x="1" y="579"/>
                    <a:pt x="1" y="1286"/>
                  </a:cubicBezTo>
                  <a:cubicBezTo>
                    <a:pt x="1" y="2025"/>
                    <a:pt x="611" y="2604"/>
                    <a:pt x="1319" y="2604"/>
                  </a:cubicBezTo>
                  <a:cubicBezTo>
                    <a:pt x="2058" y="2604"/>
                    <a:pt x="2636" y="2025"/>
                    <a:pt x="2636" y="1286"/>
                  </a:cubicBezTo>
                  <a:cubicBezTo>
                    <a:pt x="2636" y="579"/>
                    <a:pt x="2058" y="0"/>
                    <a:pt x="13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57"/>
            <p:cNvSpPr/>
            <p:nvPr/>
          </p:nvSpPr>
          <p:spPr>
            <a:xfrm>
              <a:off x="4477375" y="3152000"/>
              <a:ext cx="78775" cy="78800"/>
            </a:xfrm>
            <a:custGeom>
              <a:avLst/>
              <a:gdLst/>
              <a:ahLst/>
              <a:cxnLst/>
              <a:rect l="l" t="t" r="r" b="b"/>
              <a:pathLst>
                <a:path w="3151" h="3152" extrusionOk="0">
                  <a:moveTo>
                    <a:pt x="1576" y="547"/>
                  </a:moveTo>
                  <a:cubicBezTo>
                    <a:pt x="2154" y="547"/>
                    <a:pt x="2636" y="997"/>
                    <a:pt x="2636" y="1576"/>
                  </a:cubicBezTo>
                  <a:cubicBezTo>
                    <a:pt x="2636" y="2155"/>
                    <a:pt x="2154" y="2637"/>
                    <a:pt x="1576" y="2637"/>
                  </a:cubicBezTo>
                  <a:cubicBezTo>
                    <a:pt x="997" y="2637"/>
                    <a:pt x="547" y="2155"/>
                    <a:pt x="547" y="1576"/>
                  </a:cubicBezTo>
                  <a:cubicBezTo>
                    <a:pt x="547" y="997"/>
                    <a:pt x="997" y="547"/>
                    <a:pt x="1576" y="547"/>
                  </a:cubicBezTo>
                  <a:close/>
                  <a:moveTo>
                    <a:pt x="1576" y="1"/>
                  </a:moveTo>
                  <a:cubicBezTo>
                    <a:pt x="708" y="1"/>
                    <a:pt x="0" y="708"/>
                    <a:pt x="0" y="1576"/>
                  </a:cubicBezTo>
                  <a:cubicBezTo>
                    <a:pt x="0" y="2444"/>
                    <a:pt x="708" y="3151"/>
                    <a:pt x="1576" y="3151"/>
                  </a:cubicBezTo>
                  <a:cubicBezTo>
                    <a:pt x="2443" y="3151"/>
                    <a:pt x="3151" y="2444"/>
                    <a:pt x="3151" y="1576"/>
                  </a:cubicBezTo>
                  <a:cubicBezTo>
                    <a:pt x="3151" y="708"/>
                    <a:pt x="2443"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57"/>
            <p:cNvSpPr/>
            <p:nvPr/>
          </p:nvSpPr>
          <p:spPr>
            <a:xfrm>
              <a:off x="4669450" y="2579025"/>
              <a:ext cx="65900" cy="65125"/>
            </a:xfrm>
            <a:custGeom>
              <a:avLst/>
              <a:gdLst/>
              <a:ahLst/>
              <a:cxnLst/>
              <a:rect l="l" t="t" r="r" b="b"/>
              <a:pathLst>
                <a:path w="2636" h="2605" extrusionOk="0">
                  <a:moveTo>
                    <a:pt x="1318" y="1"/>
                  </a:moveTo>
                  <a:cubicBezTo>
                    <a:pt x="579" y="1"/>
                    <a:pt x="0" y="580"/>
                    <a:pt x="0" y="1287"/>
                  </a:cubicBezTo>
                  <a:cubicBezTo>
                    <a:pt x="0" y="2026"/>
                    <a:pt x="579" y="2605"/>
                    <a:pt x="1318" y="2605"/>
                  </a:cubicBezTo>
                  <a:cubicBezTo>
                    <a:pt x="2025" y="2605"/>
                    <a:pt x="2636" y="2026"/>
                    <a:pt x="2636" y="1287"/>
                  </a:cubicBezTo>
                  <a:cubicBezTo>
                    <a:pt x="2636" y="580"/>
                    <a:pt x="2025" y="1"/>
                    <a:pt x="13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57"/>
            <p:cNvSpPr/>
            <p:nvPr/>
          </p:nvSpPr>
          <p:spPr>
            <a:xfrm>
              <a:off x="4663000" y="2571800"/>
              <a:ext cx="78800" cy="78775"/>
            </a:xfrm>
            <a:custGeom>
              <a:avLst/>
              <a:gdLst/>
              <a:ahLst/>
              <a:cxnLst/>
              <a:rect l="l" t="t" r="r" b="b"/>
              <a:pathLst>
                <a:path w="3152" h="3151" extrusionOk="0">
                  <a:moveTo>
                    <a:pt x="1576" y="547"/>
                  </a:moveTo>
                  <a:cubicBezTo>
                    <a:pt x="2155" y="547"/>
                    <a:pt x="2605" y="997"/>
                    <a:pt x="2605" y="1576"/>
                  </a:cubicBezTo>
                  <a:cubicBezTo>
                    <a:pt x="2605" y="2154"/>
                    <a:pt x="2155" y="2636"/>
                    <a:pt x="1576" y="2636"/>
                  </a:cubicBezTo>
                  <a:cubicBezTo>
                    <a:pt x="997" y="2636"/>
                    <a:pt x="515" y="2154"/>
                    <a:pt x="515" y="1576"/>
                  </a:cubicBezTo>
                  <a:cubicBezTo>
                    <a:pt x="515" y="997"/>
                    <a:pt x="997" y="547"/>
                    <a:pt x="1576" y="547"/>
                  </a:cubicBezTo>
                  <a:close/>
                  <a:moveTo>
                    <a:pt x="1576" y="1"/>
                  </a:moveTo>
                  <a:cubicBezTo>
                    <a:pt x="708" y="1"/>
                    <a:pt x="1" y="708"/>
                    <a:pt x="1" y="1576"/>
                  </a:cubicBezTo>
                  <a:cubicBezTo>
                    <a:pt x="1" y="2476"/>
                    <a:pt x="708" y="3151"/>
                    <a:pt x="1576" y="3151"/>
                  </a:cubicBezTo>
                  <a:cubicBezTo>
                    <a:pt x="2444" y="3151"/>
                    <a:pt x="3151" y="2476"/>
                    <a:pt x="3151" y="1576"/>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57"/>
            <p:cNvSpPr/>
            <p:nvPr/>
          </p:nvSpPr>
          <p:spPr>
            <a:xfrm>
              <a:off x="4855075" y="2496275"/>
              <a:ext cx="65125" cy="65100"/>
            </a:xfrm>
            <a:custGeom>
              <a:avLst/>
              <a:gdLst/>
              <a:ahLst/>
              <a:cxnLst/>
              <a:rect l="l" t="t" r="r" b="b"/>
              <a:pathLst>
                <a:path w="2605" h="2604" extrusionOk="0">
                  <a:moveTo>
                    <a:pt x="1286" y="0"/>
                  </a:moveTo>
                  <a:cubicBezTo>
                    <a:pt x="579" y="0"/>
                    <a:pt x="0" y="579"/>
                    <a:pt x="0" y="1286"/>
                  </a:cubicBezTo>
                  <a:cubicBezTo>
                    <a:pt x="0" y="2025"/>
                    <a:pt x="579" y="2604"/>
                    <a:pt x="1286" y="2604"/>
                  </a:cubicBezTo>
                  <a:cubicBezTo>
                    <a:pt x="2025" y="2604"/>
                    <a:pt x="2604" y="2025"/>
                    <a:pt x="2604" y="1286"/>
                  </a:cubicBezTo>
                  <a:cubicBezTo>
                    <a:pt x="2604" y="579"/>
                    <a:pt x="2025" y="0"/>
                    <a:pt x="12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57"/>
            <p:cNvSpPr/>
            <p:nvPr/>
          </p:nvSpPr>
          <p:spPr>
            <a:xfrm>
              <a:off x="4847850" y="2489025"/>
              <a:ext cx="79575" cy="78775"/>
            </a:xfrm>
            <a:custGeom>
              <a:avLst/>
              <a:gdLst/>
              <a:ahLst/>
              <a:cxnLst/>
              <a:rect l="l" t="t" r="r" b="b"/>
              <a:pathLst>
                <a:path w="3183" h="3151" extrusionOk="0">
                  <a:moveTo>
                    <a:pt x="1575" y="547"/>
                  </a:moveTo>
                  <a:cubicBezTo>
                    <a:pt x="2154" y="547"/>
                    <a:pt x="2636" y="997"/>
                    <a:pt x="2636" y="1576"/>
                  </a:cubicBezTo>
                  <a:cubicBezTo>
                    <a:pt x="2636" y="2154"/>
                    <a:pt x="2154" y="2637"/>
                    <a:pt x="1575" y="2637"/>
                  </a:cubicBezTo>
                  <a:cubicBezTo>
                    <a:pt x="1029" y="2637"/>
                    <a:pt x="547" y="2154"/>
                    <a:pt x="547" y="1576"/>
                  </a:cubicBezTo>
                  <a:cubicBezTo>
                    <a:pt x="547" y="997"/>
                    <a:pt x="1029" y="547"/>
                    <a:pt x="1575" y="547"/>
                  </a:cubicBezTo>
                  <a:close/>
                  <a:moveTo>
                    <a:pt x="1575" y="1"/>
                  </a:moveTo>
                  <a:cubicBezTo>
                    <a:pt x="707" y="1"/>
                    <a:pt x="0" y="708"/>
                    <a:pt x="0" y="1576"/>
                  </a:cubicBezTo>
                  <a:cubicBezTo>
                    <a:pt x="0" y="2444"/>
                    <a:pt x="707" y="3151"/>
                    <a:pt x="1575" y="3151"/>
                  </a:cubicBezTo>
                  <a:cubicBezTo>
                    <a:pt x="2475" y="3151"/>
                    <a:pt x="3182" y="2444"/>
                    <a:pt x="3182" y="1576"/>
                  </a:cubicBezTo>
                  <a:cubicBezTo>
                    <a:pt x="3182" y="708"/>
                    <a:pt x="2475" y="1"/>
                    <a:pt x="15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57"/>
            <p:cNvSpPr/>
            <p:nvPr/>
          </p:nvSpPr>
          <p:spPr>
            <a:xfrm>
              <a:off x="5039900" y="2385375"/>
              <a:ext cx="65925" cy="65900"/>
            </a:xfrm>
            <a:custGeom>
              <a:avLst/>
              <a:gdLst/>
              <a:ahLst/>
              <a:cxnLst/>
              <a:rect l="l" t="t" r="r" b="b"/>
              <a:pathLst>
                <a:path w="2637" h="2636" extrusionOk="0">
                  <a:moveTo>
                    <a:pt x="1319" y="0"/>
                  </a:moveTo>
                  <a:cubicBezTo>
                    <a:pt x="611" y="0"/>
                    <a:pt x="1" y="579"/>
                    <a:pt x="1" y="1318"/>
                  </a:cubicBezTo>
                  <a:cubicBezTo>
                    <a:pt x="1" y="2025"/>
                    <a:pt x="611" y="2636"/>
                    <a:pt x="1319" y="2636"/>
                  </a:cubicBezTo>
                  <a:cubicBezTo>
                    <a:pt x="2058" y="2636"/>
                    <a:pt x="2636" y="2025"/>
                    <a:pt x="2636" y="1318"/>
                  </a:cubicBezTo>
                  <a:cubicBezTo>
                    <a:pt x="2636" y="579"/>
                    <a:pt x="2058" y="0"/>
                    <a:pt x="13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57"/>
            <p:cNvSpPr/>
            <p:nvPr/>
          </p:nvSpPr>
          <p:spPr>
            <a:xfrm>
              <a:off x="5033475" y="2378925"/>
              <a:ext cx="78775" cy="78800"/>
            </a:xfrm>
            <a:custGeom>
              <a:avLst/>
              <a:gdLst/>
              <a:ahLst/>
              <a:cxnLst/>
              <a:rect l="l" t="t" r="r" b="b"/>
              <a:pathLst>
                <a:path w="3151" h="3152" extrusionOk="0">
                  <a:moveTo>
                    <a:pt x="1576" y="515"/>
                  </a:moveTo>
                  <a:cubicBezTo>
                    <a:pt x="2154" y="515"/>
                    <a:pt x="2604" y="997"/>
                    <a:pt x="2636" y="1576"/>
                  </a:cubicBezTo>
                  <a:cubicBezTo>
                    <a:pt x="2604" y="2155"/>
                    <a:pt x="2154" y="2605"/>
                    <a:pt x="1576" y="2605"/>
                  </a:cubicBezTo>
                  <a:cubicBezTo>
                    <a:pt x="997" y="2605"/>
                    <a:pt x="547" y="2155"/>
                    <a:pt x="547" y="1576"/>
                  </a:cubicBezTo>
                  <a:cubicBezTo>
                    <a:pt x="547" y="997"/>
                    <a:pt x="997" y="515"/>
                    <a:pt x="1576" y="515"/>
                  </a:cubicBezTo>
                  <a:close/>
                  <a:moveTo>
                    <a:pt x="1576" y="1"/>
                  </a:moveTo>
                  <a:cubicBezTo>
                    <a:pt x="708" y="1"/>
                    <a:pt x="0" y="708"/>
                    <a:pt x="0" y="1576"/>
                  </a:cubicBezTo>
                  <a:cubicBezTo>
                    <a:pt x="0" y="2444"/>
                    <a:pt x="708" y="3151"/>
                    <a:pt x="1576" y="3151"/>
                  </a:cubicBezTo>
                  <a:cubicBezTo>
                    <a:pt x="2443" y="3151"/>
                    <a:pt x="3151" y="2444"/>
                    <a:pt x="3151" y="1576"/>
                  </a:cubicBezTo>
                  <a:cubicBezTo>
                    <a:pt x="3151" y="708"/>
                    <a:pt x="2443"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57"/>
            <p:cNvSpPr/>
            <p:nvPr/>
          </p:nvSpPr>
          <p:spPr>
            <a:xfrm>
              <a:off x="5225525" y="2496275"/>
              <a:ext cx="65125" cy="65100"/>
            </a:xfrm>
            <a:custGeom>
              <a:avLst/>
              <a:gdLst/>
              <a:ahLst/>
              <a:cxnLst/>
              <a:rect l="l" t="t" r="r" b="b"/>
              <a:pathLst>
                <a:path w="2605" h="2604" extrusionOk="0">
                  <a:moveTo>
                    <a:pt x="1319" y="0"/>
                  </a:moveTo>
                  <a:cubicBezTo>
                    <a:pt x="580" y="0"/>
                    <a:pt x="1" y="579"/>
                    <a:pt x="1" y="1286"/>
                  </a:cubicBezTo>
                  <a:cubicBezTo>
                    <a:pt x="1" y="2025"/>
                    <a:pt x="580" y="2604"/>
                    <a:pt x="1319" y="2604"/>
                  </a:cubicBezTo>
                  <a:cubicBezTo>
                    <a:pt x="2026" y="2604"/>
                    <a:pt x="2605" y="2025"/>
                    <a:pt x="2605" y="1286"/>
                  </a:cubicBezTo>
                  <a:cubicBezTo>
                    <a:pt x="2605" y="579"/>
                    <a:pt x="2026" y="0"/>
                    <a:pt x="13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57"/>
            <p:cNvSpPr/>
            <p:nvPr/>
          </p:nvSpPr>
          <p:spPr>
            <a:xfrm>
              <a:off x="5219100" y="2489025"/>
              <a:ext cx="78775" cy="78775"/>
            </a:xfrm>
            <a:custGeom>
              <a:avLst/>
              <a:gdLst/>
              <a:ahLst/>
              <a:cxnLst/>
              <a:rect l="l" t="t" r="r" b="b"/>
              <a:pathLst>
                <a:path w="3151" h="3151" extrusionOk="0">
                  <a:moveTo>
                    <a:pt x="1576" y="547"/>
                  </a:moveTo>
                  <a:cubicBezTo>
                    <a:pt x="2155" y="547"/>
                    <a:pt x="2605" y="997"/>
                    <a:pt x="2605" y="1576"/>
                  </a:cubicBezTo>
                  <a:cubicBezTo>
                    <a:pt x="2605" y="2154"/>
                    <a:pt x="2155" y="2637"/>
                    <a:pt x="1576" y="2637"/>
                  </a:cubicBezTo>
                  <a:cubicBezTo>
                    <a:pt x="997" y="2637"/>
                    <a:pt x="515" y="2154"/>
                    <a:pt x="515" y="1576"/>
                  </a:cubicBezTo>
                  <a:cubicBezTo>
                    <a:pt x="515" y="997"/>
                    <a:pt x="997" y="547"/>
                    <a:pt x="1576" y="547"/>
                  </a:cubicBezTo>
                  <a:close/>
                  <a:moveTo>
                    <a:pt x="1576" y="1"/>
                  </a:moveTo>
                  <a:cubicBezTo>
                    <a:pt x="708" y="1"/>
                    <a:pt x="1" y="708"/>
                    <a:pt x="1" y="1576"/>
                  </a:cubicBezTo>
                  <a:cubicBezTo>
                    <a:pt x="1" y="2444"/>
                    <a:pt x="708" y="3151"/>
                    <a:pt x="1576" y="3151"/>
                  </a:cubicBezTo>
                  <a:cubicBezTo>
                    <a:pt x="2444" y="3151"/>
                    <a:pt x="3151" y="2444"/>
                    <a:pt x="3151" y="1576"/>
                  </a:cubicBezTo>
                  <a:cubicBezTo>
                    <a:pt x="3151" y="708"/>
                    <a:pt x="2444" y="1"/>
                    <a:pt x="1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57"/>
            <p:cNvSpPr/>
            <p:nvPr/>
          </p:nvSpPr>
          <p:spPr>
            <a:xfrm>
              <a:off x="5411175" y="2606350"/>
              <a:ext cx="65125" cy="65925"/>
            </a:xfrm>
            <a:custGeom>
              <a:avLst/>
              <a:gdLst/>
              <a:ahLst/>
              <a:cxnLst/>
              <a:rect l="l" t="t" r="r" b="b"/>
              <a:pathLst>
                <a:path w="2605" h="2637" extrusionOk="0">
                  <a:moveTo>
                    <a:pt x="1286" y="1"/>
                  </a:moveTo>
                  <a:cubicBezTo>
                    <a:pt x="579" y="1"/>
                    <a:pt x="0" y="579"/>
                    <a:pt x="0" y="1319"/>
                  </a:cubicBezTo>
                  <a:cubicBezTo>
                    <a:pt x="0" y="2026"/>
                    <a:pt x="579" y="2637"/>
                    <a:pt x="1286" y="2637"/>
                  </a:cubicBezTo>
                  <a:cubicBezTo>
                    <a:pt x="2025" y="2637"/>
                    <a:pt x="2604" y="2026"/>
                    <a:pt x="2604" y="1319"/>
                  </a:cubicBezTo>
                  <a:cubicBezTo>
                    <a:pt x="2604" y="579"/>
                    <a:pt x="2025" y="1"/>
                    <a:pt x="12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57"/>
            <p:cNvSpPr/>
            <p:nvPr/>
          </p:nvSpPr>
          <p:spPr>
            <a:xfrm>
              <a:off x="5403950" y="2599925"/>
              <a:ext cx="78775" cy="78775"/>
            </a:xfrm>
            <a:custGeom>
              <a:avLst/>
              <a:gdLst/>
              <a:ahLst/>
              <a:cxnLst/>
              <a:rect l="l" t="t" r="r" b="b"/>
              <a:pathLst>
                <a:path w="3151" h="3151" extrusionOk="0">
                  <a:moveTo>
                    <a:pt x="1575" y="515"/>
                  </a:moveTo>
                  <a:cubicBezTo>
                    <a:pt x="2154" y="515"/>
                    <a:pt x="2636" y="997"/>
                    <a:pt x="2636" y="1576"/>
                  </a:cubicBezTo>
                  <a:cubicBezTo>
                    <a:pt x="2636" y="2154"/>
                    <a:pt x="2154" y="2604"/>
                    <a:pt x="1575" y="2604"/>
                  </a:cubicBezTo>
                  <a:cubicBezTo>
                    <a:pt x="997" y="2604"/>
                    <a:pt x="547" y="2154"/>
                    <a:pt x="547" y="1576"/>
                  </a:cubicBezTo>
                  <a:cubicBezTo>
                    <a:pt x="547" y="997"/>
                    <a:pt x="997" y="515"/>
                    <a:pt x="1575" y="515"/>
                  </a:cubicBezTo>
                  <a:close/>
                  <a:moveTo>
                    <a:pt x="1575" y="1"/>
                  </a:moveTo>
                  <a:cubicBezTo>
                    <a:pt x="707" y="1"/>
                    <a:pt x="0" y="708"/>
                    <a:pt x="0" y="1576"/>
                  </a:cubicBezTo>
                  <a:cubicBezTo>
                    <a:pt x="0" y="2444"/>
                    <a:pt x="707" y="3151"/>
                    <a:pt x="1575" y="3151"/>
                  </a:cubicBezTo>
                  <a:cubicBezTo>
                    <a:pt x="2443" y="3151"/>
                    <a:pt x="3150" y="2444"/>
                    <a:pt x="3150" y="1576"/>
                  </a:cubicBezTo>
                  <a:cubicBezTo>
                    <a:pt x="3150" y="708"/>
                    <a:pt x="2443" y="1"/>
                    <a:pt x="15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57"/>
            <p:cNvSpPr/>
            <p:nvPr/>
          </p:nvSpPr>
          <p:spPr>
            <a:xfrm>
              <a:off x="5747875" y="1384075"/>
              <a:ext cx="105300" cy="3359925"/>
            </a:xfrm>
            <a:custGeom>
              <a:avLst/>
              <a:gdLst/>
              <a:ahLst/>
              <a:cxnLst/>
              <a:rect l="l" t="t" r="r" b="b"/>
              <a:pathLst>
                <a:path w="4212" h="134397" extrusionOk="0">
                  <a:moveTo>
                    <a:pt x="1" y="0"/>
                  </a:moveTo>
                  <a:lnTo>
                    <a:pt x="1" y="134396"/>
                  </a:lnTo>
                  <a:lnTo>
                    <a:pt x="4212" y="134396"/>
                  </a:lnTo>
                  <a:lnTo>
                    <a:pt x="4212" y="0"/>
                  </a:ln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57"/>
            <p:cNvSpPr/>
            <p:nvPr/>
          </p:nvSpPr>
          <p:spPr>
            <a:xfrm>
              <a:off x="5747875" y="1797925"/>
              <a:ext cx="105300" cy="856675"/>
            </a:xfrm>
            <a:custGeom>
              <a:avLst/>
              <a:gdLst/>
              <a:ahLst/>
              <a:cxnLst/>
              <a:rect l="l" t="t" r="r" b="b"/>
              <a:pathLst>
                <a:path w="4212" h="34267" extrusionOk="0">
                  <a:moveTo>
                    <a:pt x="1" y="0"/>
                  </a:moveTo>
                  <a:lnTo>
                    <a:pt x="1" y="34267"/>
                  </a:lnTo>
                  <a:lnTo>
                    <a:pt x="4212" y="34267"/>
                  </a:lnTo>
                  <a:lnTo>
                    <a:pt x="421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57"/>
            <p:cNvSpPr/>
            <p:nvPr/>
          </p:nvSpPr>
          <p:spPr>
            <a:xfrm>
              <a:off x="1797325" y="1384075"/>
              <a:ext cx="4055850" cy="205750"/>
            </a:xfrm>
            <a:custGeom>
              <a:avLst/>
              <a:gdLst/>
              <a:ahLst/>
              <a:cxnLst/>
              <a:rect l="l" t="t" r="r" b="b"/>
              <a:pathLst>
                <a:path w="162234" h="8230" extrusionOk="0">
                  <a:moveTo>
                    <a:pt x="1" y="0"/>
                  </a:moveTo>
                  <a:lnTo>
                    <a:pt x="1" y="8229"/>
                  </a:lnTo>
                  <a:lnTo>
                    <a:pt x="162234" y="8229"/>
                  </a:lnTo>
                  <a:lnTo>
                    <a:pt x="162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57"/>
            <p:cNvSpPr/>
            <p:nvPr/>
          </p:nvSpPr>
          <p:spPr>
            <a:xfrm>
              <a:off x="1797325" y="1652475"/>
              <a:ext cx="1042325" cy="164750"/>
            </a:xfrm>
            <a:custGeom>
              <a:avLst/>
              <a:gdLst/>
              <a:ahLst/>
              <a:cxnLst/>
              <a:rect l="l" t="t" r="r" b="b"/>
              <a:pathLst>
                <a:path w="41693" h="6590" extrusionOk="0">
                  <a:moveTo>
                    <a:pt x="1" y="0"/>
                  </a:moveTo>
                  <a:lnTo>
                    <a:pt x="1" y="6590"/>
                  </a:lnTo>
                  <a:lnTo>
                    <a:pt x="40599" y="6590"/>
                  </a:lnTo>
                  <a:cubicBezTo>
                    <a:pt x="41178" y="6590"/>
                    <a:pt x="41692" y="6108"/>
                    <a:pt x="41692" y="5497"/>
                  </a:cubicBezTo>
                  <a:lnTo>
                    <a:pt x="41692" y="1061"/>
                  </a:lnTo>
                  <a:cubicBezTo>
                    <a:pt x="41692" y="482"/>
                    <a:pt x="41178" y="0"/>
                    <a:pt x="405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57"/>
            <p:cNvSpPr/>
            <p:nvPr/>
          </p:nvSpPr>
          <p:spPr>
            <a:xfrm>
              <a:off x="1927525" y="1675775"/>
              <a:ext cx="65900" cy="100475"/>
            </a:xfrm>
            <a:custGeom>
              <a:avLst/>
              <a:gdLst/>
              <a:ahLst/>
              <a:cxnLst/>
              <a:rect l="l" t="t" r="r" b="b"/>
              <a:pathLst>
                <a:path w="2636" h="4019" extrusionOk="0">
                  <a:moveTo>
                    <a:pt x="0" y="1"/>
                  </a:moveTo>
                  <a:lnTo>
                    <a:pt x="0" y="4019"/>
                  </a:lnTo>
                  <a:lnTo>
                    <a:pt x="547" y="4019"/>
                  </a:lnTo>
                  <a:lnTo>
                    <a:pt x="547" y="1190"/>
                  </a:lnTo>
                  <a:lnTo>
                    <a:pt x="997" y="4019"/>
                  </a:lnTo>
                  <a:lnTo>
                    <a:pt x="1607" y="4019"/>
                  </a:lnTo>
                  <a:lnTo>
                    <a:pt x="2025" y="1126"/>
                  </a:lnTo>
                  <a:lnTo>
                    <a:pt x="2025" y="4019"/>
                  </a:lnTo>
                  <a:lnTo>
                    <a:pt x="2636" y="4019"/>
                  </a:lnTo>
                  <a:lnTo>
                    <a:pt x="2636" y="1"/>
                  </a:lnTo>
                  <a:lnTo>
                    <a:pt x="1768" y="1"/>
                  </a:lnTo>
                  <a:lnTo>
                    <a:pt x="1318" y="2861"/>
                  </a:lnTo>
                  <a:lnTo>
                    <a:pt x="8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57"/>
            <p:cNvSpPr/>
            <p:nvPr/>
          </p:nvSpPr>
          <p:spPr>
            <a:xfrm>
              <a:off x="2000650" y="1675775"/>
              <a:ext cx="55475" cy="100475"/>
            </a:xfrm>
            <a:custGeom>
              <a:avLst/>
              <a:gdLst/>
              <a:ahLst/>
              <a:cxnLst/>
              <a:rect l="l" t="t" r="r" b="b"/>
              <a:pathLst>
                <a:path w="2219" h="4019" extrusionOk="0">
                  <a:moveTo>
                    <a:pt x="1093" y="708"/>
                  </a:moveTo>
                  <a:lnTo>
                    <a:pt x="1382" y="2733"/>
                  </a:lnTo>
                  <a:lnTo>
                    <a:pt x="772" y="2733"/>
                  </a:lnTo>
                  <a:lnTo>
                    <a:pt x="1093" y="708"/>
                  </a:lnTo>
                  <a:close/>
                  <a:moveTo>
                    <a:pt x="643" y="1"/>
                  </a:moveTo>
                  <a:lnTo>
                    <a:pt x="0" y="4019"/>
                  </a:lnTo>
                  <a:lnTo>
                    <a:pt x="579" y="4019"/>
                  </a:lnTo>
                  <a:lnTo>
                    <a:pt x="707" y="3279"/>
                  </a:lnTo>
                  <a:lnTo>
                    <a:pt x="1479" y="3279"/>
                  </a:lnTo>
                  <a:lnTo>
                    <a:pt x="1575" y="4019"/>
                  </a:lnTo>
                  <a:lnTo>
                    <a:pt x="2218" y="4019"/>
                  </a:lnTo>
                  <a:lnTo>
                    <a:pt x="15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57"/>
            <p:cNvSpPr/>
            <p:nvPr/>
          </p:nvSpPr>
          <p:spPr>
            <a:xfrm>
              <a:off x="2063325" y="1675775"/>
              <a:ext cx="49050" cy="100475"/>
            </a:xfrm>
            <a:custGeom>
              <a:avLst/>
              <a:gdLst/>
              <a:ahLst/>
              <a:cxnLst/>
              <a:rect l="l" t="t" r="r" b="b"/>
              <a:pathLst>
                <a:path w="1962" h="4019" extrusionOk="0">
                  <a:moveTo>
                    <a:pt x="933" y="579"/>
                  </a:moveTo>
                  <a:cubicBezTo>
                    <a:pt x="1158" y="579"/>
                    <a:pt x="1254" y="708"/>
                    <a:pt x="1254" y="997"/>
                  </a:cubicBezTo>
                  <a:lnTo>
                    <a:pt x="1254" y="1383"/>
                  </a:lnTo>
                  <a:cubicBezTo>
                    <a:pt x="1254" y="1704"/>
                    <a:pt x="1126" y="1801"/>
                    <a:pt x="868" y="1801"/>
                  </a:cubicBezTo>
                  <a:lnTo>
                    <a:pt x="643" y="1801"/>
                  </a:lnTo>
                  <a:lnTo>
                    <a:pt x="643" y="579"/>
                  </a:lnTo>
                  <a:close/>
                  <a:moveTo>
                    <a:pt x="1" y="1"/>
                  </a:moveTo>
                  <a:lnTo>
                    <a:pt x="1" y="4019"/>
                  </a:lnTo>
                  <a:lnTo>
                    <a:pt x="643" y="4019"/>
                  </a:lnTo>
                  <a:lnTo>
                    <a:pt x="643" y="2379"/>
                  </a:lnTo>
                  <a:lnTo>
                    <a:pt x="868" y="2379"/>
                  </a:lnTo>
                  <a:cubicBezTo>
                    <a:pt x="1126" y="2379"/>
                    <a:pt x="1254" y="2508"/>
                    <a:pt x="1254" y="2894"/>
                  </a:cubicBezTo>
                  <a:lnTo>
                    <a:pt x="1254" y="3536"/>
                  </a:lnTo>
                  <a:cubicBezTo>
                    <a:pt x="1254" y="3858"/>
                    <a:pt x="1286" y="3922"/>
                    <a:pt x="1318" y="4019"/>
                  </a:cubicBezTo>
                  <a:lnTo>
                    <a:pt x="1961" y="4019"/>
                  </a:lnTo>
                  <a:cubicBezTo>
                    <a:pt x="1897" y="3858"/>
                    <a:pt x="1897" y="3729"/>
                    <a:pt x="1897" y="3536"/>
                  </a:cubicBezTo>
                  <a:lnTo>
                    <a:pt x="1897" y="2926"/>
                  </a:lnTo>
                  <a:cubicBezTo>
                    <a:pt x="1897" y="2508"/>
                    <a:pt x="1801" y="2186"/>
                    <a:pt x="1479" y="2058"/>
                  </a:cubicBezTo>
                  <a:cubicBezTo>
                    <a:pt x="1768" y="1929"/>
                    <a:pt x="1897" y="1672"/>
                    <a:pt x="1897" y="1254"/>
                  </a:cubicBezTo>
                  <a:lnTo>
                    <a:pt x="1897" y="933"/>
                  </a:lnTo>
                  <a:cubicBezTo>
                    <a:pt x="1897" y="322"/>
                    <a:pt x="1608" y="1"/>
                    <a:pt x="9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57"/>
            <p:cNvSpPr/>
            <p:nvPr/>
          </p:nvSpPr>
          <p:spPr>
            <a:xfrm>
              <a:off x="2119575" y="1674975"/>
              <a:ext cx="47450" cy="102075"/>
            </a:xfrm>
            <a:custGeom>
              <a:avLst/>
              <a:gdLst/>
              <a:ahLst/>
              <a:cxnLst/>
              <a:rect l="l" t="t" r="r" b="b"/>
              <a:pathLst>
                <a:path w="1898" h="4083" extrusionOk="0">
                  <a:moveTo>
                    <a:pt x="965" y="0"/>
                  </a:moveTo>
                  <a:cubicBezTo>
                    <a:pt x="322" y="0"/>
                    <a:pt x="1" y="354"/>
                    <a:pt x="1" y="997"/>
                  </a:cubicBezTo>
                  <a:lnTo>
                    <a:pt x="1" y="3086"/>
                  </a:lnTo>
                  <a:cubicBezTo>
                    <a:pt x="1" y="3729"/>
                    <a:pt x="322" y="4083"/>
                    <a:pt x="965" y="4083"/>
                  </a:cubicBezTo>
                  <a:cubicBezTo>
                    <a:pt x="1576" y="4083"/>
                    <a:pt x="1897" y="3729"/>
                    <a:pt x="1897" y="3086"/>
                  </a:cubicBezTo>
                  <a:lnTo>
                    <a:pt x="1897" y="2540"/>
                  </a:lnTo>
                  <a:lnTo>
                    <a:pt x="1286" y="2540"/>
                  </a:lnTo>
                  <a:lnTo>
                    <a:pt x="1286" y="3118"/>
                  </a:lnTo>
                  <a:cubicBezTo>
                    <a:pt x="1286" y="3408"/>
                    <a:pt x="1158" y="3504"/>
                    <a:pt x="965" y="3504"/>
                  </a:cubicBezTo>
                  <a:cubicBezTo>
                    <a:pt x="772" y="3504"/>
                    <a:pt x="644" y="3408"/>
                    <a:pt x="644" y="3118"/>
                  </a:cubicBezTo>
                  <a:lnTo>
                    <a:pt x="644" y="965"/>
                  </a:lnTo>
                  <a:cubicBezTo>
                    <a:pt x="644" y="675"/>
                    <a:pt x="772" y="579"/>
                    <a:pt x="965" y="579"/>
                  </a:cubicBezTo>
                  <a:cubicBezTo>
                    <a:pt x="1158" y="579"/>
                    <a:pt x="1286" y="675"/>
                    <a:pt x="1286" y="965"/>
                  </a:cubicBezTo>
                  <a:lnTo>
                    <a:pt x="1286" y="1383"/>
                  </a:lnTo>
                  <a:lnTo>
                    <a:pt x="1897" y="1383"/>
                  </a:lnTo>
                  <a:lnTo>
                    <a:pt x="1897" y="997"/>
                  </a:lnTo>
                  <a:cubicBezTo>
                    <a:pt x="1897" y="354"/>
                    <a:pt x="1576" y="0"/>
                    <a:pt x="9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57"/>
            <p:cNvSpPr/>
            <p:nvPr/>
          </p:nvSpPr>
          <p:spPr>
            <a:xfrm>
              <a:off x="2176625" y="1675775"/>
              <a:ext cx="49850" cy="100475"/>
            </a:xfrm>
            <a:custGeom>
              <a:avLst/>
              <a:gdLst/>
              <a:ahLst/>
              <a:cxnLst/>
              <a:rect l="l" t="t" r="r" b="b"/>
              <a:pathLst>
                <a:path w="1994" h="4019" extrusionOk="0">
                  <a:moveTo>
                    <a:pt x="1" y="1"/>
                  </a:moveTo>
                  <a:lnTo>
                    <a:pt x="1" y="4019"/>
                  </a:lnTo>
                  <a:lnTo>
                    <a:pt x="612" y="4019"/>
                  </a:lnTo>
                  <a:lnTo>
                    <a:pt x="612" y="2315"/>
                  </a:lnTo>
                  <a:lnTo>
                    <a:pt x="1351" y="2315"/>
                  </a:lnTo>
                  <a:lnTo>
                    <a:pt x="1351" y="4019"/>
                  </a:lnTo>
                  <a:lnTo>
                    <a:pt x="1994" y="4019"/>
                  </a:lnTo>
                  <a:lnTo>
                    <a:pt x="1994" y="1"/>
                  </a:lnTo>
                  <a:lnTo>
                    <a:pt x="1351" y="1"/>
                  </a:lnTo>
                  <a:lnTo>
                    <a:pt x="1351" y="1736"/>
                  </a:lnTo>
                  <a:lnTo>
                    <a:pt x="612" y="1736"/>
                  </a:lnTo>
                  <a:lnTo>
                    <a:pt x="6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57"/>
            <p:cNvSpPr/>
            <p:nvPr/>
          </p:nvSpPr>
          <p:spPr>
            <a:xfrm>
              <a:off x="2064125" y="1418625"/>
              <a:ext cx="2607750" cy="116550"/>
            </a:xfrm>
            <a:custGeom>
              <a:avLst/>
              <a:gdLst/>
              <a:ahLst/>
              <a:cxnLst/>
              <a:rect l="l" t="t" r="r" b="b"/>
              <a:pathLst>
                <a:path w="104310" h="4662" extrusionOk="0">
                  <a:moveTo>
                    <a:pt x="1" y="0"/>
                  </a:moveTo>
                  <a:lnTo>
                    <a:pt x="1" y="4661"/>
                  </a:lnTo>
                  <a:lnTo>
                    <a:pt x="104309" y="4661"/>
                  </a:lnTo>
                  <a:lnTo>
                    <a:pt x="1043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57"/>
            <p:cNvSpPr/>
            <p:nvPr/>
          </p:nvSpPr>
          <p:spPr>
            <a:xfrm>
              <a:off x="2016725" y="3505600"/>
              <a:ext cx="176800" cy="81200"/>
            </a:xfrm>
            <a:custGeom>
              <a:avLst/>
              <a:gdLst/>
              <a:ahLst/>
              <a:cxnLst/>
              <a:rect l="l" t="t" r="r" b="b"/>
              <a:pathLst>
                <a:path w="7072" h="3248" extrusionOk="0">
                  <a:moveTo>
                    <a:pt x="0" y="1"/>
                  </a:moveTo>
                  <a:lnTo>
                    <a:pt x="0" y="3247"/>
                  </a:lnTo>
                  <a:lnTo>
                    <a:pt x="7072" y="3247"/>
                  </a:lnTo>
                  <a:lnTo>
                    <a:pt x="70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57"/>
            <p:cNvSpPr/>
            <p:nvPr/>
          </p:nvSpPr>
          <p:spPr>
            <a:xfrm>
              <a:off x="2202350" y="3505600"/>
              <a:ext cx="176825" cy="81200"/>
            </a:xfrm>
            <a:custGeom>
              <a:avLst/>
              <a:gdLst/>
              <a:ahLst/>
              <a:cxnLst/>
              <a:rect l="l" t="t" r="r" b="b"/>
              <a:pathLst>
                <a:path w="7073" h="3248" extrusionOk="0">
                  <a:moveTo>
                    <a:pt x="0" y="1"/>
                  </a:moveTo>
                  <a:lnTo>
                    <a:pt x="0" y="3247"/>
                  </a:lnTo>
                  <a:lnTo>
                    <a:pt x="7072" y="3247"/>
                  </a:lnTo>
                  <a:lnTo>
                    <a:pt x="7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57"/>
            <p:cNvSpPr/>
            <p:nvPr/>
          </p:nvSpPr>
          <p:spPr>
            <a:xfrm>
              <a:off x="2387975" y="3505600"/>
              <a:ext cx="176825" cy="81200"/>
            </a:xfrm>
            <a:custGeom>
              <a:avLst/>
              <a:gdLst/>
              <a:ahLst/>
              <a:cxnLst/>
              <a:rect l="l" t="t" r="r" b="b"/>
              <a:pathLst>
                <a:path w="7073" h="3248" extrusionOk="0">
                  <a:moveTo>
                    <a:pt x="1" y="1"/>
                  </a:moveTo>
                  <a:lnTo>
                    <a:pt x="1" y="3247"/>
                  </a:lnTo>
                  <a:lnTo>
                    <a:pt x="7073" y="3247"/>
                  </a:lnTo>
                  <a:lnTo>
                    <a:pt x="70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57"/>
            <p:cNvSpPr/>
            <p:nvPr/>
          </p:nvSpPr>
          <p:spPr>
            <a:xfrm>
              <a:off x="2573625" y="3505600"/>
              <a:ext cx="176825" cy="81200"/>
            </a:xfrm>
            <a:custGeom>
              <a:avLst/>
              <a:gdLst/>
              <a:ahLst/>
              <a:cxnLst/>
              <a:rect l="l" t="t" r="r" b="b"/>
              <a:pathLst>
                <a:path w="7073" h="3248" extrusionOk="0">
                  <a:moveTo>
                    <a:pt x="0" y="1"/>
                  </a:moveTo>
                  <a:lnTo>
                    <a:pt x="0" y="3247"/>
                  </a:lnTo>
                  <a:lnTo>
                    <a:pt x="7072" y="3247"/>
                  </a:lnTo>
                  <a:lnTo>
                    <a:pt x="7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57"/>
            <p:cNvSpPr/>
            <p:nvPr/>
          </p:nvSpPr>
          <p:spPr>
            <a:xfrm>
              <a:off x="2759250" y="3505600"/>
              <a:ext cx="176025" cy="81200"/>
            </a:xfrm>
            <a:custGeom>
              <a:avLst/>
              <a:gdLst/>
              <a:ahLst/>
              <a:cxnLst/>
              <a:rect l="l" t="t" r="r" b="b"/>
              <a:pathLst>
                <a:path w="7041" h="3248" extrusionOk="0">
                  <a:moveTo>
                    <a:pt x="1" y="1"/>
                  </a:moveTo>
                  <a:lnTo>
                    <a:pt x="1" y="3247"/>
                  </a:lnTo>
                  <a:lnTo>
                    <a:pt x="7040" y="3247"/>
                  </a:lnTo>
                  <a:lnTo>
                    <a:pt x="70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57"/>
            <p:cNvSpPr/>
            <p:nvPr/>
          </p:nvSpPr>
          <p:spPr>
            <a:xfrm>
              <a:off x="2944875" y="3505600"/>
              <a:ext cx="176025" cy="81200"/>
            </a:xfrm>
            <a:custGeom>
              <a:avLst/>
              <a:gdLst/>
              <a:ahLst/>
              <a:cxnLst/>
              <a:rect l="l" t="t" r="r" b="b"/>
              <a:pathLst>
                <a:path w="7041" h="3248" extrusionOk="0">
                  <a:moveTo>
                    <a:pt x="1" y="1"/>
                  </a:moveTo>
                  <a:lnTo>
                    <a:pt x="1" y="3247"/>
                  </a:lnTo>
                  <a:lnTo>
                    <a:pt x="7041" y="3247"/>
                  </a:lnTo>
                  <a:lnTo>
                    <a:pt x="70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57"/>
            <p:cNvSpPr/>
            <p:nvPr/>
          </p:nvSpPr>
          <p:spPr>
            <a:xfrm>
              <a:off x="3130525" y="3505600"/>
              <a:ext cx="176000" cy="81200"/>
            </a:xfrm>
            <a:custGeom>
              <a:avLst/>
              <a:gdLst/>
              <a:ahLst/>
              <a:cxnLst/>
              <a:rect l="l" t="t" r="r" b="b"/>
              <a:pathLst>
                <a:path w="7040" h="3248" extrusionOk="0">
                  <a:moveTo>
                    <a:pt x="0" y="1"/>
                  </a:moveTo>
                  <a:lnTo>
                    <a:pt x="0" y="3247"/>
                  </a:lnTo>
                  <a:lnTo>
                    <a:pt x="7040" y="3247"/>
                  </a:lnTo>
                  <a:lnTo>
                    <a:pt x="70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57"/>
            <p:cNvSpPr/>
            <p:nvPr/>
          </p:nvSpPr>
          <p:spPr>
            <a:xfrm>
              <a:off x="3316150" y="3505600"/>
              <a:ext cx="176025" cy="81200"/>
            </a:xfrm>
            <a:custGeom>
              <a:avLst/>
              <a:gdLst/>
              <a:ahLst/>
              <a:cxnLst/>
              <a:rect l="l" t="t" r="r" b="b"/>
              <a:pathLst>
                <a:path w="7041" h="3248" extrusionOk="0">
                  <a:moveTo>
                    <a:pt x="1" y="1"/>
                  </a:moveTo>
                  <a:lnTo>
                    <a:pt x="1" y="3247"/>
                  </a:lnTo>
                  <a:lnTo>
                    <a:pt x="7040" y="3247"/>
                  </a:lnTo>
                  <a:lnTo>
                    <a:pt x="70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57"/>
            <p:cNvSpPr/>
            <p:nvPr/>
          </p:nvSpPr>
          <p:spPr>
            <a:xfrm>
              <a:off x="3501800" y="3505600"/>
              <a:ext cx="176000" cy="81200"/>
            </a:xfrm>
            <a:custGeom>
              <a:avLst/>
              <a:gdLst/>
              <a:ahLst/>
              <a:cxnLst/>
              <a:rect l="l" t="t" r="r" b="b"/>
              <a:pathLst>
                <a:path w="7040" h="3248" extrusionOk="0">
                  <a:moveTo>
                    <a:pt x="0" y="1"/>
                  </a:moveTo>
                  <a:lnTo>
                    <a:pt x="0" y="3247"/>
                  </a:lnTo>
                  <a:lnTo>
                    <a:pt x="7040" y="3247"/>
                  </a:lnTo>
                  <a:lnTo>
                    <a:pt x="70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57"/>
            <p:cNvSpPr/>
            <p:nvPr/>
          </p:nvSpPr>
          <p:spPr>
            <a:xfrm>
              <a:off x="3686625" y="3505600"/>
              <a:ext cx="176825" cy="81200"/>
            </a:xfrm>
            <a:custGeom>
              <a:avLst/>
              <a:gdLst/>
              <a:ahLst/>
              <a:cxnLst/>
              <a:rect l="l" t="t" r="r" b="b"/>
              <a:pathLst>
                <a:path w="7073" h="3248" extrusionOk="0">
                  <a:moveTo>
                    <a:pt x="0" y="1"/>
                  </a:moveTo>
                  <a:lnTo>
                    <a:pt x="0" y="3247"/>
                  </a:lnTo>
                  <a:lnTo>
                    <a:pt x="7072" y="3247"/>
                  </a:lnTo>
                  <a:lnTo>
                    <a:pt x="7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57"/>
            <p:cNvSpPr/>
            <p:nvPr/>
          </p:nvSpPr>
          <p:spPr>
            <a:xfrm>
              <a:off x="3872250" y="3505600"/>
              <a:ext cx="176825" cy="81200"/>
            </a:xfrm>
            <a:custGeom>
              <a:avLst/>
              <a:gdLst/>
              <a:ahLst/>
              <a:cxnLst/>
              <a:rect l="l" t="t" r="r" b="b"/>
              <a:pathLst>
                <a:path w="7073" h="3248" extrusionOk="0">
                  <a:moveTo>
                    <a:pt x="1" y="1"/>
                  </a:moveTo>
                  <a:lnTo>
                    <a:pt x="1" y="3247"/>
                  </a:lnTo>
                  <a:lnTo>
                    <a:pt x="7072" y="3247"/>
                  </a:lnTo>
                  <a:lnTo>
                    <a:pt x="70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57"/>
            <p:cNvSpPr/>
            <p:nvPr/>
          </p:nvSpPr>
          <p:spPr>
            <a:xfrm>
              <a:off x="4057900" y="3505600"/>
              <a:ext cx="176800" cy="81200"/>
            </a:xfrm>
            <a:custGeom>
              <a:avLst/>
              <a:gdLst/>
              <a:ahLst/>
              <a:cxnLst/>
              <a:rect l="l" t="t" r="r" b="b"/>
              <a:pathLst>
                <a:path w="7072" h="3248" extrusionOk="0">
                  <a:moveTo>
                    <a:pt x="0" y="1"/>
                  </a:moveTo>
                  <a:lnTo>
                    <a:pt x="0" y="3247"/>
                  </a:lnTo>
                  <a:lnTo>
                    <a:pt x="7072" y="3247"/>
                  </a:lnTo>
                  <a:lnTo>
                    <a:pt x="7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57"/>
            <p:cNvSpPr/>
            <p:nvPr/>
          </p:nvSpPr>
          <p:spPr>
            <a:xfrm>
              <a:off x="4243525" y="3505600"/>
              <a:ext cx="176825" cy="81200"/>
            </a:xfrm>
            <a:custGeom>
              <a:avLst/>
              <a:gdLst/>
              <a:ahLst/>
              <a:cxnLst/>
              <a:rect l="l" t="t" r="r" b="b"/>
              <a:pathLst>
                <a:path w="7073" h="3248" extrusionOk="0">
                  <a:moveTo>
                    <a:pt x="0" y="1"/>
                  </a:moveTo>
                  <a:lnTo>
                    <a:pt x="0" y="3247"/>
                  </a:lnTo>
                  <a:lnTo>
                    <a:pt x="7072" y="3247"/>
                  </a:lnTo>
                  <a:lnTo>
                    <a:pt x="70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57"/>
            <p:cNvSpPr/>
            <p:nvPr/>
          </p:nvSpPr>
          <p:spPr>
            <a:xfrm>
              <a:off x="4429150" y="3505600"/>
              <a:ext cx="176825" cy="81200"/>
            </a:xfrm>
            <a:custGeom>
              <a:avLst/>
              <a:gdLst/>
              <a:ahLst/>
              <a:cxnLst/>
              <a:rect l="l" t="t" r="r" b="b"/>
              <a:pathLst>
                <a:path w="7073" h="3248" extrusionOk="0">
                  <a:moveTo>
                    <a:pt x="1" y="1"/>
                  </a:moveTo>
                  <a:lnTo>
                    <a:pt x="1" y="3247"/>
                  </a:lnTo>
                  <a:lnTo>
                    <a:pt x="7073" y="3247"/>
                  </a:lnTo>
                  <a:lnTo>
                    <a:pt x="7073" y="1"/>
                  </a:lnTo>
                  <a:close/>
                </a:path>
              </a:pathLst>
            </a:cu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57"/>
            <p:cNvSpPr/>
            <p:nvPr/>
          </p:nvSpPr>
          <p:spPr>
            <a:xfrm>
              <a:off x="4614800" y="3505600"/>
              <a:ext cx="176800" cy="81200"/>
            </a:xfrm>
            <a:custGeom>
              <a:avLst/>
              <a:gdLst/>
              <a:ahLst/>
              <a:cxnLst/>
              <a:rect l="l" t="t" r="r" b="b"/>
              <a:pathLst>
                <a:path w="7072" h="3248" extrusionOk="0">
                  <a:moveTo>
                    <a:pt x="0" y="1"/>
                  </a:moveTo>
                  <a:lnTo>
                    <a:pt x="0" y="3247"/>
                  </a:lnTo>
                  <a:lnTo>
                    <a:pt x="7072" y="3247"/>
                  </a:lnTo>
                  <a:lnTo>
                    <a:pt x="70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57"/>
            <p:cNvSpPr/>
            <p:nvPr/>
          </p:nvSpPr>
          <p:spPr>
            <a:xfrm>
              <a:off x="4800425" y="3505600"/>
              <a:ext cx="176025" cy="81200"/>
            </a:xfrm>
            <a:custGeom>
              <a:avLst/>
              <a:gdLst/>
              <a:ahLst/>
              <a:cxnLst/>
              <a:rect l="l" t="t" r="r" b="b"/>
              <a:pathLst>
                <a:path w="7041" h="3248" extrusionOk="0">
                  <a:moveTo>
                    <a:pt x="1" y="1"/>
                  </a:moveTo>
                  <a:lnTo>
                    <a:pt x="1" y="3247"/>
                  </a:lnTo>
                  <a:lnTo>
                    <a:pt x="7040" y="3247"/>
                  </a:lnTo>
                  <a:lnTo>
                    <a:pt x="70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57"/>
            <p:cNvSpPr/>
            <p:nvPr/>
          </p:nvSpPr>
          <p:spPr>
            <a:xfrm>
              <a:off x="4986050" y="3505600"/>
              <a:ext cx="176025" cy="81200"/>
            </a:xfrm>
            <a:custGeom>
              <a:avLst/>
              <a:gdLst/>
              <a:ahLst/>
              <a:cxnLst/>
              <a:rect l="l" t="t" r="r" b="b"/>
              <a:pathLst>
                <a:path w="7041" h="3248" extrusionOk="0">
                  <a:moveTo>
                    <a:pt x="1" y="1"/>
                  </a:moveTo>
                  <a:lnTo>
                    <a:pt x="1" y="3247"/>
                  </a:lnTo>
                  <a:lnTo>
                    <a:pt x="7041" y="3247"/>
                  </a:lnTo>
                  <a:lnTo>
                    <a:pt x="70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57"/>
            <p:cNvSpPr/>
            <p:nvPr/>
          </p:nvSpPr>
          <p:spPr>
            <a:xfrm>
              <a:off x="5171700" y="3505600"/>
              <a:ext cx="176000" cy="81200"/>
            </a:xfrm>
            <a:custGeom>
              <a:avLst/>
              <a:gdLst/>
              <a:ahLst/>
              <a:cxnLst/>
              <a:rect l="l" t="t" r="r" b="b"/>
              <a:pathLst>
                <a:path w="7040" h="3248" extrusionOk="0">
                  <a:moveTo>
                    <a:pt x="0" y="1"/>
                  </a:moveTo>
                  <a:lnTo>
                    <a:pt x="0" y="3247"/>
                  </a:lnTo>
                  <a:lnTo>
                    <a:pt x="7040" y="3247"/>
                  </a:lnTo>
                  <a:lnTo>
                    <a:pt x="70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57"/>
            <p:cNvSpPr/>
            <p:nvPr/>
          </p:nvSpPr>
          <p:spPr>
            <a:xfrm>
              <a:off x="5357325" y="3505600"/>
              <a:ext cx="176025" cy="81200"/>
            </a:xfrm>
            <a:custGeom>
              <a:avLst/>
              <a:gdLst/>
              <a:ahLst/>
              <a:cxnLst/>
              <a:rect l="l" t="t" r="r" b="b"/>
              <a:pathLst>
                <a:path w="7041" h="3248" extrusionOk="0">
                  <a:moveTo>
                    <a:pt x="1" y="1"/>
                  </a:moveTo>
                  <a:lnTo>
                    <a:pt x="1" y="3247"/>
                  </a:lnTo>
                  <a:lnTo>
                    <a:pt x="7040" y="3247"/>
                  </a:lnTo>
                  <a:lnTo>
                    <a:pt x="70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57"/>
            <p:cNvSpPr/>
            <p:nvPr/>
          </p:nvSpPr>
          <p:spPr>
            <a:xfrm>
              <a:off x="1902600" y="1883100"/>
              <a:ext cx="299775" cy="81200"/>
            </a:xfrm>
            <a:custGeom>
              <a:avLst/>
              <a:gdLst/>
              <a:ahLst/>
              <a:cxnLst/>
              <a:rect l="l" t="t" r="r" b="b"/>
              <a:pathLst>
                <a:path w="11991" h="3248" extrusionOk="0">
                  <a:moveTo>
                    <a:pt x="1" y="1"/>
                  </a:moveTo>
                  <a:lnTo>
                    <a:pt x="1" y="3247"/>
                  </a:lnTo>
                  <a:lnTo>
                    <a:pt x="11990" y="3247"/>
                  </a:lnTo>
                  <a:lnTo>
                    <a:pt x="119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57"/>
            <p:cNvSpPr/>
            <p:nvPr/>
          </p:nvSpPr>
          <p:spPr>
            <a:xfrm>
              <a:off x="2218425" y="1883100"/>
              <a:ext cx="300575" cy="81200"/>
            </a:xfrm>
            <a:custGeom>
              <a:avLst/>
              <a:gdLst/>
              <a:ahLst/>
              <a:cxnLst/>
              <a:rect l="l" t="t" r="r" b="b"/>
              <a:pathLst>
                <a:path w="12023" h="3248" extrusionOk="0">
                  <a:moveTo>
                    <a:pt x="0" y="1"/>
                  </a:moveTo>
                  <a:lnTo>
                    <a:pt x="0" y="3247"/>
                  </a:lnTo>
                  <a:lnTo>
                    <a:pt x="12022" y="3247"/>
                  </a:lnTo>
                  <a:lnTo>
                    <a:pt x="120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57"/>
            <p:cNvSpPr/>
            <p:nvPr/>
          </p:nvSpPr>
          <p:spPr>
            <a:xfrm>
              <a:off x="2534250" y="1883100"/>
              <a:ext cx="300575" cy="81200"/>
            </a:xfrm>
            <a:custGeom>
              <a:avLst/>
              <a:gdLst/>
              <a:ahLst/>
              <a:cxnLst/>
              <a:rect l="l" t="t" r="r" b="b"/>
              <a:pathLst>
                <a:path w="12023" h="3248" extrusionOk="0">
                  <a:moveTo>
                    <a:pt x="0" y="1"/>
                  </a:moveTo>
                  <a:lnTo>
                    <a:pt x="0" y="3247"/>
                  </a:lnTo>
                  <a:lnTo>
                    <a:pt x="12022" y="3247"/>
                  </a:lnTo>
                  <a:lnTo>
                    <a:pt x="120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57"/>
            <p:cNvSpPr/>
            <p:nvPr/>
          </p:nvSpPr>
          <p:spPr>
            <a:xfrm>
              <a:off x="2850050" y="1883100"/>
              <a:ext cx="300575" cy="81200"/>
            </a:xfrm>
            <a:custGeom>
              <a:avLst/>
              <a:gdLst/>
              <a:ahLst/>
              <a:cxnLst/>
              <a:rect l="l" t="t" r="r" b="b"/>
              <a:pathLst>
                <a:path w="12023" h="3248" extrusionOk="0">
                  <a:moveTo>
                    <a:pt x="1" y="1"/>
                  </a:moveTo>
                  <a:lnTo>
                    <a:pt x="1" y="3247"/>
                  </a:lnTo>
                  <a:lnTo>
                    <a:pt x="12023" y="3247"/>
                  </a:lnTo>
                  <a:lnTo>
                    <a:pt x="120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57"/>
            <p:cNvSpPr/>
            <p:nvPr/>
          </p:nvSpPr>
          <p:spPr>
            <a:xfrm>
              <a:off x="3166675" y="1883100"/>
              <a:ext cx="300575" cy="81200"/>
            </a:xfrm>
            <a:custGeom>
              <a:avLst/>
              <a:gdLst/>
              <a:ahLst/>
              <a:cxnLst/>
              <a:rect l="l" t="t" r="r" b="b"/>
              <a:pathLst>
                <a:path w="12023" h="3248" extrusionOk="0">
                  <a:moveTo>
                    <a:pt x="1" y="1"/>
                  </a:moveTo>
                  <a:lnTo>
                    <a:pt x="1" y="3247"/>
                  </a:lnTo>
                  <a:lnTo>
                    <a:pt x="12023" y="3247"/>
                  </a:lnTo>
                  <a:lnTo>
                    <a:pt x="1202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57"/>
            <p:cNvSpPr/>
            <p:nvPr/>
          </p:nvSpPr>
          <p:spPr>
            <a:xfrm>
              <a:off x="3482500" y="1883100"/>
              <a:ext cx="300575" cy="81200"/>
            </a:xfrm>
            <a:custGeom>
              <a:avLst/>
              <a:gdLst/>
              <a:ahLst/>
              <a:cxnLst/>
              <a:rect l="l" t="t" r="r" b="b"/>
              <a:pathLst>
                <a:path w="12023" h="3248" extrusionOk="0">
                  <a:moveTo>
                    <a:pt x="1" y="1"/>
                  </a:moveTo>
                  <a:lnTo>
                    <a:pt x="1" y="3247"/>
                  </a:lnTo>
                  <a:lnTo>
                    <a:pt x="12023" y="3247"/>
                  </a:lnTo>
                  <a:lnTo>
                    <a:pt x="120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57"/>
            <p:cNvSpPr/>
            <p:nvPr/>
          </p:nvSpPr>
          <p:spPr>
            <a:xfrm>
              <a:off x="3798325" y="1883100"/>
              <a:ext cx="300575" cy="81200"/>
            </a:xfrm>
            <a:custGeom>
              <a:avLst/>
              <a:gdLst/>
              <a:ahLst/>
              <a:cxnLst/>
              <a:rect l="l" t="t" r="r" b="b"/>
              <a:pathLst>
                <a:path w="12023" h="3248" extrusionOk="0">
                  <a:moveTo>
                    <a:pt x="0" y="1"/>
                  </a:moveTo>
                  <a:lnTo>
                    <a:pt x="0" y="3247"/>
                  </a:lnTo>
                  <a:lnTo>
                    <a:pt x="12022" y="3247"/>
                  </a:lnTo>
                  <a:lnTo>
                    <a:pt x="120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57"/>
            <p:cNvSpPr/>
            <p:nvPr/>
          </p:nvSpPr>
          <p:spPr>
            <a:xfrm>
              <a:off x="4114950" y="1883100"/>
              <a:ext cx="300575" cy="81200"/>
            </a:xfrm>
            <a:custGeom>
              <a:avLst/>
              <a:gdLst/>
              <a:ahLst/>
              <a:cxnLst/>
              <a:rect l="l" t="t" r="r" b="b"/>
              <a:pathLst>
                <a:path w="12023" h="3248" extrusionOk="0">
                  <a:moveTo>
                    <a:pt x="0" y="1"/>
                  </a:moveTo>
                  <a:lnTo>
                    <a:pt x="0" y="3247"/>
                  </a:lnTo>
                  <a:lnTo>
                    <a:pt x="12022" y="3247"/>
                  </a:lnTo>
                  <a:lnTo>
                    <a:pt x="120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57"/>
            <p:cNvSpPr/>
            <p:nvPr/>
          </p:nvSpPr>
          <p:spPr>
            <a:xfrm>
              <a:off x="4430775" y="1883100"/>
              <a:ext cx="300575" cy="81200"/>
            </a:xfrm>
            <a:custGeom>
              <a:avLst/>
              <a:gdLst/>
              <a:ahLst/>
              <a:cxnLst/>
              <a:rect l="l" t="t" r="r" b="b"/>
              <a:pathLst>
                <a:path w="12023" h="3248" extrusionOk="0">
                  <a:moveTo>
                    <a:pt x="0" y="1"/>
                  </a:moveTo>
                  <a:lnTo>
                    <a:pt x="0" y="3247"/>
                  </a:lnTo>
                  <a:lnTo>
                    <a:pt x="12022" y="3247"/>
                  </a:lnTo>
                  <a:lnTo>
                    <a:pt x="120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57"/>
            <p:cNvSpPr/>
            <p:nvPr/>
          </p:nvSpPr>
          <p:spPr>
            <a:xfrm>
              <a:off x="4746575" y="1883100"/>
              <a:ext cx="300575" cy="81200"/>
            </a:xfrm>
            <a:custGeom>
              <a:avLst/>
              <a:gdLst/>
              <a:ahLst/>
              <a:cxnLst/>
              <a:rect l="l" t="t" r="r" b="b"/>
              <a:pathLst>
                <a:path w="12023" h="3248" extrusionOk="0">
                  <a:moveTo>
                    <a:pt x="1" y="1"/>
                  </a:moveTo>
                  <a:lnTo>
                    <a:pt x="1" y="3247"/>
                  </a:lnTo>
                  <a:lnTo>
                    <a:pt x="12023" y="3247"/>
                  </a:lnTo>
                  <a:lnTo>
                    <a:pt x="120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57"/>
            <p:cNvSpPr/>
            <p:nvPr/>
          </p:nvSpPr>
          <p:spPr>
            <a:xfrm>
              <a:off x="5063200" y="1883100"/>
              <a:ext cx="299775" cy="81200"/>
            </a:xfrm>
            <a:custGeom>
              <a:avLst/>
              <a:gdLst/>
              <a:ahLst/>
              <a:cxnLst/>
              <a:rect l="l" t="t" r="r" b="b"/>
              <a:pathLst>
                <a:path w="11991" h="3248" extrusionOk="0">
                  <a:moveTo>
                    <a:pt x="1" y="1"/>
                  </a:moveTo>
                  <a:lnTo>
                    <a:pt x="1" y="3247"/>
                  </a:lnTo>
                  <a:lnTo>
                    <a:pt x="11991" y="3247"/>
                  </a:lnTo>
                  <a:lnTo>
                    <a:pt x="119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57"/>
            <p:cNvSpPr/>
            <p:nvPr/>
          </p:nvSpPr>
          <p:spPr>
            <a:xfrm>
              <a:off x="5379025" y="1883100"/>
              <a:ext cx="300575" cy="81200"/>
            </a:xfrm>
            <a:custGeom>
              <a:avLst/>
              <a:gdLst/>
              <a:ahLst/>
              <a:cxnLst/>
              <a:rect l="l" t="t" r="r" b="b"/>
              <a:pathLst>
                <a:path w="12023" h="3248" extrusionOk="0">
                  <a:moveTo>
                    <a:pt x="1" y="1"/>
                  </a:moveTo>
                  <a:lnTo>
                    <a:pt x="1" y="3247"/>
                  </a:lnTo>
                  <a:lnTo>
                    <a:pt x="12023" y="3247"/>
                  </a:lnTo>
                  <a:lnTo>
                    <a:pt x="120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57"/>
            <p:cNvSpPr/>
            <p:nvPr/>
          </p:nvSpPr>
          <p:spPr>
            <a:xfrm>
              <a:off x="3290450" y="2074375"/>
              <a:ext cx="512725" cy="198500"/>
            </a:xfrm>
            <a:custGeom>
              <a:avLst/>
              <a:gdLst/>
              <a:ahLst/>
              <a:cxnLst/>
              <a:rect l="l" t="t" r="r" b="b"/>
              <a:pathLst>
                <a:path w="20509" h="7940" extrusionOk="0">
                  <a:moveTo>
                    <a:pt x="0" y="0"/>
                  </a:moveTo>
                  <a:lnTo>
                    <a:pt x="4436" y="2218"/>
                  </a:lnTo>
                  <a:lnTo>
                    <a:pt x="4436" y="6751"/>
                  </a:lnTo>
                  <a:cubicBezTo>
                    <a:pt x="4436" y="7426"/>
                    <a:pt x="4950" y="7940"/>
                    <a:pt x="5625" y="7940"/>
                  </a:cubicBezTo>
                  <a:lnTo>
                    <a:pt x="19319" y="7940"/>
                  </a:lnTo>
                  <a:cubicBezTo>
                    <a:pt x="19962" y="7940"/>
                    <a:pt x="20508" y="7426"/>
                    <a:pt x="20508" y="6751"/>
                  </a:cubicBezTo>
                  <a:lnTo>
                    <a:pt x="20508" y="1190"/>
                  </a:lnTo>
                  <a:cubicBezTo>
                    <a:pt x="20508" y="547"/>
                    <a:pt x="19962" y="0"/>
                    <a:pt x="193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57"/>
            <p:cNvSpPr/>
            <p:nvPr/>
          </p:nvSpPr>
          <p:spPr>
            <a:xfrm>
              <a:off x="3503400" y="2106500"/>
              <a:ext cx="60300" cy="131025"/>
            </a:xfrm>
            <a:custGeom>
              <a:avLst/>
              <a:gdLst/>
              <a:ahLst/>
              <a:cxnLst/>
              <a:rect l="l" t="t" r="r" b="b"/>
              <a:pathLst>
                <a:path w="2412" h="5241" extrusionOk="0">
                  <a:moveTo>
                    <a:pt x="1190" y="1"/>
                  </a:moveTo>
                  <a:cubicBezTo>
                    <a:pt x="418" y="1"/>
                    <a:pt x="0" y="483"/>
                    <a:pt x="0" y="1287"/>
                  </a:cubicBezTo>
                  <a:lnTo>
                    <a:pt x="0" y="1576"/>
                  </a:lnTo>
                  <a:lnTo>
                    <a:pt x="772" y="1576"/>
                  </a:lnTo>
                  <a:lnTo>
                    <a:pt x="772" y="1255"/>
                  </a:lnTo>
                  <a:cubicBezTo>
                    <a:pt x="772" y="869"/>
                    <a:pt x="933" y="740"/>
                    <a:pt x="1190" y="740"/>
                  </a:cubicBezTo>
                  <a:cubicBezTo>
                    <a:pt x="1447" y="740"/>
                    <a:pt x="1608" y="869"/>
                    <a:pt x="1608" y="1319"/>
                  </a:cubicBezTo>
                  <a:lnTo>
                    <a:pt x="1608" y="1608"/>
                  </a:lnTo>
                  <a:cubicBezTo>
                    <a:pt x="1608" y="2026"/>
                    <a:pt x="1415" y="2155"/>
                    <a:pt x="1125" y="2155"/>
                  </a:cubicBezTo>
                  <a:lnTo>
                    <a:pt x="804" y="2155"/>
                  </a:lnTo>
                  <a:lnTo>
                    <a:pt x="804" y="2894"/>
                  </a:lnTo>
                  <a:lnTo>
                    <a:pt x="1061" y="2894"/>
                  </a:lnTo>
                  <a:cubicBezTo>
                    <a:pt x="1447" y="2894"/>
                    <a:pt x="1608" y="3055"/>
                    <a:pt x="1608" y="3537"/>
                  </a:cubicBezTo>
                  <a:lnTo>
                    <a:pt x="1608" y="3955"/>
                  </a:lnTo>
                  <a:cubicBezTo>
                    <a:pt x="1608" y="4405"/>
                    <a:pt x="1447" y="4533"/>
                    <a:pt x="1190" y="4533"/>
                  </a:cubicBezTo>
                  <a:cubicBezTo>
                    <a:pt x="933" y="4533"/>
                    <a:pt x="772" y="4373"/>
                    <a:pt x="772" y="4019"/>
                  </a:cubicBezTo>
                  <a:lnTo>
                    <a:pt x="772" y="3537"/>
                  </a:lnTo>
                  <a:lnTo>
                    <a:pt x="0" y="3537"/>
                  </a:lnTo>
                  <a:lnTo>
                    <a:pt x="0" y="3955"/>
                  </a:lnTo>
                  <a:cubicBezTo>
                    <a:pt x="0" y="4790"/>
                    <a:pt x="418" y="5241"/>
                    <a:pt x="1190" y="5241"/>
                  </a:cubicBezTo>
                  <a:cubicBezTo>
                    <a:pt x="1993" y="5241"/>
                    <a:pt x="2411" y="4790"/>
                    <a:pt x="2411" y="3955"/>
                  </a:cubicBezTo>
                  <a:lnTo>
                    <a:pt x="2411" y="3569"/>
                  </a:lnTo>
                  <a:cubicBezTo>
                    <a:pt x="2411" y="3055"/>
                    <a:pt x="2251" y="2669"/>
                    <a:pt x="1833" y="2476"/>
                  </a:cubicBezTo>
                  <a:cubicBezTo>
                    <a:pt x="2218" y="2315"/>
                    <a:pt x="2411" y="1962"/>
                    <a:pt x="2411" y="1415"/>
                  </a:cubicBezTo>
                  <a:lnTo>
                    <a:pt x="2411" y="1287"/>
                  </a:lnTo>
                  <a:cubicBezTo>
                    <a:pt x="2411" y="483"/>
                    <a:pt x="1993" y="1"/>
                    <a:pt x="11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57"/>
            <p:cNvSpPr/>
            <p:nvPr/>
          </p:nvSpPr>
          <p:spPr>
            <a:xfrm>
              <a:off x="3575725" y="2106500"/>
              <a:ext cx="61100" cy="131025"/>
            </a:xfrm>
            <a:custGeom>
              <a:avLst/>
              <a:gdLst/>
              <a:ahLst/>
              <a:cxnLst/>
              <a:rect l="l" t="t" r="r" b="b"/>
              <a:pathLst>
                <a:path w="2444" h="5241" extrusionOk="0">
                  <a:moveTo>
                    <a:pt x="1222" y="740"/>
                  </a:moveTo>
                  <a:cubicBezTo>
                    <a:pt x="1479" y="740"/>
                    <a:pt x="1640" y="869"/>
                    <a:pt x="1640" y="1255"/>
                  </a:cubicBezTo>
                  <a:lnTo>
                    <a:pt x="1640" y="4019"/>
                  </a:lnTo>
                  <a:cubicBezTo>
                    <a:pt x="1640" y="4373"/>
                    <a:pt x="1479" y="4533"/>
                    <a:pt x="1222" y="4533"/>
                  </a:cubicBezTo>
                  <a:cubicBezTo>
                    <a:pt x="965" y="4533"/>
                    <a:pt x="804" y="4373"/>
                    <a:pt x="804" y="4019"/>
                  </a:cubicBezTo>
                  <a:lnTo>
                    <a:pt x="804" y="1255"/>
                  </a:lnTo>
                  <a:cubicBezTo>
                    <a:pt x="804" y="869"/>
                    <a:pt x="965" y="740"/>
                    <a:pt x="1222" y="740"/>
                  </a:cubicBezTo>
                  <a:close/>
                  <a:moveTo>
                    <a:pt x="1222" y="1"/>
                  </a:moveTo>
                  <a:cubicBezTo>
                    <a:pt x="418" y="1"/>
                    <a:pt x="0" y="483"/>
                    <a:pt x="0" y="1287"/>
                  </a:cubicBezTo>
                  <a:lnTo>
                    <a:pt x="0" y="3955"/>
                  </a:lnTo>
                  <a:cubicBezTo>
                    <a:pt x="0" y="4790"/>
                    <a:pt x="418" y="5241"/>
                    <a:pt x="1222" y="5241"/>
                  </a:cubicBezTo>
                  <a:cubicBezTo>
                    <a:pt x="1993" y="5241"/>
                    <a:pt x="2443" y="4790"/>
                    <a:pt x="2443" y="3955"/>
                  </a:cubicBezTo>
                  <a:lnTo>
                    <a:pt x="2443" y="1287"/>
                  </a:lnTo>
                  <a:cubicBezTo>
                    <a:pt x="2443" y="483"/>
                    <a:pt x="1993" y="1"/>
                    <a:pt x="12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57"/>
            <p:cNvSpPr/>
            <p:nvPr/>
          </p:nvSpPr>
          <p:spPr>
            <a:xfrm>
              <a:off x="3649650" y="2108125"/>
              <a:ext cx="66725" cy="128600"/>
            </a:xfrm>
            <a:custGeom>
              <a:avLst/>
              <a:gdLst/>
              <a:ahLst/>
              <a:cxnLst/>
              <a:rect l="l" t="t" r="r" b="b"/>
              <a:pathLst>
                <a:path w="2669" h="5144" extrusionOk="0">
                  <a:moveTo>
                    <a:pt x="1" y="0"/>
                  </a:moveTo>
                  <a:lnTo>
                    <a:pt x="1" y="5143"/>
                  </a:lnTo>
                  <a:lnTo>
                    <a:pt x="804" y="5143"/>
                  </a:lnTo>
                  <a:lnTo>
                    <a:pt x="804" y="3568"/>
                  </a:lnTo>
                  <a:lnTo>
                    <a:pt x="1061" y="3086"/>
                  </a:lnTo>
                  <a:lnTo>
                    <a:pt x="1833" y="5143"/>
                  </a:lnTo>
                  <a:lnTo>
                    <a:pt x="2669" y="5143"/>
                  </a:lnTo>
                  <a:lnTo>
                    <a:pt x="1544" y="2283"/>
                  </a:lnTo>
                  <a:lnTo>
                    <a:pt x="2669" y="0"/>
                  </a:lnTo>
                  <a:lnTo>
                    <a:pt x="1865" y="0"/>
                  </a:lnTo>
                  <a:lnTo>
                    <a:pt x="804" y="2250"/>
                  </a:lnTo>
                  <a:lnTo>
                    <a:pt x="8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57"/>
            <p:cNvSpPr/>
            <p:nvPr/>
          </p:nvSpPr>
          <p:spPr>
            <a:xfrm>
              <a:off x="2318075" y="3979725"/>
              <a:ext cx="69125" cy="148700"/>
            </a:xfrm>
            <a:custGeom>
              <a:avLst/>
              <a:gdLst/>
              <a:ahLst/>
              <a:cxnLst/>
              <a:rect l="l" t="t" r="r" b="b"/>
              <a:pathLst>
                <a:path w="2765" h="5948" extrusionOk="0">
                  <a:moveTo>
                    <a:pt x="161" y="1"/>
                  </a:moveTo>
                  <a:lnTo>
                    <a:pt x="0" y="3408"/>
                  </a:lnTo>
                  <a:lnTo>
                    <a:pt x="868" y="3408"/>
                  </a:lnTo>
                  <a:lnTo>
                    <a:pt x="868" y="3215"/>
                  </a:lnTo>
                  <a:cubicBezTo>
                    <a:pt x="868" y="2797"/>
                    <a:pt x="1061" y="2637"/>
                    <a:pt x="1350" y="2637"/>
                  </a:cubicBezTo>
                  <a:cubicBezTo>
                    <a:pt x="1640" y="2637"/>
                    <a:pt x="1833" y="2797"/>
                    <a:pt x="1833" y="3215"/>
                  </a:cubicBezTo>
                  <a:lnTo>
                    <a:pt x="1833" y="4533"/>
                  </a:lnTo>
                  <a:cubicBezTo>
                    <a:pt x="1833" y="4951"/>
                    <a:pt x="1640" y="5112"/>
                    <a:pt x="1350" y="5112"/>
                  </a:cubicBezTo>
                  <a:cubicBezTo>
                    <a:pt x="1061" y="5112"/>
                    <a:pt x="868" y="4951"/>
                    <a:pt x="868" y="4533"/>
                  </a:cubicBezTo>
                  <a:lnTo>
                    <a:pt x="868" y="3987"/>
                  </a:lnTo>
                  <a:lnTo>
                    <a:pt x="0" y="3987"/>
                  </a:lnTo>
                  <a:lnTo>
                    <a:pt x="0" y="4469"/>
                  </a:lnTo>
                  <a:cubicBezTo>
                    <a:pt x="0" y="5401"/>
                    <a:pt x="482" y="5948"/>
                    <a:pt x="1383" y="5948"/>
                  </a:cubicBezTo>
                  <a:cubicBezTo>
                    <a:pt x="2283" y="5948"/>
                    <a:pt x="2765" y="5401"/>
                    <a:pt x="2765" y="4469"/>
                  </a:cubicBezTo>
                  <a:lnTo>
                    <a:pt x="2765" y="3151"/>
                  </a:lnTo>
                  <a:cubicBezTo>
                    <a:pt x="2765" y="2283"/>
                    <a:pt x="2411" y="1801"/>
                    <a:pt x="1736" y="1801"/>
                  </a:cubicBezTo>
                  <a:cubicBezTo>
                    <a:pt x="1350" y="1801"/>
                    <a:pt x="1093" y="1962"/>
                    <a:pt x="932" y="2251"/>
                  </a:cubicBezTo>
                  <a:lnTo>
                    <a:pt x="997" y="837"/>
                  </a:lnTo>
                  <a:lnTo>
                    <a:pt x="2604" y="837"/>
                  </a:lnTo>
                  <a:lnTo>
                    <a:pt x="26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57"/>
            <p:cNvSpPr/>
            <p:nvPr/>
          </p:nvSpPr>
          <p:spPr>
            <a:xfrm>
              <a:off x="2400050" y="3978125"/>
              <a:ext cx="70725" cy="150300"/>
            </a:xfrm>
            <a:custGeom>
              <a:avLst/>
              <a:gdLst/>
              <a:ahLst/>
              <a:cxnLst/>
              <a:rect l="l" t="t" r="r" b="b"/>
              <a:pathLst>
                <a:path w="2829" h="6012" extrusionOk="0">
                  <a:moveTo>
                    <a:pt x="1414" y="836"/>
                  </a:moveTo>
                  <a:cubicBezTo>
                    <a:pt x="1704" y="836"/>
                    <a:pt x="1897" y="997"/>
                    <a:pt x="1897" y="1415"/>
                  </a:cubicBezTo>
                  <a:lnTo>
                    <a:pt x="1897" y="4597"/>
                  </a:lnTo>
                  <a:cubicBezTo>
                    <a:pt x="1897" y="5015"/>
                    <a:pt x="1704" y="5176"/>
                    <a:pt x="1414" y="5176"/>
                  </a:cubicBezTo>
                  <a:cubicBezTo>
                    <a:pt x="1125" y="5176"/>
                    <a:pt x="932" y="5015"/>
                    <a:pt x="932" y="4597"/>
                  </a:cubicBezTo>
                  <a:lnTo>
                    <a:pt x="932" y="1415"/>
                  </a:lnTo>
                  <a:cubicBezTo>
                    <a:pt x="932" y="997"/>
                    <a:pt x="1125" y="836"/>
                    <a:pt x="1414" y="836"/>
                  </a:cubicBezTo>
                  <a:close/>
                  <a:moveTo>
                    <a:pt x="1414" y="1"/>
                  </a:moveTo>
                  <a:cubicBezTo>
                    <a:pt x="514" y="1"/>
                    <a:pt x="0" y="515"/>
                    <a:pt x="0" y="1479"/>
                  </a:cubicBezTo>
                  <a:lnTo>
                    <a:pt x="0" y="4533"/>
                  </a:lnTo>
                  <a:cubicBezTo>
                    <a:pt x="0" y="5465"/>
                    <a:pt x="514" y="6012"/>
                    <a:pt x="1414" y="6012"/>
                  </a:cubicBezTo>
                  <a:cubicBezTo>
                    <a:pt x="2314" y="6012"/>
                    <a:pt x="2829" y="5465"/>
                    <a:pt x="2829" y="4533"/>
                  </a:cubicBezTo>
                  <a:lnTo>
                    <a:pt x="2829" y="1479"/>
                  </a:lnTo>
                  <a:cubicBezTo>
                    <a:pt x="2829" y="515"/>
                    <a:pt x="2314" y="1"/>
                    <a:pt x="1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57"/>
            <p:cNvSpPr/>
            <p:nvPr/>
          </p:nvSpPr>
          <p:spPr>
            <a:xfrm>
              <a:off x="2483625" y="3978125"/>
              <a:ext cx="70725" cy="150300"/>
            </a:xfrm>
            <a:custGeom>
              <a:avLst/>
              <a:gdLst/>
              <a:ahLst/>
              <a:cxnLst/>
              <a:rect l="l" t="t" r="r" b="b"/>
              <a:pathLst>
                <a:path w="2829" h="6012" extrusionOk="0">
                  <a:moveTo>
                    <a:pt x="1414" y="836"/>
                  </a:moveTo>
                  <a:cubicBezTo>
                    <a:pt x="1704" y="836"/>
                    <a:pt x="1897" y="997"/>
                    <a:pt x="1897" y="1415"/>
                  </a:cubicBezTo>
                  <a:lnTo>
                    <a:pt x="1897" y="4597"/>
                  </a:lnTo>
                  <a:cubicBezTo>
                    <a:pt x="1897" y="5015"/>
                    <a:pt x="1704" y="5176"/>
                    <a:pt x="1414" y="5176"/>
                  </a:cubicBezTo>
                  <a:cubicBezTo>
                    <a:pt x="1125" y="5176"/>
                    <a:pt x="932" y="5015"/>
                    <a:pt x="932" y="4597"/>
                  </a:cubicBezTo>
                  <a:lnTo>
                    <a:pt x="932" y="1415"/>
                  </a:lnTo>
                  <a:cubicBezTo>
                    <a:pt x="932" y="997"/>
                    <a:pt x="1125" y="836"/>
                    <a:pt x="1414" y="836"/>
                  </a:cubicBezTo>
                  <a:close/>
                  <a:moveTo>
                    <a:pt x="1414" y="1"/>
                  </a:moveTo>
                  <a:cubicBezTo>
                    <a:pt x="514" y="1"/>
                    <a:pt x="0" y="515"/>
                    <a:pt x="0" y="1479"/>
                  </a:cubicBezTo>
                  <a:lnTo>
                    <a:pt x="0" y="4533"/>
                  </a:lnTo>
                  <a:cubicBezTo>
                    <a:pt x="0" y="5465"/>
                    <a:pt x="514" y="6012"/>
                    <a:pt x="1414" y="6012"/>
                  </a:cubicBezTo>
                  <a:cubicBezTo>
                    <a:pt x="2314" y="6012"/>
                    <a:pt x="2829" y="5465"/>
                    <a:pt x="2829" y="4533"/>
                  </a:cubicBezTo>
                  <a:lnTo>
                    <a:pt x="2829" y="1479"/>
                  </a:lnTo>
                  <a:cubicBezTo>
                    <a:pt x="2829" y="515"/>
                    <a:pt x="2314" y="1"/>
                    <a:pt x="1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57"/>
            <p:cNvSpPr/>
            <p:nvPr/>
          </p:nvSpPr>
          <p:spPr>
            <a:xfrm>
              <a:off x="2568800" y="3979725"/>
              <a:ext cx="76375" cy="147100"/>
            </a:xfrm>
            <a:custGeom>
              <a:avLst/>
              <a:gdLst/>
              <a:ahLst/>
              <a:cxnLst/>
              <a:rect l="l" t="t" r="r" b="b"/>
              <a:pathLst>
                <a:path w="3055" h="5884" extrusionOk="0">
                  <a:moveTo>
                    <a:pt x="0" y="1"/>
                  </a:moveTo>
                  <a:lnTo>
                    <a:pt x="0" y="5883"/>
                  </a:lnTo>
                  <a:lnTo>
                    <a:pt x="933" y="5883"/>
                  </a:lnTo>
                  <a:lnTo>
                    <a:pt x="933" y="4083"/>
                  </a:lnTo>
                  <a:lnTo>
                    <a:pt x="1222" y="3537"/>
                  </a:lnTo>
                  <a:lnTo>
                    <a:pt x="2122" y="5883"/>
                  </a:lnTo>
                  <a:lnTo>
                    <a:pt x="3054" y="5883"/>
                  </a:lnTo>
                  <a:lnTo>
                    <a:pt x="1768" y="2605"/>
                  </a:lnTo>
                  <a:lnTo>
                    <a:pt x="3054" y="1"/>
                  </a:lnTo>
                  <a:lnTo>
                    <a:pt x="2154" y="1"/>
                  </a:lnTo>
                  <a:lnTo>
                    <a:pt x="933" y="2572"/>
                  </a:lnTo>
                  <a:lnTo>
                    <a:pt x="9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57"/>
            <p:cNvSpPr/>
            <p:nvPr/>
          </p:nvSpPr>
          <p:spPr>
            <a:xfrm>
              <a:off x="2310025" y="4223225"/>
              <a:ext cx="337550" cy="12875"/>
            </a:xfrm>
            <a:custGeom>
              <a:avLst/>
              <a:gdLst/>
              <a:ahLst/>
              <a:cxnLst/>
              <a:rect l="l" t="t" r="r" b="b"/>
              <a:pathLst>
                <a:path w="13502" h="515" extrusionOk="0">
                  <a:moveTo>
                    <a:pt x="1" y="1"/>
                  </a:moveTo>
                  <a:lnTo>
                    <a:pt x="1" y="515"/>
                  </a:lnTo>
                  <a:lnTo>
                    <a:pt x="13502" y="515"/>
                  </a:lnTo>
                  <a:lnTo>
                    <a:pt x="135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57"/>
            <p:cNvSpPr/>
            <p:nvPr/>
          </p:nvSpPr>
          <p:spPr>
            <a:xfrm>
              <a:off x="3584550" y="3979725"/>
              <a:ext cx="69150" cy="148700"/>
            </a:xfrm>
            <a:custGeom>
              <a:avLst/>
              <a:gdLst/>
              <a:ahLst/>
              <a:cxnLst/>
              <a:rect l="l" t="t" r="r" b="b"/>
              <a:pathLst>
                <a:path w="2766" h="5948" extrusionOk="0">
                  <a:moveTo>
                    <a:pt x="162" y="1"/>
                  </a:moveTo>
                  <a:lnTo>
                    <a:pt x="1" y="3408"/>
                  </a:lnTo>
                  <a:lnTo>
                    <a:pt x="869" y="3408"/>
                  </a:lnTo>
                  <a:lnTo>
                    <a:pt x="869" y="3215"/>
                  </a:lnTo>
                  <a:cubicBezTo>
                    <a:pt x="869" y="2797"/>
                    <a:pt x="1062" y="2637"/>
                    <a:pt x="1351" y="2637"/>
                  </a:cubicBezTo>
                  <a:cubicBezTo>
                    <a:pt x="1640" y="2637"/>
                    <a:pt x="1833" y="2797"/>
                    <a:pt x="1833" y="3215"/>
                  </a:cubicBezTo>
                  <a:lnTo>
                    <a:pt x="1833" y="4533"/>
                  </a:lnTo>
                  <a:cubicBezTo>
                    <a:pt x="1833" y="4951"/>
                    <a:pt x="1640" y="5112"/>
                    <a:pt x="1351" y="5112"/>
                  </a:cubicBezTo>
                  <a:cubicBezTo>
                    <a:pt x="1062" y="5112"/>
                    <a:pt x="869" y="4951"/>
                    <a:pt x="869" y="4533"/>
                  </a:cubicBezTo>
                  <a:lnTo>
                    <a:pt x="869" y="3987"/>
                  </a:lnTo>
                  <a:lnTo>
                    <a:pt x="1" y="3987"/>
                  </a:lnTo>
                  <a:lnTo>
                    <a:pt x="1" y="4469"/>
                  </a:lnTo>
                  <a:cubicBezTo>
                    <a:pt x="1" y="5401"/>
                    <a:pt x="451" y="5948"/>
                    <a:pt x="1383" y="5948"/>
                  </a:cubicBezTo>
                  <a:cubicBezTo>
                    <a:pt x="2283" y="5948"/>
                    <a:pt x="2765" y="5401"/>
                    <a:pt x="2765" y="4469"/>
                  </a:cubicBezTo>
                  <a:lnTo>
                    <a:pt x="2765" y="3151"/>
                  </a:lnTo>
                  <a:cubicBezTo>
                    <a:pt x="2765" y="2283"/>
                    <a:pt x="2412" y="1801"/>
                    <a:pt x="1737" y="1801"/>
                  </a:cubicBezTo>
                  <a:cubicBezTo>
                    <a:pt x="1351" y="1801"/>
                    <a:pt x="1094" y="1962"/>
                    <a:pt x="933" y="2251"/>
                  </a:cubicBezTo>
                  <a:lnTo>
                    <a:pt x="997" y="837"/>
                  </a:lnTo>
                  <a:lnTo>
                    <a:pt x="2605" y="837"/>
                  </a:lnTo>
                  <a:lnTo>
                    <a:pt x="26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57"/>
            <p:cNvSpPr/>
            <p:nvPr/>
          </p:nvSpPr>
          <p:spPr>
            <a:xfrm>
              <a:off x="3666525" y="3978125"/>
              <a:ext cx="70750" cy="150300"/>
            </a:xfrm>
            <a:custGeom>
              <a:avLst/>
              <a:gdLst/>
              <a:ahLst/>
              <a:cxnLst/>
              <a:rect l="l" t="t" r="r" b="b"/>
              <a:pathLst>
                <a:path w="2830" h="6012" extrusionOk="0">
                  <a:moveTo>
                    <a:pt x="1415" y="836"/>
                  </a:moveTo>
                  <a:cubicBezTo>
                    <a:pt x="1704" y="836"/>
                    <a:pt x="1897" y="997"/>
                    <a:pt x="1897" y="1415"/>
                  </a:cubicBezTo>
                  <a:lnTo>
                    <a:pt x="1897" y="4597"/>
                  </a:lnTo>
                  <a:cubicBezTo>
                    <a:pt x="1897" y="5015"/>
                    <a:pt x="1704" y="5176"/>
                    <a:pt x="1415" y="5176"/>
                  </a:cubicBezTo>
                  <a:cubicBezTo>
                    <a:pt x="1126" y="5176"/>
                    <a:pt x="933" y="5015"/>
                    <a:pt x="933" y="4597"/>
                  </a:cubicBezTo>
                  <a:lnTo>
                    <a:pt x="933" y="1415"/>
                  </a:lnTo>
                  <a:cubicBezTo>
                    <a:pt x="933" y="997"/>
                    <a:pt x="1126" y="836"/>
                    <a:pt x="1415" y="836"/>
                  </a:cubicBezTo>
                  <a:close/>
                  <a:moveTo>
                    <a:pt x="1415" y="1"/>
                  </a:moveTo>
                  <a:cubicBezTo>
                    <a:pt x="515" y="1"/>
                    <a:pt x="1" y="515"/>
                    <a:pt x="1" y="1479"/>
                  </a:cubicBezTo>
                  <a:lnTo>
                    <a:pt x="1" y="4533"/>
                  </a:lnTo>
                  <a:cubicBezTo>
                    <a:pt x="1" y="5465"/>
                    <a:pt x="515" y="6012"/>
                    <a:pt x="1415" y="6012"/>
                  </a:cubicBezTo>
                  <a:cubicBezTo>
                    <a:pt x="2315" y="6012"/>
                    <a:pt x="2829" y="5465"/>
                    <a:pt x="2829" y="4533"/>
                  </a:cubicBezTo>
                  <a:lnTo>
                    <a:pt x="2829" y="1479"/>
                  </a:lnTo>
                  <a:cubicBezTo>
                    <a:pt x="2829" y="515"/>
                    <a:pt x="2315" y="1"/>
                    <a:pt x="1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57"/>
            <p:cNvSpPr/>
            <p:nvPr/>
          </p:nvSpPr>
          <p:spPr>
            <a:xfrm>
              <a:off x="3750100" y="3978125"/>
              <a:ext cx="70750" cy="150300"/>
            </a:xfrm>
            <a:custGeom>
              <a:avLst/>
              <a:gdLst/>
              <a:ahLst/>
              <a:cxnLst/>
              <a:rect l="l" t="t" r="r" b="b"/>
              <a:pathLst>
                <a:path w="2830" h="6012" extrusionOk="0">
                  <a:moveTo>
                    <a:pt x="1415" y="836"/>
                  </a:moveTo>
                  <a:cubicBezTo>
                    <a:pt x="1704" y="836"/>
                    <a:pt x="1897" y="997"/>
                    <a:pt x="1897" y="1415"/>
                  </a:cubicBezTo>
                  <a:lnTo>
                    <a:pt x="1897" y="4597"/>
                  </a:lnTo>
                  <a:cubicBezTo>
                    <a:pt x="1897" y="5015"/>
                    <a:pt x="1704" y="5176"/>
                    <a:pt x="1415" y="5176"/>
                  </a:cubicBezTo>
                  <a:cubicBezTo>
                    <a:pt x="1126" y="5176"/>
                    <a:pt x="933" y="5015"/>
                    <a:pt x="933" y="4597"/>
                  </a:cubicBezTo>
                  <a:lnTo>
                    <a:pt x="933" y="1415"/>
                  </a:lnTo>
                  <a:cubicBezTo>
                    <a:pt x="933" y="997"/>
                    <a:pt x="1126" y="836"/>
                    <a:pt x="1415" y="836"/>
                  </a:cubicBezTo>
                  <a:close/>
                  <a:moveTo>
                    <a:pt x="1415" y="1"/>
                  </a:moveTo>
                  <a:cubicBezTo>
                    <a:pt x="515" y="1"/>
                    <a:pt x="1" y="515"/>
                    <a:pt x="1" y="1479"/>
                  </a:cubicBezTo>
                  <a:lnTo>
                    <a:pt x="1" y="4533"/>
                  </a:lnTo>
                  <a:cubicBezTo>
                    <a:pt x="1" y="5465"/>
                    <a:pt x="515" y="6012"/>
                    <a:pt x="1415" y="6012"/>
                  </a:cubicBezTo>
                  <a:cubicBezTo>
                    <a:pt x="2315" y="6012"/>
                    <a:pt x="2829" y="5465"/>
                    <a:pt x="2829" y="4533"/>
                  </a:cubicBezTo>
                  <a:lnTo>
                    <a:pt x="2829" y="1479"/>
                  </a:lnTo>
                  <a:cubicBezTo>
                    <a:pt x="2829" y="515"/>
                    <a:pt x="2315" y="1"/>
                    <a:pt x="1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57"/>
            <p:cNvSpPr/>
            <p:nvPr/>
          </p:nvSpPr>
          <p:spPr>
            <a:xfrm>
              <a:off x="3835300" y="3979725"/>
              <a:ext cx="76350" cy="147100"/>
            </a:xfrm>
            <a:custGeom>
              <a:avLst/>
              <a:gdLst/>
              <a:ahLst/>
              <a:cxnLst/>
              <a:rect l="l" t="t" r="r" b="b"/>
              <a:pathLst>
                <a:path w="3054" h="5884" extrusionOk="0">
                  <a:moveTo>
                    <a:pt x="0" y="1"/>
                  </a:moveTo>
                  <a:lnTo>
                    <a:pt x="0" y="5883"/>
                  </a:lnTo>
                  <a:lnTo>
                    <a:pt x="932" y="5883"/>
                  </a:lnTo>
                  <a:lnTo>
                    <a:pt x="932" y="4083"/>
                  </a:lnTo>
                  <a:lnTo>
                    <a:pt x="1222" y="3537"/>
                  </a:lnTo>
                  <a:lnTo>
                    <a:pt x="2122" y="5883"/>
                  </a:lnTo>
                  <a:lnTo>
                    <a:pt x="3054" y="5883"/>
                  </a:lnTo>
                  <a:lnTo>
                    <a:pt x="1768" y="2605"/>
                  </a:lnTo>
                  <a:lnTo>
                    <a:pt x="3054" y="1"/>
                  </a:lnTo>
                  <a:lnTo>
                    <a:pt x="2154" y="1"/>
                  </a:lnTo>
                  <a:lnTo>
                    <a:pt x="932" y="2572"/>
                  </a:lnTo>
                  <a:lnTo>
                    <a:pt x="9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57"/>
            <p:cNvSpPr/>
            <p:nvPr/>
          </p:nvSpPr>
          <p:spPr>
            <a:xfrm>
              <a:off x="3576525" y="4223225"/>
              <a:ext cx="337550" cy="12875"/>
            </a:xfrm>
            <a:custGeom>
              <a:avLst/>
              <a:gdLst/>
              <a:ahLst/>
              <a:cxnLst/>
              <a:rect l="l" t="t" r="r" b="b"/>
              <a:pathLst>
                <a:path w="13502" h="515" extrusionOk="0">
                  <a:moveTo>
                    <a:pt x="1" y="1"/>
                  </a:moveTo>
                  <a:lnTo>
                    <a:pt x="1" y="515"/>
                  </a:lnTo>
                  <a:lnTo>
                    <a:pt x="13501" y="515"/>
                  </a:lnTo>
                  <a:lnTo>
                    <a:pt x="13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57"/>
            <p:cNvSpPr/>
            <p:nvPr/>
          </p:nvSpPr>
          <p:spPr>
            <a:xfrm>
              <a:off x="4959550" y="3979725"/>
              <a:ext cx="69125" cy="148700"/>
            </a:xfrm>
            <a:custGeom>
              <a:avLst/>
              <a:gdLst/>
              <a:ahLst/>
              <a:cxnLst/>
              <a:rect l="l" t="t" r="r" b="b"/>
              <a:pathLst>
                <a:path w="2765" h="5948" extrusionOk="0">
                  <a:moveTo>
                    <a:pt x="161" y="1"/>
                  </a:moveTo>
                  <a:lnTo>
                    <a:pt x="0" y="3408"/>
                  </a:lnTo>
                  <a:lnTo>
                    <a:pt x="868" y="3408"/>
                  </a:lnTo>
                  <a:lnTo>
                    <a:pt x="868" y="3215"/>
                  </a:lnTo>
                  <a:cubicBezTo>
                    <a:pt x="868" y="2797"/>
                    <a:pt x="1061" y="2637"/>
                    <a:pt x="1350" y="2637"/>
                  </a:cubicBezTo>
                  <a:cubicBezTo>
                    <a:pt x="1640" y="2637"/>
                    <a:pt x="1832" y="2797"/>
                    <a:pt x="1832" y="3215"/>
                  </a:cubicBezTo>
                  <a:lnTo>
                    <a:pt x="1832" y="4533"/>
                  </a:lnTo>
                  <a:cubicBezTo>
                    <a:pt x="1832" y="4951"/>
                    <a:pt x="1640" y="5112"/>
                    <a:pt x="1350" y="5112"/>
                  </a:cubicBezTo>
                  <a:cubicBezTo>
                    <a:pt x="1061" y="5112"/>
                    <a:pt x="868" y="4951"/>
                    <a:pt x="868" y="4533"/>
                  </a:cubicBezTo>
                  <a:lnTo>
                    <a:pt x="868" y="3987"/>
                  </a:lnTo>
                  <a:lnTo>
                    <a:pt x="0" y="3987"/>
                  </a:lnTo>
                  <a:lnTo>
                    <a:pt x="0" y="4469"/>
                  </a:lnTo>
                  <a:cubicBezTo>
                    <a:pt x="0" y="5401"/>
                    <a:pt x="482" y="5948"/>
                    <a:pt x="1382" y="5948"/>
                  </a:cubicBezTo>
                  <a:cubicBezTo>
                    <a:pt x="2282" y="5948"/>
                    <a:pt x="2765" y="5401"/>
                    <a:pt x="2765" y="4469"/>
                  </a:cubicBezTo>
                  <a:lnTo>
                    <a:pt x="2765" y="3151"/>
                  </a:lnTo>
                  <a:cubicBezTo>
                    <a:pt x="2765" y="2283"/>
                    <a:pt x="2411" y="1801"/>
                    <a:pt x="1736" y="1801"/>
                  </a:cubicBezTo>
                  <a:cubicBezTo>
                    <a:pt x="1350" y="1801"/>
                    <a:pt x="1093" y="1962"/>
                    <a:pt x="932" y="2251"/>
                  </a:cubicBezTo>
                  <a:lnTo>
                    <a:pt x="997" y="837"/>
                  </a:lnTo>
                  <a:lnTo>
                    <a:pt x="2604" y="837"/>
                  </a:lnTo>
                  <a:lnTo>
                    <a:pt x="26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57"/>
            <p:cNvSpPr/>
            <p:nvPr/>
          </p:nvSpPr>
          <p:spPr>
            <a:xfrm>
              <a:off x="5042325" y="3978125"/>
              <a:ext cx="69925" cy="150300"/>
            </a:xfrm>
            <a:custGeom>
              <a:avLst/>
              <a:gdLst/>
              <a:ahLst/>
              <a:cxnLst/>
              <a:rect l="l" t="t" r="r" b="b"/>
              <a:pathLst>
                <a:path w="2797" h="6012" extrusionOk="0">
                  <a:moveTo>
                    <a:pt x="1382" y="836"/>
                  </a:moveTo>
                  <a:cubicBezTo>
                    <a:pt x="1672" y="836"/>
                    <a:pt x="1864" y="997"/>
                    <a:pt x="1864" y="1415"/>
                  </a:cubicBezTo>
                  <a:lnTo>
                    <a:pt x="1864" y="4597"/>
                  </a:lnTo>
                  <a:cubicBezTo>
                    <a:pt x="1864" y="5015"/>
                    <a:pt x="1672" y="5176"/>
                    <a:pt x="1382" y="5176"/>
                  </a:cubicBezTo>
                  <a:cubicBezTo>
                    <a:pt x="1093" y="5176"/>
                    <a:pt x="900" y="5015"/>
                    <a:pt x="900" y="4597"/>
                  </a:cubicBezTo>
                  <a:lnTo>
                    <a:pt x="900" y="1415"/>
                  </a:lnTo>
                  <a:cubicBezTo>
                    <a:pt x="900" y="997"/>
                    <a:pt x="1093" y="836"/>
                    <a:pt x="1382" y="836"/>
                  </a:cubicBezTo>
                  <a:close/>
                  <a:moveTo>
                    <a:pt x="1382" y="1"/>
                  </a:moveTo>
                  <a:cubicBezTo>
                    <a:pt x="482" y="1"/>
                    <a:pt x="0" y="515"/>
                    <a:pt x="0" y="1479"/>
                  </a:cubicBezTo>
                  <a:lnTo>
                    <a:pt x="0" y="4533"/>
                  </a:lnTo>
                  <a:cubicBezTo>
                    <a:pt x="0" y="5465"/>
                    <a:pt x="482" y="6012"/>
                    <a:pt x="1382" y="6012"/>
                  </a:cubicBezTo>
                  <a:cubicBezTo>
                    <a:pt x="2314" y="6012"/>
                    <a:pt x="2797" y="5465"/>
                    <a:pt x="2797" y="4533"/>
                  </a:cubicBezTo>
                  <a:lnTo>
                    <a:pt x="2797" y="1479"/>
                  </a:lnTo>
                  <a:cubicBezTo>
                    <a:pt x="2797" y="515"/>
                    <a:pt x="2314" y="1"/>
                    <a:pt x="1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57"/>
            <p:cNvSpPr/>
            <p:nvPr/>
          </p:nvSpPr>
          <p:spPr>
            <a:xfrm>
              <a:off x="5125075" y="3978125"/>
              <a:ext cx="70750" cy="150300"/>
            </a:xfrm>
            <a:custGeom>
              <a:avLst/>
              <a:gdLst/>
              <a:ahLst/>
              <a:cxnLst/>
              <a:rect l="l" t="t" r="r" b="b"/>
              <a:pathLst>
                <a:path w="2830" h="6012" extrusionOk="0">
                  <a:moveTo>
                    <a:pt x="1415" y="836"/>
                  </a:moveTo>
                  <a:cubicBezTo>
                    <a:pt x="1705" y="836"/>
                    <a:pt x="1897" y="997"/>
                    <a:pt x="1897" y="1415"/>
                  </a:cubicBezTo>
                  <a:lnTo>
                    <a:pt x="1897" y="4597"/>
                  </a:lnTo>
                  <a:cubicBezTo>
                    <a:pt x="1897" y="5015"/>
                    <a:pt x="1705" y="5176"/>
                    <a:pt x="1415" y="5176"/>
                  </a:cubicBezTo>
                  <a:cubicBezTo>
                    <a:pt x="1126" y="5176"/>
                    <a:pt x="933" y="5015"/>
                    <a:pt x="933" y="4597"/>
                  </a:cubicBezTo>
                  <a:lnTo>
                    <a:pt x="933" y="1415"/>
                  </a:lnTo>
                  <a:cubicBezTo>
                    <a:pt x="933" y="997"/>
                    <a:pt x="1126" y="836"/>
                    <a:pt x="1415" y="836"/>
                  </a:cubicBezTo>
                  <a:close/>
                  <a:moveTo>
                    <a:pt x="1415" y="1"/>
                  </a:moveTo>
                  <a:cubicBezTo>
                    <a:pt x="515" y="1"/>
                    <a:pt x="1" y="515"/>
                    <a:pt x="1" y="1479"/>
                  </a:cubicBezTo>
                  <a:lnTo>
                    <a:pt x="1" y="4533"/>
                  </a:lnTo>
                  <a:cubicBezTo>
                    <a:pt x="1" y="5465"/>
                    <a:pt x="515" y="6012"/>
                    <a:pt x="1415" y="6012"/>
                  </a:cubicBezTo>
                  <a:cubicBezTo>
                    <a:pt x="2315" y="6012"/>
                    <a:pt x="2830" y="5465"/>
                    <a:pt x="2830" y="4533"/>
                  </a:cubicBezTo>
                  <a:lnTo>
                    <a:pt x="2830" y="1479"/>
                  </a:lnTo>
                  <a:cubicBezTo>
                    <a:pt x="2830" y="515"/>
                    <a:pt x="2315" y="1"/>
                    <a:pt x="1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57"/>
            <p:cNvSpPr/>
            <p:nvPr/>
          </p:nvSpPr>
          <p:spPr>
            <a:xfrm>
              <a:off x="5210275" y="3979725"/>
              <a:ext cx="77175" cy="147100"/>
            </a:xfrm>
            <a:custGeom>
              <a:avLst/>
              <a:gdLst/>
              <a:ahLst/>
              <a:cxnLst/>
              <a:rect l="l" t="t" r="r" b="b"/>
              <a:pathLst>
                <a:path w="3087" h="5884" extrusionOk="0">
                  <a:moveTo>
                    <a:pt x="0" y="1"/>
                  </a:moveTo>
                  <a:lnTo>
                    <a:pt x="0" y="5883"/>
                  </a:lnTo>
                  <a:lnTo>
                    <a:pt x="932" y="5883"/>
                  </a:lnTo>
                  <a:lnTo>
                    <a:pt x="932" y="4083"/>
                  </a:lnTo>
                  <a:lnTo>
                    <a:pt x="1222" y="3537"/>
                  </a:lnTo>
                  <a:lnTo>
                    <a:pt x="2122" y="5883"/>
                  </a:lnTo>
                  <a:lnTo>
                    <a:pt x="3086" y="5883"/>
                  </a:lnTo>
                  <a:lnTo>
                    <a:pt x="1768" y="2605"/>
                  </a:lnTo>
                  <a:lnTo>
                    <a:pt x="3086" y="1"/>
                  </a:lnTo>
                  <a:lnTo>
                    <a:pt x="2154" y="1"/>
                  </a:lnTo>
                  <a:lnTo>
                    <a:pt x="932" y="2572"/>
                  </a:lnTo>
                  <a:lnTo>
                    <a:pt x="9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57"/>
            <p:cNvSpPr/>
            <p:nvPr/>
          </p:nvSpPr>
          <p:spPr>
            <a:xfrm>
              <a:off x="4952300" y="4223225"/>
              <a:ext cx="336750" cy="12875"/>
            </a:xfrm>
            <a:custGeom>
              <a:avLst/>
              <a:gdLst/>
              <a:ahLst/>
              <a:cxnLst/>
              <a:rect l="l" t="t" r="r" b="b"/>
              <a:pathLst>
                <a:path w="13470" h="515" extrusionOk="0">
                  <a:moveTo>
                    <a:pt x="1" y="1"/>
                  </a:moveTo>
                  <a:lnTo>
                    <a:pt x="1" y="515"/>
                  </a:lnTo>
                  <a:lnTo>
                    <a:pt x="13469" y="515"/>
                  </a:lnTo>
                  <a:lnTo>
                    <a:pt x="134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57"/>
            <p:cNvSpPr/>
            <p:nvPr/>
          </p:nvSpPr>
          <p:spPr>
            <a:xfrm>
              <a:off x="3124100" y="3854375"/>
              <a:ext cx="13675" cy="703175"/>
            </a:xfrm>
            <a:custGeom>
              <a:avLst/>
              <a:gdLst/>
              <a:ahLst/>
              <a:cxnLst/>
              <a:rect l="l" t="t" r="r" b="b"/>
              <a:pathLst>
                <a:path w="547" h="28127" extrusionOk="0">
                  <a:moveTo>
                    <a:pt x="0" y="0"/>
                  </a:moveTo>
                  <a:lnTo>
                    <a:pt x="0" y="28127"/>
                  </a:lnTo>
                  <a:lnTo>
                    <a:pt x="547" y="28127"/>
                  </a:lnTo>
                  <a:lnTo>
                    <a:pt x="5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57"/>
            <p:cNvSpPr/>
            <p:nvPr/>
          </p:nvSpPr>
          <p:spPr>
            <a:xfrm>
              <a:off x="4502275" y="3854375"/>
              <a:ext cx="12900" cy="703175"/>
            </a:xfrm>
            <a:custGeom>
              <a:avLst/>
              <a:gdLst/>
              <a:ahLst/>
              <a:cxnLst/>
              <a:rect l="l" t="t" r="r" b="b"/>
              <a:pathLst>
                <a:path w="516" h="28127" extrusionOk="0">
                  <a:moveTo>
                    <a:pt x="1" y="0"/>
                  </a:moveTo>
                  <a:lnTo>
                    <a:pt x="1" y="28127"/>
                  </a:lnTo>
                  <a:lnTo>
                    <a:pt x="515" y="28127"/>
                  </a:lnTo>
                  <a:lnTo>
                    <a:pt x="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57"/>
            <p:cNvSpPr/>
            <p:nvPr/>
          </p:nvSpPr>
          <p:spPr>
            <a:xfrm>
              <a:off x="2361475" y="3788475"/>
              <a:ext cx="41000" cy="84400"/>
            </a:xfrm>
            <a:custGeom>
              <a:avLst/>
              <a:gdLst/>
              <a:ahLst/>
              <a:cxnLst/>
              <a:rect l="l" t="t" r="r" b="b"/>
              <a:pathLst>
                <a:path w="1640" h="3376" extrusionOk="0">
                  <a:moveTo>
                    <a:pt x="0" y="0"/>
                  </a:moveTo>
                  <a:lnTo>
                    <a:pt x="0" y="483"/>
                  </a:lnTo>
                  <a:lnTo>
                    <a:pt x="547" y="483"/>
                  </a:lnTo>
                  <a:lnTo>
                    <a:pt x="547" y="3376"/>
                  </a:lnTo>
                  <a:lnTo>
                    <a:pt x="1093" y="3376"/>
                  </a:lnTo>
                  <a:lnTo>
                    <a:pt x="1093" y="483"/>
                  </a:lnTo>
                  <a:lnTo>
                    <a:pt x="1639" y="483"/>
                  </a:lnTo>
                  <a:lnTo>
                    <a:pt x="16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57"/>
            <p:cNvSpPr/>
            <p:nvPr/>
          </p:nvSpPr>
          <p:spPr>
            <a:xfrm>
              <a:off x="2407275" y="3786875"/>
              <a:ext cx="40200" cy="86800"/>
            </a:xfrm>
            <a:custGeom>
              <a:avLst/>
              <a:gdLst/>
              <a:ahLst/>
              <a:cxnLst/>
              <a:rect l="l" t="t" r="r" b="b"/>
              <a:pathLst>
                <a:path w="1608" h="3472" extrusionOk="0">
                  <a:moveTo>
                    <a:pt x="804" y="482"/>
                  </a:moveTo>
                  <a:cubicBezTo>
                    <a:pt x="965" y="482"/>
                    <a:pt x="1093" y="579"/>
                    <a:pt x="1093" y="836"/>
                  </a:cubicBezTo>
                  <a:lnTo>
                    <a:pt x="1093" y="2636"/>
                  </a:lnTo>
                  <a:cubicBezTo>
                    <a:pt x="1093" y="2893"/>
                    <a:pt x="965" y="2990"/>
                    <a:pt x="804" y="2990"/>
                  </a:cubicBezTo>
                  <a:cubicBezTo>
                    <a:pt x="643" y="2990"/>
                    <a:pt x="547" y="2893"/>
                    <a:pt x="547" y="2636"/>
                  </a:cubicBezTo>
                  <a:lnTo>
                    <a:pt x="547" y="836"/>
                  </a:lnTo>
                  <a:cubicBezTo>
                    <a:pt x="547" y="579"/>
                    <a:pt x="643" y="482"/>
                    <a:pt x="804" y="482"/>
                  </a:cubicBezTo>
                  <a:close/>
                  <a:moveTo>
                    <a:pt x="804" y="0"/>
                  </a:moveTo>
                  <a:cubicBezTo>
                    <a:pt x="290" y="0"/>
                    <a:pt x="0" y="322"/>
                    <a:pt x="0" y="868"/>
                  </a:cubicBezTo>
                  <a:lnTo>
                    <a:pt x="0" y="2604"/>
                  </a:lnTo>
                  <a:cubicBezTo>
                    <a:pt x="0" y="3150"/>
                    <a:pt x="290" y="3472"/>
                    <a:pt x="804" y="3472"/>
                  </a:cubicBezTo>
                  <a:cubicBezTo>
                    <a:pt x="1318" y="3472"/>
                    <a:pt x="1608" y="3150"/>
                    <a:pt x="1608" y="2604"/>
                  </a:cubicBezTo>
                  <a:lnTo>
                    <a:pt x="1608" y="868"/>
                  </a:lnTo>
                  <a:cubicBezTo>
                    <a:pt x="1608" y="322"/>
                    <a:pt x="1318" y="0"/>
                    <a:pt x="8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57"/>
            <p:cNvSpPr/>
            <p:nvPr/>
          </p:nvSpPr>
          <p:spPr>
            <a:xfrm>
              <a:off x="2456300" y="3788475"/>
              <a:ext cx="40200" cy="84400"/>
            </a:xfrm>
            <a:custGeom>
              <a:avLst/>
              <a:gdLst/>
              <a:ahLst/>
              <a:cxnLst/>
              <a:rect l="l" t="t" r="r" b="b"/>
              <a:pathLst>
                <a:path w="1608" h="3376" extrusionOk="0">
                  <a:moveTo>
                    <a:pt x="836" y="483"/>
                  </a:moveTo>
                  <a:cubicBezTo>
                    <a:pt x="997" y="483"/>
                    <a:pt x="1093" y="547"/>
                    <a:pt x="1093" y="804"/>
                  </a:cubicBezTo>
                  <a:lnTo>
                    <a:pt x="1093" y="2540"/>
                  </a:lnTo>
                  <a:cubicBezTo>
                    <a:pt x="1093" y="2797"/>
                    <a:pt x="997" y="2893"/>
                    <a:pt x="836" y="2893"/>
                  </a:cubicBezTo>
                  <a:lnTo>
                    <a:pt x="514" y="2893"/>
                  </a:lnTo>
                  <a:lnTo>
                    <a:pt x="514" y="483"/>
                  </a:lnTo>
                  <a:close/>
                  <a:moveTo>
                    <a:pt x="0" y="0"/>
                  </a:moveTo>
                  <a:lnTo>
                    <a:pt x="0" y="3376"/>
                  </a:lnTo>
                  <a:lnTo>
                    <a:pt x="836" y="3376"/>
                  </a:lnTo>
                  <a:cubicBezTo>
                    <a:pt x="1350" y="3376"/>
                    <a:pt x="1607" y="3054"/>
                    <a:pt x="1607" y="2540"/>
                  </a:cubicBezTo>
                  <a:lnTo>
                    <a:pt x="1607" y="804"/>
                  </a:lnTo>
                  <a:cubicBezTo>
                    <a:pt x="1607" y="290"/>
                    <a:pt x="1350"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57"/>
            <p:cNvSpPr/>
            <p:nvPr/>
          </p:nvSpPr>
          <p:spPr>
            <a:xfrm>
              <a:off x="2501300" y="3788475"/>
              <a:ext cx="46625" cy="84400"/>
            </a:xfrm>
            <a:custGeom>
              <a:avLst/>
              <a:gdLst/>
              <a:ahLst/>
              <a:cxnLst/>
              <a:rect l="l" t="t" r="r" b="b"/>
              <a:pathLst>
                <a:path w="1865" h="3376" extrusionOk="0">
                  <a:moveTo>
                    <a:pt x="900" y="579"/>
                  </a:moveTo>
                  <a:lnTo>
                    <a:pt x="1157" y="2283"/>
                  </a:lnTo>
                  <a:lnTo>
                    <a:pt x="675" y="2283"/>
                  </a:lnTo>
                  <a:lnTo>
                    <a:pt x="900" y="579"/>
                  </a:lnTo>
                  <a:close/>
                  <a:moveTo>
                    <a:pt x="547" y="0"/>
                  </a:moveTo>
                  <a:lnTo>
                    <a:pt x="0" y="3376"/>
                  </a:lnTo>
                  <a:lnTo>
                    <a:pt x="515" y="3376"/>
                  </a:lnTo>
                  <a:lnTo>
                    <a:pt x="579" y="2765"/>
                  </a:lnTo>
                  <a:lnTo>
                    <a:pt x="1254" y="2765"/>
                  </a:lnTo>
                  <a:lnTo>
                    <a:pt x="1350" y="3376"/>
                  </a:lnTo>
                  <a:lnTo>
                    <a:pt x="1865" y="3376"/>
                  </a:lnTo>
                  <a:lnTo>
                    <a:pt x="13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57"/>
            <p:cNvSpPr/>
            <p:nvPr/>
          </p:nvSpPr>
          <p:spPr>
            <a:xfrm>
              <a:off x="2549500" y="3788475"/>
              <a:ext cx="47450" cy="84400"/>
            </a:xfrm>
            <a:custGeom>
              <a:avLst/>
              <a:gdLst/>
              <a:ahLst/>
              <a:cxnLst/>
              <a:rect l="l" t="t" r="r" b="b"/>
              <a:pathLst>
                <a:path w="1898" h="3376" extrusionOk="0">
                  <a:moveTo>
                    <a:pt x="1" y="0"/>
                  </a:moveTo>
                  <a:lnTo>
                    <a:pt x="676" y="2251"/>
                  </a:lnTo>
                  <a:lnTo>
                    <a:pt x="676" y="3376"/>
                  </a:lnTo>
                  <a:lnTo>
                    <a:pt x="1222" y="3376"/>
                  </a:lnTo>
                  <a:lnTo>
                    <a:pt x="1222" y="2251"/>
                  </a:lnTo>
                  <a:lnTo>
                    <a:pt x="1897" y="0"/>
                  </a:lnTo>
                  <a:lnTo>
                    <a:pt x="1383" y="0"/>
                  </a:lnTo>
                  <a:lnTo>
                    <a:pt x="965" y="1511"/>
                  </a:lnTo>
                  <a:lnTo>
                    <a:pt x="5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57"/>
            <p:cNvSpPr/>
            <p:nvPr/>
          </p:nvSpPr>
          <p:spPr>
            <a:xfrm>
              <a:off x="3644025" y="3788475"/>
              <a:ext cx="64325" cy="84400"/>
            </a:xfrm>
            <a:custGeom>
              <a:avLst/>
              <a:gdLst/>
              <a:ahLst/>
              <a:cxnLst/>
              <a:rect l="l" t="t" r="r" b="b"/>
              <a:pathLst>
                <a:path w="2573" h="3376" extrusionOk="0">
                  <a:moveTo>
                    <a:pt x="1" y="0"/>
                  </a:moveTo>
                  <a:lnTo>
                    <a:pt x="354" y="3376"/>
                  </a:lnTo>
                  <a:lnTo>
                    <a:pt x="1094" y="3376"/>
                  </a:lnTo>
                  <a:lnTo>
                    <a:pt x="1286" y="1575"/>
                  </a:lnTo>
                  <a:lnTo>
                    <a:pt x="1479" y="3376"/>
                  </a:lnTo>
                  <a:lnTo>
                    <a:pt x="2186" y="3376"/>
                  </a:lnTo>
                  <a:lnTo>
                    <a:pt x="2572" y="0"/>
                  </a:lnTo>
                  <a:lnTo>
                    <a:pt x="2090" y="0"/>
                  </a:lnTo>
                  <a:lnTo>
                    <a:pt x="1833" y="2668"/>
                  </a:lnTo>
                  <a:lnTo>
                    <a:pt x="1576" y="0"/>
                  </a:lnTo>
                  <a:lnTo>
                    <a:pt x="1061" y="0"/>
                  </a:lnTo>
                  <a:lnTo>
                    <a:pt x="804" y="2636"/>
                  </a:lnTo>
                  <a:lnTo>
                    <a:pt x="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57"/>
            <p:cNvSpPr/>
            <p:nvPr/>
          </p:nvSpPr>
          <p:spPr>
            <a:xfrm>
              <a:off x="3714750" y="3788475"/>
              <a:ext cx="36175" cy="84400"/>
            </a:xfrm>
            <a:custGeom>
              <a:avLst/>
              <a:gdLst/>
              <a:ahLst/>
              <a:cxnLst/>
              <a:rect l="l" t="t" r="r" b="b"/>
              <a:pathLst>
                <a:path w="1447" h="3376" extrusionOk="0">
                  <a:moveTo>
                    <a:pt x="0" y="0"/>
                  </a:moveTo>
                  <a:lnTo>
                    <a:pt x="0" y="3376"/>
                  </a:lnTo>
                  <a:lnTo>
                    <a:pt x="1447" y="3376"/>
                  </a:lnTo>
                  <a:lnTo>
                    <a:pt x="1447" y="2893"/>
                  </a:lnTo>
                  <a:lnTo>
                    <a:pt x="515" y="2893"/>
                  </a:lnTo>
                  <a:lnTo>
                    <a:pt x="515" y="1897"/>
                  </a:lnTo>
                  <a:lnTo>
                    <a:pt x="1254" y="1897"/>
                  </a:lnTo>
                  <a:lnTo>
                    <a:pt x="1254" y="1415"/>
                  </a:lnTo>
                  <a:lnTo>
                    <a:pt x="515" y="1415"/>
                  </a:lnTo>
                  <a:lnTo>
                    <a:pt x="515" y="483"/>
                  </a:lnTo>
                  <a:lnTo>
                    <a:pt x="1447" y="483"/>
                  </a:lnTo>
                  <a:lnTo>
                    <a:pt x="14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57"/>
            <p:cNvSpPr/>
            <p:nvPr/>
          </p:nvSpPr>
          <p:spPr>
            <a:xfrm>
              <a:off x="3758950" y="3788475"/>
              <a:ext cx="36175" cy="84400"/>
            </a:xfrm>
            <a:custGeom>
              <a:avLst/>
              <a:gdLst/>
              <a:ahLst/>
              <a:cxnLst/>
              <a:rect l="l" t="t" r="r" b="b"/>
              <a:pathLst>
                <a:path w="1447" h="3376" extrusionOk="0">
                  <a:moveTo>
                    <a:pt x="0" y="0"/>
                  </a:moveTo>
                  <a:lnTo>
                    <a:pt x="0" y="3376"/>
                  </a:lnTo>
                  <a:lnTo>
                    <a:pt x="1447" y="3376"/>
                  </a:lnTo>
                  <a:lnTo>
                    <a:pt x="1447" y="2893"/>
                  </a:lnTo>
                  <a:lnTo>
                    <a:pt x="547" y="2893"/>
                  </a:lnTo>
                  <a:lnTo>
                    <a:pt x="547" y="1897"/>
                  </a:lnTo>
                  <a:lnTo>
                    <a:pt x="1254" y="1897"/>
                  </a:lnTo>
                  <a:lnTo>
                    <a:pt x="1254" y="1415"/>
                  </a:lnTo>
                  <a:lnTo>
                    <a:pt x="547" y="1415"/>
                  </a:lnTo>
                  <a:lnTo>
                    <a:pt x="547" y="483"/>
                  </a:lnTo>
                  <a:lnTo>
                    <a:pt x="1447" y="483"/>
                  </a:lnTo>
                  <a:lnTo>
                    <a:pt x="14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57"/>
            <p:cNvSpPr/>
            <p:nvPr/>
          </p:nvSpPr>
          <p:spPr>
            <a:xfrm>
              <a:off x="3803150" y="3788475"/>
              <a:ext cx="44225" cy="84400"/>
            </a:xfrm>
            <a:custGeom>
              <a:avLst/>
              <a:gdLst/>
              <a:ahLst/>
              <a:cxnLst/>
              <a:rect l="l" t="t" r="r" b="b"/>
              <a:pathLst>
                <a:path w="1769" h="3376" extrusionOk="0">
                  <a:moveTo>
                    <a:pt x="0" y="0"/>
                  </a:moveTo>
                  <a:lnTo>
                    <a:pt x="0" y="3376"/>
                  </a:lnTo>
                  <a:lnTo>
                    <a:pt x="547" y="3376"/>
                  </a:lnTo>
                  <a:lnTo>
                    <a:pt x="547" y="2315"/>
                  </a:lnTo>
                  <a:lnTo>
                    <a:pt x="707" y="2026"/>
                  </a:lnTo>
                  <a:lnTo>
                    <a:pt x="1222" y="3376"/>
                  </a:lnTo>
                  <a:lnTo>
                    <a:pt x="1768" y="3376"/>
                  </a:lnTo>
                  <a:lnTo>
                    <a:pt x="1029" y="1479"/>
                  </a:lnTo>
                  <a:lnTo>
                    <a:pt x="1768" y="0"/>
                  </a:lnTo>
                  <a:lnTo>
                    <a:pt x="1222" y="0"/>
                  </a:lnTo>
                  <a:lnTo>
                    <a:pt x="547" y="1447"/>
                  </a:lnTo>
                  <a:lnTo>
                    <a:pt x="5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57"/>
            <p:cNvSpPr/>
            <p:nvPr/>
          </p:nvSpPr>
          <p:spPr>
            <a:xfrm>
              <a:off x="4995700" y="3788475"/>
              <a:ext cx="56275" cy="84400"/>
            </a:xfrm>
            <a:custGeom>
              <a:avLst/>
              <a:gdLst/>
              <a:ahLst/>
              <a:cxnLst/>
              <a:rect l="l" t="t" r="r" b="b"/>
              <a:pathLst>
                <a:path w="2251" h="3376" extrusionOk="0">
                  <a:moveTo>
                    <a:pt x="1" y="0"/>
                  </a:moveTo>
                  <a:lnTo>
                    <a:pt x="1" y="3376"/>
                  </a:lnTo>
                  <a:lnTo>
                    <a:pt x="483" y="3376"/>
                  </a:lnTo>
                  <a:lnTo>
                    <a:pt x="483" y="965"/>
                  </a:lnTo>
                  <a:lnTo>
                    <a:pt x="869" y="3376"/>
                  </a:lnTo>
                  <a:lnTo>
                    <a:pt x="1383" y="3376"/>
                  </a:lnTo>
                  <a:lnTo>
                    <a:pt x="1736" y="933"/>
                  </a:lnTo>
                  <a:lnTo>
                    <a:pt x="1736" y="3376"/>
                  </a:lnTo>
                  <a:lnTo>
                    <a:pt x="2251" y="3376"/>
                  </a:lnTo>
                  <a:lnTo>
                    <a:pt x="2251" y="0"/>
                  </a:lnTo>
                  <a:lnTo>
                    <a:pt x="1511" y="0"/>
                  </a:lnTo>
                  <a:lnTo>
                    <a:pt x="1126" y="2379"/>
                  </a:lnTo>
                  <a:lnTo>
                    <a:pt x="7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57"/>
            <p:cNvSpPr/>
            <p:nvPr/>
          </p:nvSpPr>
          <p:spPr>
            <a:xfrm>
              <a:off x="5060000" y="3786875"/>
              <a:ext cx="40200" cy="86800"/>
            </a:xfrm>
            <a:custGeom>
              <a:avLst/>
              <a:gdLst/>
              <a:ahLst/>
              <a:cxnLst/>
              <a:rect l="l" t="t" r="r" b="b"/>
              <a:pathLst>
                <a:path w="1608" h="3472" extrusionOk="0">
                  <a:moveTo>
                    <a:pt x="804" y="482"/>
                  </a:moveTo>
                  <a:cubicBezTo>
                    <a:pt x="997" y="482"/>
                    <a:pt x="1093" y="579"/>
                    <a:pt x="1093" y="836"/>
                  </a:cubicBezTo>
                  <a:lnTo>
                    <a:pt x="1093" y="2636"/>
                  </a:lnTo>
                  <a:cubicBezTo>
                    <a:pt x="1093" y="2893"/>
                    <a:pt x="997" y="2990"/>
                    <a:pt x="804" y="2990"/>
                  </a:cubicBezTo>
                  <a:cubicBezTo>
                    <a:pt x="643" y="2990"/>
                    <a:pt x="547" y="2893"/>
                    <a:pt x="547" y="2636"/>
                  </a:cubicBezTo>
                  <a:lnTo>
                    <a:pt x="547" y="836"/>
                  </a:lnTo>
                  <a:cubicBezTo>
                    <a:pt x="547" y="579"/>
                    <a:pt x="643" y="482"/>
                    <a:pt x="804" y="482"/>
                  </a:cubicBezTo>
                  <a:close/>
                  <a:moveTo>
                    <a:pt x="804" y="0"/>
                  </a:moveTo>
                  <a:cubicBezTo>
                    <a:pt x="290" y="0"/>
                    <a:pt x="0" y="322"/>
                    <a:pt x="0" y="868"/>
                  </a:cubicBezTo>
                  <a:lnTo>
                    <a:pt x="0" y="2604"/>
                  </a:lnTo>
                  <a:cubicBezTo>
                    <a:pt x="0" y="3150"/>
                    <a:pt x="290" y="3472"/>
                    <a:pt x="804" y="3472"/>
                  </a:cubicBezTo>
                  <a:cubicBezTo>
                    <a:pt x="1350" y="3472"/>
                    <a:pt x="1607" y="3150"/>
                    <a:pt x="1607" y="2604"/>
                  </a:cubicBezTo>
                  <a:lnTo>
                    <a:pt x="1607" y="868"/>
                  </a:lnTo>
                  <a:cubicBezTo>
                    <a:pt x="1607" y="322"/>
                    <a:pt x="1350" y="0"/>
                    <a:pt x="8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57"/>
            <p:cNvSpPr/>
            <p:nvPr/>
          </p:nvSpPr>
          <p:spPr>
            <a:xfrm>
              <a:off x="5109025" y="3788475"/>
              <a:ext cx="41800" cy="84400"/>
            </a:xfrm>
            <a:custGeom>
              <a:avLst/>
              <a:gdLst/>
              <a:ahLst/>
              <a:cxnLst/>
              <a:rect l="l" t="t" r="r" b="b"/>
              <a:pathLst>
                <a:path w="1672" h="3376" extrusionOk="0">
                  <a:moveTo>
                    <a:pt x="0" y="0"/>
                  </a:moveTo>
                  <a:lnTo>
                    <a:pt x="0" y="3376"/>
                  </a:lnTo>
                  <a:lnTo>
                    <a:pt x="482" y="3376"/>
                  </a:lnTo>
                  <a:lnTo>
                    <a:pt x="482" y="933"/>
                  </a:lnTo>
                  <a:lnTo>
                    <a:pt x="1125" y="3376"/>
                  </a:lnTo>
                  <a:lnTo>
                    <a:pt x="1672" y="3376"/>
                  </a:lnTo>
                  <a:lnTo>
                    <a:pt x="1672" y="0"/>
                  </a:lnTo>
                  <a:lnTo>
                    <a:pt x="1222" y="0"/>
                  </a:lnTo>
                  <a:lnTo>
                    <a:pt x="1222" y="1993"/>
                  </a:lnTo>
                  <a:lnTo>
                    <a:pt x="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57"/>
            <p:cNvSpPr/>
            <p:nvPr/>
          </p:nvSpPr>
          <p:spPr>
            <a:xfrm>
              <a:off x="5156425" y="3788475"/>
              <a:ext cx="41000" cy="84400"/>
            </a:xfrm>
            <a:custGeom>
              <a:avLst/>
              <a:gdLst/>
              <a:ahLst/>
              <a:cxnLst/>
              <a:rect l="l" t="t" r="r" b="b"/>
              <a:pathLst>
                <a:path w="1640" h="3376" extrusionOk="0">
                  <a:moveTo>
                    <a:pt x="1" y="0"/>
                  </a:moveTo>
                  <a:lnTo>
                    <a:pt x="1" y="483"/>
                  </a:lnTo>
                  <a:lnTo>
                    <a:pt x="579" y="483"/>
                  </a:lnTo>
                  <a:lnTo>
                    <a:pt x="579" y="3376"/>
                  </a:lnTo>
                  <a:lnTo>
                    <a:pt x="1093" y="3376"/>
                  </a:lnTo>
                  <a:lnTo>
                    <a:pt x="1093" y="483"/>
                  </a:lnTo>
                  <a:lnTo>
                    <a:pt x="1640" y="483"/>
                  </a:lnTo>
                  <a:lnTo>
                    <a:pt x="16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57"/>
            <p:cNvSpPr/>
            <p:nvPr/>
          </p:nvSpPr>
          <p:spPr>
            <a:xfrm>
              <a:off x="5203850" y="3788475"/>
              <a:ext cx="41800" cy="84400"/>
            </a:xfrm>
            <a:custGeom>
              <a:avLst/>
              <a:gdLst/>
              <a:ahLst/>
              <a:cxnLst/>
              <a:rect l="l" t="t" r="r" b="b"/>
              <a:pathLst>
                <a:path w="1672" h="3376" extrusionOk="0">
                  <a:moveTo>
                    <a:pt x="0" y="0"/>
                  </a:moveTo>
                  <a:lnTo>
                    <a:pt x="0" y="3376"/>
                  </a:lnTo>
                  <a:lnTo>
                    <a:pt x="514" y="3376"/>
                  </a:lnTo>
                  <a:lnTo>
                    <a:pt x="514" y="1929"/>
                  </a:lnTo>
                  <a:lnTo>
                    <a:pt x="1125" y="1929"/>
                  </a:lnTo>
                  <a:lnTo>
                    <a:pt x="1125" y="3376"/>
                  </a:lnTo>
                  <a:lnTo>
                    <a:pt x="1672" y="3376"/>
                  </a:lnTo>
                  <a:lnTo>
                    <a:pt x="1672" y="0"/>
                  </a:lnTo>
                  <a:lnTo>
                    <a:pt x="1125" y="0"/>
                  </a:lnTo>
                  <a:lnTo>
                    <a:pt x="1125" y="1447"/>
                  </a:lnTo>
                  <a:lnTo>
                    <a:pt x="514" y="1447"/>
                  </a:lnTo>
                  <a:lnTo>
                    <a:pt x="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57"/>
            <p:cNvSpPr/>
            <p:nvPr/>
          </p:nvSpPr>
          <p:spPr>
            <a:xfrm>
              <a:off x="5501975" y="4781525"/>
              <a:ext cx="384950" cy="152150"/>
            </a:xfrm>
            <a:custGeom>
              <a:avLst/>
              <a:gdLst/>
              <a:ahLst/>
              <a:cxnLst/>
              <a:rect l="l" t="t" r="r" b="b"/>
              <a:pathLst>
                <a:path w="15398" h="6086" extrusionOk="0">
                  <a:moveTo>
                    <a:pt x="10219" y="1"/>
                  </a:moveTo>
                  <a:cubicBezTo>
                    <a:pt x="9435" y="1"/>
                    <a:pt x="8648" y="105"/>
                    <a:pt x="7908" y="234"/>
                  </a:cubicBezTo>
                  <a:cubicBezTo>
                    <a:pt x="5112" y="716"/>
                    <a:pt x="2669" y="1841"/>
                    <a:pt x="1" y="2773"/>
                  </a:cubicBezTo>
                  <a:cubicBezTo>
                    <a:pt x="1" y="2773"/>
                    <a:pt x="76" y="2748"/>
                    <a:pt x="266" y="2748"/>
                  </a:cubicBezTo>
                  <a:cubicBezTo>
                    <a:pt x="818" y="2748"/>
                    <a:pt x="2340" y="2962"/>
                    <a:pt x="5787" y="4638"/>
                  </a:cubicBezTo>
                  <a:cubicBezTo>
                    <a:pt x="7449" y="5454"/>
                    <a:pt x="9357" y="6085"/>
                    <a:pt x="11271" y="6085"/>
                  </a:cubicBezTo>
                  <a:cubicBezTo>
                    <a:pt x="11318" y="6085"/>
                    <a:pt x="11365" y="6085"/>
                    <a:pt x="11412" y="6084"/>
                  </a:cubicBezTo>
                  <a:cubicBezTo>
                    <a:pt x="12987" y="6020"/>
                    <a:pt x="15398" y="5602"/>
                    <a:pt x="15301" y="3577"/>
                  </a:cubicBezTo>
                  <a:cubicBezTo>
                    <a:pt x="15301" y="3577"/>
                    <a:pt x="14594" y="1231"/>
                    <a:pt x="12505" y="395"/>
                  </a:cubicBezTo>
                  <a:cubicBezTo>
                    <a:pt x="11782" y="105"/>
                    <a:pt x="11002" y="1"/>
                    <a:pt x="102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57"/>
            <p:cNvSpPr/>
            <p:nvPr/>
          </p:nvSpPr>
          <p:spPr>
            <a:xfrm>
              <a:off x="5530100" y="4563375"/>
              <a:ext cx="360850" cy="175900"/>
            </a:xfrm>
            <a:custGeom>
              <a:avLst/>
              <a:gdLst/>
              <a:ahLst/>
              <a:cxnLst/>
              <a:rect l="l" t="t" r="r" b="b"/>
              <a:pathLst>
                <a:path w="14434" h="7036" extrusionOk="0">
                  <a:moveTo>
                    <a:pt x="5706" y="1"/>
                  </a:moveTo>
                  <a:cubicBezTo>
                    <a:pt x="3817" y="1"/>
                    <a:pt x="1947" y="203"/>
                    <a:pt x="1" y="313"/>
                  </a:cubicBezTo>
                  <a:cubicBezTo>
                    <a:pt x="1" y="313"/>
                    <a:pt x="2" y="313"/>
                    <a:pt x="5" y="313"/>
                  </a:cubicBezTo>
                  <a:cubicBezTo>
                    <a:pt x="90" y="313"/>
                    <a:pt x="1356" y="373"/>
                    <a:pt x="5015" y="3753"/>
                  </a:cubicBezTo>
                  <a:cubicBezTo>
                    <a:pt x="6397" y="5038"/>
                    <a:pt x="8101" y="6228"/>
                    <a:pt x="9966" y="6742"/>
                  </a:cubicBezTo>
                  <a:cubicBezTo>
                    <a:pt x="10551" y="6901"/>
                    <a:pt x="11261" y="7036"/>
                    <a:pt x="11945" y="7036"/>
                  </a:cubicBezTo>
                  <a:cubicBezTo>
                    <a:pt x="13064" y="7036"/>
                    <a:pt x="14114" y="6673"/>
                    <a:pt x="14434" y="5456"/>
                  </a:cubicBezTo>
                  <a:cubicBezTo>
                    <a:pt x="14434" y="5456"/>
                    <a:pt x="14434" y="3045"/>
                    <a:pt x="12666" y="1631"/>
                  </a:cubicBezTo>
                  <a:cubicBezTo>
                    <a:pt x="11444" y="667"/>
                    <a:pt x="9805" y="313"/>
                    <a:pt x="8294" y="152"/>
                  </a:cubicBezTo>
                  <a:cubicBezTo>
                    <a:pt x="7422" y="42"/>
                    <a:pt x="6562" y="1"/>
                    <a:pt x="57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57"/>
            <p:cNvSpPr/>
            <p:nvPr/>
          </p:nvSpPr>
          <p:spPr>
            <a:xfrm>
              <a:off x="5963250" y="4563150"/>
              <a:ext cx="171200" cy="366975"/>
            </a:xfrm>
            <a:custGeom>
              <a:avLst/>
              <a:gdLst/>
              <a:ahLst/>
              <a:cxnLst/>
              <a:rect l="l" t="t" r="r" b="b"/>
              <a:pathLst>
                <a:path w="6848" h="14679" extrusionOk="0">
                  <a:moveTo>
                    <a:pt x="6847" y="1"/>
                  </a:moveTo>
                  <a:cubicBezTo>
                    <a:pt x="4983" y="2090"/>
                    <a:pt x="3054" y="3954"/>
                    <a:pt x="1576" y="6365"/>
                  </a:cubicBezTo>
                  <a:cubicBezTo>
                    <a:pt x="772" y="7683"/>
                    <a:pt x="1" y="9162"/>
                    <a:pt x="1" y="10737"/>
                  </a:cubicBezTo>
                  <a:cubicBezTo>
                    <a:pt x="33" y="12987"/>
                    <a:pt x="1929" y="14498"/>
                    <a:pt x="1929" y="14498"/>
                  </a:cubicBezTo>
                  <a:cubicBezTo>
                    <a:pt x="2213" y="14622"/>
                    <a:pt x="2485" y="14678"/>
                    <a:pt x="2744" y="14678"/>
                  </a:cubicBezTo>
                  <a:cubicBezTo>
                    <a:pt x="4153" y="14678"/>
                    <a:pt x="5174" y="13020"/>
                    <a:pt x="5690" y="11798"/>
                  </a:cubicBezTo>
                  <a:cubicBezTo>
                    <a:pt x="6462" y="9998"/>
                    <a:pt x="6558" y="7940"/>
                    <a:pt x="6430" y="6044"/>
                  </a:cubicBezTo>
                  <a:cubicBezTo>
                    <a:pt x="6044" y="910"/>
                    <a:pt x="6844" y="4"/>
                    <a:pt x="68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57"/>
            <p:cNvSpPr/>
            <p:nvPr/>
          </p:nvSpPr>
          <p:spPr>
            <a:xfrm>
              <a:off x="6172200" y="4849250"/>
              <a:ext cx="349575" cy="202350"/>
            </a:xfrm>
            <a:custGeom>
              <a:avLst/>
              <a:gdLst/>
              <a:ahLst/>
              <a:cxnLst/>
              <a:rect l="l" t="t" r="r" b="b"/>
              <a:pathLst>
                <a:path w="13983" h="8094" extrusionOk="0">
                  <a:moveTo>
                    <a:pt x="13983" y="0"/>
                  </a:moveTo>
                  <a:cubicBezTo>
                    <a:pt x="13983" y="0"/>
                    <a:pt x="13983" y="0"/>
                    <a:pt x="13983" y="0"/>
                  </a:cubicBezTo>
                  <a:lnTo>
                    <a:pt x="13983" y="0"/>
                  </a:lnTo>
                  <a:cubicBezTo>
                    <a:pt x="13983" y="0"/>
                    <a:pt x="13983" y="0"/>
                    <a:pt x="13983" y="0"/>
                  </a:cubicBezTo>
                  <a:close/>
                  <a:moveTo>
                    <a:pt x="13983" y="0"/>
                  </a:moveTo>
                  <a:cubicBezTo>
                    <a:pt x="11186" y="161"/>
                    <a:pt x="8518" y="129"/>
                    <a:pt x="5754" y="772"/>
                  </a:cubicBezTo>
                  <a:cubicBezTo>
                    <a:pt x="4275" y="1157"/>
                    <a:pt x="2668" y="1672"/>
                    <a:pt x="1575" y="2765"/>
                  </a:cubicBezTo>
                  <a:cubicBezTo>
                    <a:pt x="0" y="4372"/>
                    <a:pt x="257" y="6783"/>
                    <a:pt x="257" y="6783"/>
                  </a:cubicBezTo>
                  <a:cubicBezTo>
                    <a:pt x="641" y="7768"/>
                    <a:pt x="1468" y="8094"/>
                    <a:pt x="2381" y="8094"/>
                  </a:cubicBezTo>
                  <a:cubicBezTo>
                    <a:pt x="3226" y="8094"/>
                    <a:pt x="4144" y="7815"/>
                    <a:pt x="4854" y="7522"/>
                  </a:cubicBezTo>
                  <a:cubicBezTo>
                    <a:pt x="6654" y="6783"/>
                    <a:pt x="8197" y="5433"/>
                    <a:pt x="9418" y="3986"/>
                  </a:cubicBezTo>
                  <a:cubicBezTo>
                    <a:pt x="12783" y="77"/>
                    <a:pt x="13975" y="1"/>
                    <a:pt x="1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57"/>
            <p:cNvSpPr/>
            <p:nvPr/>
          </p:nvSpPr>
          <p:spPr>
            <a:xfrm>
              <a:off x="6055675" y="4428950"/>
              <a:ext cx="163950" cy="374500"/>
            </a:xfrm>
            <a:custGeom>
              <a:avLst/>
              <a:gdLst/>
              <a:ahLst/>
              <a:cxnLst/>
              <a:rect l="l" t="t" r="r" b="b"/>
              <a:pathLst>
                <a:path w="6558" h="14980" extrusionOk="0">
                  <a:moveTo>
                    <a:pt x="1254" y="1"/>
                  </a:moveTo>
                  <a:cubicBezTo>
                    <a:pt x="1254" y="1"/>
                    <a:pt x="1254" y="1"/>
                    <a:pt x="1254" y="1"/>
                  </a:cubicBezTo>
                  <a:lnTo>
                    <a:pt x="1254" y="1"/>
                  </a:lnTo>
                  <a:cubicBezTo>
                    <a:pt x="1254" y="1"/>
                    <a:pt x="1254" y="1"/>
                    <a:pt x="1254" y="1"/>
                  </a:cubicBezTo>
                  <a:close/>
                  <a:moveTo>
                    <a:pt x="1254" y="1"/>
                  </a:moveTo>
                  <a:lnTo>
                    <a:pt x="1254" y="1"/>
                  </a:lnTo>
                  <a:cubicBezTo>
                    <a:pt x="740" y="2797"/>
                    <a:pt x="32" y="5369"/>
                    <a:pt x="0" y="8197"/>
                  </a:cubicBezTo>
                  <a:cubicBezTo>
                    <a:pt x="0" y="9740"/>
                    <a:pt x="129" y="11412"/>
                    <a:pt x="932" y="12730"/>
                  </a:cubicBezTo>
                  <a:cubicBezTo>
                    <a:pt x="2090" y="14658"/>
                    <a:pt x="4500" y="14980"/>
                    <a:pt x="4500" y="14980"/>
                  </a:cubicBezTo>
                  <a:cubicBezTo>
                    <a:pt x="6493" y="14723"/>
                    <a:pt x="6558" y="12280"/>
                    <a:pt x="6333" y="10737"/>
                  </a:cubicBezTo>
                  <a:cubicBezTo>
                    <a:pt x="6076" y="8808"/>
                    <a:pt x="5111" y="6976"/>
                    <a:pt x="4018" y="5401"/>
                  </a:cubicBezTo>
                  <a:cubicBezTo>
                    <a:pt x="1044" y="1212"/>
                    <a:pt x="1252" y="13"/>
                    <a:pt x="12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57"/>
            <p:cNvSpPr/>
            <p:nvPr/>
          </p:nvSpPr>
          <p:spPr>
            <a:xfrm>
              <a:off x="6315225" y="4531000"/>
              <a:ext cx="371300" cy="201600"/>
            </a:xfrm>
            <a:custGeom>
              <a:avLst/>
              <a:gdLst/>
              <a:ahLst/>
              <a:cxnLst/>
              <a:rect l="l" t="t" r="r" b="b"/>
              <a:pathLst>
                <a:path w="14852" h="8064" extrusionOk="0">
                  <a:moveTo>
                    <a:pt x="14852" y="1"/>
                  </a:moveTo>
                  <a:cubicBezTo>
                    <a:pt x="14851" y="1"/>
                    <a:pt x="14851" y="2"/>
                    <a:pt x="14851" y="2"/>
                  </a:cubicBezTo>
                  <a:lnTo>
                    <a:pt x="14851" y="2"/>
                  </a:lnTo>
                  <a:cubicBezTo>
                    <a:pt x="14851" y="1"/>
                    <a:pt x="14852" y="1"/>
                    <a:pt x="14852" y="1"/>
                  </a:cubicBezTo>
                  <a:close/>
                  <a:moveTo>
                    <a:pt x="14851" y="2"/>
                  </a:moveTo>
                  <a:lnTo>
                    <a:pt x="14851" y="2"/>
                  </a:lnTo>
                  <a:cubicBezTo>
                    <a:pt x="14821" y="35"/>
                    <a:pt x="13983" y="905"/>
                    <a:pt x="8905" y="1126"/>
                  </a:cubicBezTo>
                  <a:cubicBezTo>
                    <a:pt x="7008" y="1190"/>
                    <a:pt x="4983" y="1544"/>
                    <a:pt x="3280" y="2540"/>
                  </a:cubicBezTo>
                  <a:cubicBezTo>
                    <a:pt x="1897" y="3312"/>
                    <a:pt x="1" y="4823"/>
                    <a:pt x="1030" y="6591"/>
                  </a:cubicBezTo>
                  <a:cubicBezTo>
                    <a:pt x="1030" y="6591"/>
                    <a:pt x="2530" y="8063"/>
                    <a:pt x="4524" y="8063"/>
                  </a:cubicBezTo>
                  <a:cubicBezTo>
                    <a:pt x="4674" y="8063"/>
                    <a:pt x="4828" y="8055"/>
                    <a:pt x="4983" y="8037"/>
                  </a:cubicBezTo>
                  <a:cubicBezTo>
                    <a:pt x="6558" y="7844"/>
                    <a:pt x="7941" y="6944"/>
                    <a:pt x="9130" y="5980"/>
                  </a:cubicBezTo>
                  <a:cubicBezTo>
                    <a:pt x="11380" y="4244"/>
                    <a:pt x="12987" y="2091"/>
                    <a:pt x="14851" y="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57"/>
            <p:cNvSpPr/>
            <p:nvPr/>
          </p:nvSpPr>
          <p:spPr>
            <a:xfrm>
              <a:off x="6243725" y="4308400"/>
              <a:ext cx="213775" cy="345150"/>
            </a:xfrm>
            <a:custGeom>
              <a:avLst/>
              <a:gdLst/>
              <a:ahLst/>
              <a:cxnLst/>
              <a:rect l="l" t="t" r="r" b="b"/>
              <a:pathLst>
                <a:path w="8551" h="13806" extrusionOk="0">
                  <a:moveTo>
                    <a:pt x="8550" y="1"/>
                  </a:moveTo>
                  <a:cubicBezTo>
                    <a:pt x="8550" y="1"/>
                    <a:pt x="8550" y="1"/>
                    <a:pt x="8550" y="1"/>
                  </a:cubicBezTo>
                  <a:lnTo>
                    <a:pt x="8550" y="1"/>
                  </a:lnTo>
                  <a:cubicBezTo>
                    <a:pt x="8550" y="1"/>
                    <a:pt x="8550" y="1"/>
                    <a:pt x="8550" y="1"/>
                  </a:cubicBezTo>
                  <a:close/>
                  <a:moveTo>
                    <a:pt x="8550" y="1"/>
                  </a:moveTo>
                  <a:cubicBezTo>
                    <a:pt x="8550" y="12"/>
                    <a:pt x="8469" y="1238"/>
                    <a:pt x="4597" y="4598"/>
                  </a:cubicBezTo>
                  <a:cubicBezTo>
                    <a:pt x="3182" y="5851"/>
                    <a:pt x="1800" y="7426"/>
                    <a:pt x="1093" y="9226"/>
                  </a:cubicBezTo>
                  <a:cubicBezTo>
                    <a:pt x="514" y="10705"/>
                    <a:pt x="0" y="13084"/>
                    <a:pt x="1897" y="13791"/>
                  </a:cubicBezTo>
                  <a:cubicBezTo>
                    <a:pt x="1897" y="13791"/>
                    <a:pt x="2038" y="13806"/>
                    <a:pt x="2275" y="13806"/>
                  </a:cubicBezTo>
                  <a:cubicBezTo>
                    <a:pt x="3016" y="13806"/>
                    <a:pt x="4689" y="13658"/>
                    <a:pt x="5882" y="12441"/>
                  </a:cubicBezTo>
                  <a:cubicBezTo>
                    <a:pt x="6975" y="11348"/>
                    <a:pt x="7490" y="9741"/>
                    <a:pt x="7843" y="8262"/>
                  </a:cubicBezTo>
                  <a:cubicBezTo>
                    <a:pt x="8454" y="5498"/>
                    <a:pt x="8390" y="2830"/>
                    <a:pt x="85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57"/>
            <p:cNvSpPr/>
            <p:nvPr/>
          </p:nvSpPr>
          <p:spPr>
            <a:xfrm>
              <a:off x="5842700" y="4681450"/>
              <a:ext cx="240325" cy="567025"/>
            </a:xfrm>
            <a:custGeom>
              <a:avLst/>
              <a:gdLst/>
              <a:ahLst/>
              <a:cxnLst/>
              <a:rect l="l" t="t" r="r" b="b"/>
              <a:pathLst>
                <a:path w="9613" h="22681" extrusionOk="0">
                  <a:moveTo>
                    <a:pt x="333" y="1"/>
                  </a:moveTo>
                  <a:cubicBezTo>
                    <a:pt x="297" y="1"/>
                    <a:pt x="260" y="9"/>
                    <a:pt x="226" y="26"/>
                  </a:cubicBezTo>
                  <a:cubicBezTo>
                    <a:pt x="65" y="58"/>
                    <a:pt x="1" y="219"/>
                    <a:pt x="65" y="380"/>
                  </a:cubicBezTo>
                  <a:lnTo>
                    <a:pt x="4887" y="12241"/>
                  </a:lnTo>
                  <a:lnTo>
                    <a:pt x="9066" y="22495"/>
                  </a:lnTo>
                  <a:cubicBezTo>
                    <a:pt x="9090" y="22614"/>
                    <a:pt x="9184" y="22680"/>
                    <a:pt x="9284" y="22680"/>
                  </a:cubicBezTo>
                  <a:cubicBezTo>
                    <a:pt x="9319" y="22680"/>
                    <a:pt x="9354" y="22672"/>
                    <a:pt x="9387" y="22656"/>
                  </a:cubicBezTo>
                  <a:cubicBezTo>
                    <a:pt x="9548" y="22592"/>
                    <a:pt x="9612" y="22431"/>
                    <a:pt x="9548" y="22302"/>
                  </a:cubicBezTo>
                  <a:lnTo>
                    <a:pt x="5369" y="12048"/>
                  </a:lnTo>
                  <a:lnTo>
                    <a:pt x="547" y="155"/>
                  </a:lnTo>
                  <a:cubicBezTo>
                    <a:pt x="524" y="61"/>
                    <a:pt x="431" y="1"/>
                    <a:pt x="3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57"/>
            <p:cNvSpPr/>
            <p:nvPr/>
          </p:nvSpPr>
          <p:spPr>
            <a:xfrm>
              <a:off x="6091825" y="4613150"/>
              <a:ext cx="231475" cy="591025"/>
            </a:xfrm>
            <a:custGeom>
              <a:avLst/>
              <a:gdLst/>
              <a:ahLst/>
              <a:cxnLst/>
              <a:rect l="l" t="t" r="r" b="b"/>
              <a:pathLst>
                <a:path w="9259" h="23641" extrusionOk="0">
                  <a:moveTo>
                    <a:pt x="8970" y="1"/>
                  </a:moveTo>
                  <a:cubicBezTo>
                    <a:pt x="8858" y="1"/>
                    <a:pt x="8759" y="60"/>
                    <a:pt x="8712" y="154"/>
                  </a:cubicBezTo>
                  <a:lnTo>
                    <a:pt x="4244" y="8962"/>
                  </a:lnTo>
                  <a:lnTo>
                    <a:pt x="4212" y="9026"/>
                  </a:lnTo>
                  <a:lnTo>
                    <a:pt x="33" y="23298"/>
                  </a:lnTo>
                  <a:cubicBezTo>
                    <a:pt x="1" y="23427"/>
                    <a:pt x="65" y="23588"/>
                    <a:pt x="226" y="23620"/>
                  </a:cubicBezTo>
                  <a:cubicBezTo>
                    <a:pt x="254" y="23634"/>
                    <a:pt x="284" y="23640"/>
                    <a:pt x="313" y="23640"/>
                  </a:cubicBezTo>
                  <a:cubicBezTo>
                    <a:pt x="419" y="23640"/>
                    <a:pt x="522" y="23560"/>
                    <a:pt x="547" y="23459"/>
                  </a:cubicBezTo>
                  <a:lnTo>
                    <a:pt x="4726" y="9187"/>
                  </a:lnTo>
                  <a:lnTo>
                    <a:pt x="9194" y="379"/>
                  </a:lnTo>
                  <a:cubicBezTo>
                    <a:pt x="9258" y="251"/>
                    <a:pt x="9226" y="90"/>
                    <a:pt x="9098" y="26"/>
                  </a:cubicBezTo>
                  <a:cubicBezTo>
                    <a:pt x="9055" y="9"/>
                    <a:pt x="9011" y="1"/>
                    <a:pt x="8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57"/>
            <p:cNvSpPr/>
            <p:nvPr/>
          </p:nvSpPr>
          <p:spPr>
            <a:xfrm>
              <a:off x="6132000" y="4990325"/>
              <a:ext cx="118975" cy="73500"/>
            </a:xfrm>
            <a:custGeom>
              <a:avLst/>
              <a:gdLst/>
              <a:ahLst/>
              <a:cxnLst/>
              <a:rect l="l" t="t" r="r" b="b"/>
              <a:pathLst>
                <a:path w="4759" h="2940" extrusionOk="0">
                  <a:moveTo>
                    <a:pt x="4475" y="0"/>
                  </a:moveTo>
                  <a:cubicBezTo>
                    <a:pt x="4430" y="0"/>
                    <a:pt x="4383" y="15"/>
                    <a:pt x="4340" y="47"/>
                  </a:cubicBezTo>
                  <a:lnTo>
                    <a:pt x="162" y="2425"/>
                  </a:lnTo>
                  <a:cubicBezTo>
                    <a:pt x="33" y="2522"/>
                    <a:pt x="1" y="2683"/>
                    <a:pt x="65" y="2811"/>
                  </a:cubicBezTo>
                  <a:cubicBezTo>
                    <a:pt x="108" y="2897"/>
                    <a:pt x="194" y="2940"/>
                    <a:pt x="284" y="2940"/>
                  </a:cubicBezTo>
                  <a:cubicBezTo>
                    <a:pt x="330" y="2940"/>
                    <a:pt x="376" y="2929"/>
                    <a:pt x="419" y="2908"/>
                  </a:cubicBezTo>
                  <a:lnTo>
                    <a:pt x="4598" y="497"/>
                  </a:lnTo>
                  <a:cubicBezTo>
                    <a:pt x="4726" y="432"/>
                    <a:pt x="4758" y="272"/>
                    <a:pt x="4694" y="143"/>
                  </a:cubicBezTo>
                  <a:cubicBezTo>
                    <a:pt x="4651" y="57"/>
                    <a:pt x="4565" y="0"/>
                    <a:pt x="44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57"/>
            <p:cNvSpPr/>
            <p:nvPr/>
          </p:nvSpPr>
          <p:spPr>
            <a:xfrm>
              <a:off x="6144075" y="4717625"/>
              <a:ext cx="67525" cy="129850"/>
            </a:xfrm>
            <a:custGeom>
              <a:avLst/>
              <a:gdLst/>
              <a:ahLst/>
              <a:cxnLst/>
              <a:rect l="l" t="t" r="r" b="b"/>
              <a:pathLst>
                <a:path w="2701" h="5194" extrusionOk="0">
                  <a:moveTo>
                    <a:pt x="301" y="0"/>
                  </a:moveTo>
                  <a:cubicBezTo>
                    <a:pt x="264" y="0"/>
                    <a:pt x="227" y="8"/>
                    <a:pt x="193" y="26"/>
                  </a:cubicBezTo>
                  <a:cubicBezTo>
                    <a:pt x="64" y="90"/>
                    <a:pt x="0" y="251"/>
                    <a:pt x="64" y="379"/>
                  </a:cubicBezTo>
                  <a:lnTo>
                    <a:pt x="2122" y="5008"/>
                  </a:lnTo>
                  <a:cubicBezTo>
                    <a:pt x="2169" y="5127"/>
                    <a:pt x="2270" y="5193"/>
                    <a:pt x="2371" y="5193"/>
                  </a:cubicBezTo>
                  <a:cubicBezTo>
                    <a:pt x="2407" y="5193"/>
                    <a:pt x="2442" y="5185"/>
                    <a:pt x="2475" y="5169"/>
                  </a:cubicBezTo>
                  <a:cubicBezTo>
                    <a:pt x="2636" y="5104"/>
                    <a:pt x="2700" y="4944"/>
                    <a:pt x="2636" y="4815"/>
                  </a:cubicBezTo>
                  <a:lnTo>
                    <a:pt x="547" y="154"/>
                  </a:lnTo>
                  <a:cubicBezTo>
                    <a:pt x="500" y="60"/>
                    <a:pt x="401" y="0"/>
                    <a:pt x="3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57"/>
            <p:cNvSpPr/>
            <p:nvPr/>
          </p:nvSpPr>
          <p:spPr>
            <a:xfrm>
              <a:off x="6261400" y="4661375"/>
              <a:ext cx="142250" cy="70375"/>
            </a:xfrm>
            <a:custGeom>
              <a:avLst/>
              <a:gdLst/>
              <a:ahLst/>
              <a:cxnLst/>
              <a:rect l="l" t="t" r="r" b="b"/>
              <a:pathLst>
                <a:path w="5690" h="2815" extrusionOk="0">
                  <a:moveTo>
                    <a:pt x="5380" y="0"/>
                  </a:moveTo>
                  <a:cubicBezTo>
                    <a:pt x="5343" y="0"/>
                    <a:pt x="5306" y="8"/>
                    <a:pt x="5272" y="25"/>
                  </a:cubicBezTo>
                  <a:lnTo>
                    <a:pt x="193" y="2276"/>
                  </a:lnTo>
                  <a:cubicBezTo>
                    <a:pt x="64" y="2340"/>
                    <a:pt x="0" y="2501"/>
                    <a:pt x="64" y="2629"/>
                  </a:cubicBezTo>
                  <a:cubicBezTo>
                    <a:pt x="88" y="2748"/>
                    <a:pt x="183" y="2815"/>
                    <a:pt x="296" y="2815"/>
                  </a:cubicBezTo>
                  <a:cubicBezTo>
                    <a:pt x="335" y="2815"/>
                    <a:pt x="377" y="2807"/>
                    <a:pt x="418" y="2790"/>
                  </a:cubicBezTo>
                  <a:lnTo>
                    <a:pt x="5497" y="508"/>
                  </a:lnTo>
                  <a:cubicBezTo>
                    <a:pt x="5625" y="443"/>
                    <a:pt x="5690" y="283"/>
                    <a:pt x="5625" y="154"/>
                  </a:cubicBezTo>
                  <a:cubicBezTo>
                    <a:pt x="5578" y="60"/>
                    <a:pt x="5480" y="0"/>
                    <a:pt x="5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57"/>
            <p:cNvSpPr/>
            <p:nvPr/>
          </p:nvSpPr>
          <p:spPr>
            <a:xfrm>
              <a:off x="5983350" y="4849900"/>
              <a:ext cx="59475" cy="189975"/>
            </a:xfrm>
            <a:custGeom>
              <a:avLst/>
              <a:gdLst/>
              <a:ahLst/>
              <a:cxnLst/>
              <a:rect l="l" t="t" r="r" b="b"/>
              <a:pathLst>
                <a:path w="2379" h="7599" extrusionOk="0">
                  <a:moveTo>
                    <a:pt x="2070" y="0"/>
                  </a:moveTo>
                  <a:cubicBezTo>
                    <a:pt x="1953" y="0"/>
                    <a:pt x="1828" y="87"/>
                    <a:pt x="1800" y="199"/>
                  </a:cubicBezTo>
                  <a:lnTo>
                    <a:pt x="32" y="7271"/>
                  </a:lnTo>
                  <a:cubicBezTo>
                    <a:pt x="0" y="7400"/>
                    <a:pt x="97" y="7560"/>
                    <a:pt x="225" y="7592"/>
                  </a:cubicBezTo>
                  <a:cubicBezTo>
                    <a:pt x="246" y="7597"/>
                    <a:pt x="267" y="7599"/>
                    <a:pt x="287" y="7599"/>
                  </a:cubicBezTo>
                  <a:cubicBezTo>
                    <a:pt x="419" y="7599"/>
                    <a:pt x="523" y="7511"/>
                    <a:pt x="579" y="7400"/>
                  </a:cubicBezTo>
                  <a:lnTo>
                    <a:pt x="2315" y="328"/>
                  </a:lnTo>
                  <a:cubicBezTo>
                    <a:pt x="2379" y="199"/>
                    <a:pt x="2282" y="38"/>
                    <a:pt x="2122" y="6"/>
                  </a:cubicBezTo>
                  <a:cubicBezTo>
                    <a:pt x="2105" y="2"/>
                    <a:pt x="2087" y="0"/>
                    <a:pt x="20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57"/>
            <p:cNvSpPr/>
            <p:nvPr/>
          </p:nvSpPr>
          <p:spPr>
            <a:xfrm>
              <a:off x="5822625" y="4838000"/>
              <a:ext cx="117350" cy="67525"/>
            </a:xfrm>
            <a:custGeom>
              <a:avLst/>
              <a:gdLst/>
              <a:ahLst/>
              <a:cxnLst/>
              <a:rect l="l" t="t" r="r" b="b"/>
              <a:pathLst>
                <a:path w="4694" h="2701" extrusionOk="0">
                  <a:moveTo>
                    <a:pt x="315" y="0"/>
                  </a:moveTo>
                  <a:cubicBezTo>
                    <a:pt x="222" y="0"/>
                    <a:pt x="129" y="43"/>
                    <a:pt x="65" y="129"/>
                  </a:cubicBezTo>
                  <a:cubicBezTo>
                    <a:pt x="0" y="257"/>
                    <a:pt x="65" y="418"/>
                    <a:pt x="193" y="482"/>
                  </a:cubicBezTo>
                  <a:lnTo>
                    <a:pt x="4276" y="2668"/>
                  </a:lnTo>
                  <a:cubicBezTo>
                    <a:pt x="4318" y="2690"/>
                    <a:pt x="4365" y="2700"/>
                    <a:pt x="4410" y="2700"/>
                  </a:cubicBezTo>
                  <a:cubicBezTo>
                    <a:pt x="4501" y="2700"/>
                    <a:pt x="4586" y="2657"/>
                    <a:pt x="4629" y="2572"/>
                  </a:cubicBezTo>
                  <a:cubicBezTo>
                    <a:pt x="4693" y="2443"/>
                    <a:pt x="4661" y="2282"/>
                    <a:pt x="4533" y="2186"/>
                  </a:cubicBezTo>
                  <a:lnTo>
                    <a:pt x="450" y="32"/>
                  </a:lnTo>
                  <a:cubicBezTo>
                    <a:pt x="407" y="11"/>
                    <a:pt x="361"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57"/>
            <p:cNvSpPr/>
            <p:nvPr/>
          </p:nvSpPr>
          <p:spPr>
            <a:xfrm>
              <a:off x="5951200" y="5157025"/>
              <a:ext cx="268425" cy="212975"/>
            </a:xfrm>
            <a:custGeom>
              <a:avLst/>
              <a:gdLst/>
              <a:ahLst/>
              <a:cxnLst/>
              <a:rect l="l" t="t" r="r" b="b"/>
              <a:pathLst>
                <a:path w="10737" h="8519" extrusionOk="0">
                  <a:moveTo>
                    <a:pt x="0" y="0"/>
                  </a:moveTo>
                  <a:lnTo>
                    <a:pt x="1608" y="8519"/>
                  </a:lnTo>
                  <a:lnTo>
                    <a:pt x="9129" y="8519"/>
                  </a:lnTo>
                  <a:lnTo>
                    <a:pt x="107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57"/>
            <p:cNvSpPr/>
            <p:nvPr/>
          </p:nvSpPr>
          <p:spPr>
            <a:xfrm>
              <a:off x="5943975" y="5150600"/>
              <a:ext cx="282875" cy="225825"/>
            </a:xfrm>
            <a:custGeom>
              <a:avLst/>
              <a:gdLst/>
              <a:ahLst/>
              <a:cxnLst/>
              <a:rect l="l" t="t" r="r" b="b"/>
              <a:pathLst>
                <a:path w="11315" h="9033" extrusionOk="0">
                  <a:moveTo>
                    <a:pt x="10704" y="547"/>
                  </a:moveTo>
                  <a:lnTo>
                    <a:pt x="9198" y="8519"/>
                  </a:lnTo>
                  <a:lnTo>
                    <a:pt x="2122" y="8519"/>
                  </a:lnTo>
                  <a:lnTo>
                    <a:pt x="611" y="547"/>
                  </a:lnTo>
                  <a:close/>
                  <a:moveTo>
                    <a:pt x="289" y="0"/>
                  </a:moveTo>
                  <a:cubicBezTo>
                    <a:pt x="193" y="0"/>
                    <a:pt x="129" y="32"/>
                    <a:pt x="64" y="97"/>
                  </a:cubicBezTo>
                  <a:cubicBezTo>
                    <a:pt x="32" y="161"/>
                    <a:pt x="0" y="257"/>
                    <a:pt x="0" y="322"/>
                  </a:cubicBezTo>
                  <a:lnTo>
                    <a:pt x="1640" y="8840"/>
                  </a:lnTo>
                  <a:cubicBezTo>
                    <a:pt x="1640" y="8937"/>
                    <a:pt x="1768" y="9033"/>
                    <a:pt x="1897" y="9033"/>
                  </a:cubicBezTo>
                  <a:lnTo>
                    <a:pt x="9418" y="9033"/>
                  </a:lnTo>
                  <a:cubicBezTo>
                    <a:pt x="9547" y="9033"/>
                    <a:pt x="9643" y="8937"/>
                    <a:pt x="9676" y="8840"/>
                  </a:cubicBezTo>
                  <a:lnTo>
                    <a:pt x="11283" y="322"/>
                  </a:lnTo>
                  <a:cubicBezTo>
                    <a:pt x="11315" y="257"/>
                    <a:pt x="11283" y="161"/>
                    <a:pt x="11219" y="97"/>
                  </a:cubicBezTo>
                  <a:cubicBezTo>
                    <a:pt x="11186" y="32"/>
                    <a:pt x="11090" y="0"/>
                    <a:pt x="110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57"/>
            <p:cNvSpPr/>
            <p:nvPr/>
          </p:nvSpPr>
          <p:spPr>
            <a:xfrm>
              <a:off x="3847350" y="4310825"/>
              <a:ext cx="341550" cy="994100"/>
            </a:xfrm>
            <a:custGeom>
              <a:avLst/>
              <a:gdLst/>
              <a:ahLst/>
              <a:cxnLst/>
              <a:rect l="l" t="t" r="r" b="b"/>
              <a:pathLst>
                <a:path w="13662" h="39764" extrusionOk="0">
                  <a:moveTo>
                    <a:pt x="10897" y="0"/>
                  </a:moveTo>
                  <a:lnTo>
                    <a:pt x="0" y="30441"/>
                  </a:lnTo>
                  <a:lnTo>
                    <a:pt x="2315" y="39763"/>
                  </a:lnTo>
                  <a:lnTo>
                    <a:pt x="9740" y="35102"/>
                  </a:lnTo>
                  <a:lnTo>
                    <a:pt x="13662" y="3215"/>
                  </a:lnTo>
                  <a:lnTo>
                    <a:pt x="108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57"/>
            <p:cNvSpPr/>
            <p:nvPr/>
          </p:nvSpPr>
          <p:spPr>
            <a:xfrm>
              <a:off x="3840100" y="4304400"/>
              <a:ext cx="356025" cy="1007475"/>
            </a:xfrm>
            <a:custGeom>
              <a:avLst/>
              <a:gdLst/>
              <a:ahLst/>
              <a:cxnLst/>
              <a:rect l="l" t="t" r="r" b="b"/>
              <a:pathLst>
                <a:path w="14241" h="40299" extrusionOk="0">
                  <a:moveTo>
                    <a:pt x="11288" y="789"/>
                  </a:moveTo>
                  <a:lnTo>
                    <a:pt x="13694" y="3568"/>
                  </a:lnTo>
                  <a:lnTo>
                    <a:pt x="9773" y="35198"/>
                  </a:lnTo>
                  <a:lnTo>
                    <a:pt x="2765" y="39602"/>
                  </a:lnTo>
                  <a:lnTo>
                    <a:pt x="547" y="30730"/>
                  </a:lnTo>
                  <a:lnTo>
                    <a:pt x="11288" y="789"/>
                  </a:lnTo>
                  <a:close/>
                  <a:moveTo>
                    <a:pt x="11155" y="0"/>
                  </a:moveTo>
                  <a:cubicBezTo>
                    <a:pt x="11059" y="32"/>
                    <a:pt x="10994" y="97"/>
                    <a:pt x="10962" y="193"/>
                  </a:cubicBezTo>
                  <a:lnTo>
                    <a:pt x="33" y="30634"/>
                  </a:lnTo>
                  <a:cubicBezTo>
                    <a:pt x="1" y="30666"/>
                    <a:pt x="1" y="30730"/>
                    <a:pt x="33" y="30762"/>
                  </a:cubicBezTo>
                  <a:lnTo>
                    <a:pt x="2347" y="40084"/>
                  </a:lnTo>
                  <a:cubicBezTo>
                    <a:pt x="2380" y="40181"/>
                    <a:pt x="2412" y="40245"/>
                    <a:pt x="2508" y="40277"/>
                  </a:cubicBezTo>
                  <a:cubicBezTo>
                    <a:pt x="2535" y="40291"/>
                    <a:pt x="2567" y="40298"/>
                    <a:pt x="2602" y="40298"/>
                  </a:cubicBezTo>
                  <a:cubicBezTo>
                    <a:pt x="2652" y="40298"/>
                    <a:pt x="2709" y="40283"/>
                    <a:pt x="2765" y="40245"/>
                  </a:cubicBezTo>
                  <a:lnTo>
                    <a:pt x="10191" y="35584"/>
                  </a:lnTo>
                  <a:cubicBezTo>
                    <a:pt x="10255" y="35552"/>
                    <a:pt x="10287" y="35488"/>
                    <a:pt x="10287" y="35391"/>
                  </a:cubicBezTo>
                  <a:lnTo>
                    <a:pt x="14241" y="3504"/>
                  </a:lnTo>
                  <a:cubicBezTo>
                    <a:pt x="14241" y="3440"/>
                    <a:pt x="14209" y="3343"/>
                    <a:pt x="14177" y="3311"/>
                  </a:cubicBezTo>
                  <a:lnTo>
                    <a:pt x="11412" y="97"/>
                  </a:lnTo>
                  <a:cubicBezTo>
                    <a:pt x="11348" y="32"/>
                    <a:pt x="11251" y="0"/>
                    <a:pt x="11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57"/>
            <p:cNvSpPr/>
            <p:nvPr/>
          </p:nvSpPr>
          <p:spPr>
            <a:xfrm>
              <a:off x="3691825" y="5009525"/>
              <a:ext cx="308225" cy="332350"/>
            </a:xfrm>
            <a:custGeom>
              <a:avLst/>
              <a:gdLst/>
              <a:ahLst/>
              <a:cxnLst/>
              <a:rect l="l" t="t" r="r" b="b"/>
              <a:pathLst>
                <a:path w="12329" h="13294" extrusionOk="0">
                  <a:moveTo>
                    <a:pt x="5783" y="0"/>
                  </a:moveTo>
                  <a:cubicBezTo>
                    <a:pt x="3319" y="0"/>
                    <a:pt x="0" y="1543"/>
                    <a:pt x="242" y="4100"/>
                  </a:cubicBezTo>
                  <a:cubicBezTo>
                    <a:pt x="532" y="7154"/>
                    <a:pt x="3457" y="13294"/>
                    <a:pt x="5610" y="13294"/>
                  </a:cubicBezTo>
                  <a:cubicBezTo>
                    <a:pt x="7796" y="13294"/>
                    <a:pt x="9564" y="13294"/>
                    <a:pt x="10721" y="12104"/>
                  </a:cubicBezTo>
                  <a:cubicBezTo>
                    <a:pt x="11879" y="10947"/>
                    <a:pt x="12329" y="8761"/>
                    <a:pt x="11171" y="5868"/>
                  </a:cubicBezTo>
                  <a:cubicBezTo>
                    <a:pt x="9982" y="2943"/>
                    <a:pt x="7089" y="179"/>
                    <a:pt x="7089" y="179"/>
                  </a:cubicBezTo>
                  <a:cubicBezTo>
                    <a:pt x="6708" y="59"/>
                    <a:pt x="6261" y="0"/>
                    <a:pt x="57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57"/>
            <p:cNvSpPr/>
            <p:nvPr/>
          </p:nvSpPr>
          <p:spPr>
            <a:xfrm>
              <a:off x="3690650" y="5002725"/>
              <a:ext cx="303775" cy="345575"/>
            </a:xfrm>
            <a:custGeom>
              <a:avLst/>
              <a:gdLst/>
              <a:ahLst/>
              <a:cxnLst/>
              <a:rect l="l" t="t" r="r" b="b"/>
              <a:pathLst>
                <a:path w="12151" h="13823" extrusionOk="0">
                  <a:moveTo>
                    <a:pt x="5850" y="547"/>
                  </a:moveTo>
                  <a:cubicBezTo>
                    <a:pt x="6277" y="547"/>
                    <a:pt x="6674" y="576"/>
                    <a:pt x="6988" y="688"/>
                  </a:cubicBezTo>
                  <a:lnTo>
                    <a:pt x="6988" y="688"/>
                  </a:lnTo>
                  <a:cubicBezTo>
                    <a:pt x="7008" y="708"/>
                    <a:pt x="7035" y="736"/>
                    <a:pt x="7072" y="772"/>
                  </a:cubicBezTo>
                  <a:cubicBezTo>
                    <a:pt x="7618" y="1319"/>
                    <a:pt x="9965" y="3762"/>
                    <a:pt x="10961" y="6237"/>
                  </a:cubicBezTo>
                  <a:cubicBezTo>
                    <a:pt x="11411" y="7394"/>
                    <a:pt x="11636" y="8423"/>
                    <a:pt x="11636" y="9323"/>
                  </a:cubicBezTo>
                  <a:cubicBezTo>
                    <a:pt x="11636" y="10608"/>
                    <a:pt x="11218" y="11573"/>
                    <a:pt x="10576" y="12184"/>
                  </a:cubicBezTo>
                  <a:cubicBezTo>
                    <a:pt x="10061" y="12730"/>
                    <a:pt x="9386" y="12987"/>
                    <a:pt x="8550" y="13148"/>
                  </a:cubicBezTo>
                  <a:cubicBezTo>
                    <a:pt x="7747" y="13276"/>
                    <a:pt x="6750" y="13276"/>
                    <a:pt x="5657" y="13276"/>
                  </a:cubicBezTo>
                  <a:cubicBezTo>
                    <a:pt x="5465" y="13276"/>
                    <a:pt x="5240" y="13212"/>
                    <a:pt x="4950" y="13051"/>
                  </a:cubicBezTo>
                  <a:cubicBezTo>
                    <a:pt x="4500" y="12794"/>
                    <a:pt x="3986" y="12280"/>
                    <a:pt x="3504" y="11605"/>
                  </a:cubicBezTo>
                  <a:cubicBezTo>
                    <a:pt x="2797" y="10608"/>
                    <a:pt x="2089" y="9258"/>
                    <a:pt x="1543" y="7940"/>
                  </a:cubicBezTo>
                  <a:cubicBezTo>
                    <a:pt x="1029" y="6623"/>
                    <a:pt x="643" y="5305"/>
                    <a:pt x="547" y="4340"/>
                  </a:cubicBezTo>
                  <a:cubicBezTo>
                    <a:pt x="547" y="4276"/>
                    <a:pt x="547" y="4180"/>
                    <a:pt x="547" y="4115"/>
                  </a:cubicBezTo>
                  <a:cubicBezTo>
                    <a:pt x="547" y="3569"/>
                    <a:pt x="707" y="3087"/>
                    <a:pt x="1029" y="2669"/>
                  </a:cubicBezTo>
                  <a:cubicBezTo>
                    <a:pt x="1479" y="1994"/>
                    <a:pt x="2250" y="1479"/>
                    <a:pt x="3150" y="1094"/>
                  </a:cubicBezTo>
                  <a:cubicBezTo>
                    <a:pt x="4018" y="740"/>
                    <a:pt x="4982" y="547"/>
                    <a:pt x="5850" y="547"/>
                  </a:cubicBezTo>
                  <a:close/>
                  <a:moveTo>
                    <a:pt x="5850" y="1"/>
                  </a:moveTo>
                  <a:cubicBezTo>
                    <a:pt x="4597" y="1"/>
                    <a:pt x="3182" y="386"/>
                    <a:pt x="2025" y="1062"/>
                  </a:cubicBezTo>
                  <a:cubicBezTo>
                    <a:pt x="1447" y="1415"/>
                    <a:pt x="964" y="1833"/>
                    <a:pt x="579" y="2347"/>
                  </a:cubicBezTo>
                  <a:cubicBezTo>
                    <a:pt x="225" y="2862"/>
                    <a:pt x="0" y="3440"/>
                    <a:pt x="0" y="4115"/>
                  </a:cubicBezTo>
                  <a:cubicBezTo>
                    <a:pt x="0" y="4212"/>
                    <a:pt x="0" y="4308"/>
                    <a:pt x="32" y="4405"/>
                  </a:cubicBezTo>
                  <a:cubicBezTo>
                    <a:pt x="161" y="5980"/>
                    <a:pt x="997" y="8294"/>
                    <a:pt x="2025" y="10255"/>
                  </a:cubicBezTo>
                  <a:cubicBezTo>
                    <a:pt x="2572" y="11219"/>
                    <a:pt x="3150" y="12087"/>
                    <a:pt x="3761" y="12730"/>
                  </a:cubicBezTo>
                  <a:cubicBezTo>
                    <a:pt x="4050" y="13051"/>
                    <a:pt x="4372" y="13309"/>
                    <a:pt x="4693" y="13501"/>
                  </a:cubicBezTo>
                  <a:cubicBezTo>
                    <a:pt x="5015" y="13694"/>
                    <a:pt x="5336" y="13823"/>
                    <a:pt x="5657" y="13823"/>
                  </a:cubicBezTo>
                  <a:cubicBezTo>
                    <a:pt x="6750" y="13823"/>
                    <a:pt x="7747" y="13823"/>
                    <a:pt x="8647" y="13662"/>
                  </a:cubicBezTo>
                  <a:cubicBezTo>
                    <a:pt x="9547" y="13534"/>
                    <a:pt x="10318" y="13212"/>
                    <a:pt x="10961" y="12569"/>
                  </a:cubicBezTo>
                  <a:cubicBezTo>
                    <a:pt x="11701" y="11830"/>
                    <a:pt x="12151" y="10705"/>
                    <a:pt x="12151" y="9323"/>
                  </a:cubicBezTo>
                  <a:cubicBezTo>
                    <a:pt x="12151" y="8358"/>
                    <a:pt x="11958" y="7233"/>
                    <a:pt x="11443" y="6012"/>
                  </a:cubicBezTo>
                  <a:cubicBezTo>
                    <a:pt x="10254" y="3022"/>
                    <a:pt x="7329" y="258"/>
                    <a:pt x="7329" y="258"/>
                  </a:cubicBezTo>
                  <a:lnTo>
                    <a:pt x="7200" y="194"/>
                  </a:lnTo>
                  <a:cubicBezTo>
                    <a:pt x="6815" y="65"/>
                    <a:pt x="6333" y="1"/>
                    <a:pt x="58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57"/>
            <p:cNvSpPr/>
            <p:nvPr/>
          </p:nvSpPr>
          <p:spPr>
            <a:xfrm>
              <a:off x="2765675" y="5136875"/>
              <a:ext cx="160425" cy="71975"/>
            </a:xfrm>
            <a:custGeom>
              <a:avLst/>
              <a:gdLst/>
              <a:ahLst/>
              <a:cxnLst/>
              <a:rect l="l" t="t" r="r" b="b"/>
              <a:pathLst>
                <a:path w="6417" h="2879" extrusionOk="0">
                  <a:moveTo>
                    <a:pt x="5299" y="0"/>
                  </a:moveTo>
                  <a:cubicBezTo>
                    <a:pt x="5199" y="0"/>
                    <a:pt x="5083" y="11"/>
                    <a:pt x="4951" y="35"/>
                  </a:cubicBezTo>
                  <a:cubicBezTo>
                    <a:pt x="4951" y="35"/>
                    <a:pt x="1" y="2349"/>
                    <a:pt x="451" y="2799"/>
                  </a:cubicBezTo>
                  <a:cubicBezTo>
                    <a:pt x="502" y="2854"/>
                    <a:pt x="596" y="2879"/>
                    <a:pt x="725" y="2879"/>
                  </a:cubicBezTo>
                  <a:cubicBezTo>
                    <a:pt x="1646" y="2879"/>
                    <a:pt x="4302" y="1623"/>
                    <a:pt x="4951" y="1482"/>
                  </a:cubicBezTo>
                  <a:cubicBezTo>
                    <a:pt x="5629" y="1364"/>
                    <a:pt x="6416" y="0"/>
                    <a:pt x="52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57"/>
            <p:cNvSpPr/>
            <p:nvPr/>
          </p:nvSpPr>
          <p:spPr>
            <a:xfrm>
              <a:off x="2768900" y="5129700"/>
              <a:ext cx="150300" cy="86025"/>
            </a:xfrm>
            <a:custGeom>
              <a:avLst/>
              <a:gdLst/>
              <a:ahLst/>
              <a:cxnLst/>
              <a:rect l="l" t="t" r="r" b="b"/>
              <a:pathLst>
                <a:path w="6012" h="3441" extrusionOk="0">
                  <a:moveTo>
                    <a:pt x="5176" y="547"/>
                  </a:moveTo>
                  <a:cubicBezTo>
                    <a:pt x="5336" y="547"/>
                    <a:pt x="5401" y="579"/>
                    <a:pt x="5433" y="611"/>
                  </a:cubicBezTo>
                  <a:cubicBezTo>
                    <a:pt x="5433" y="611"/>
                    <a:pt x="5465" y="643"/>
                    <a:pt x="5465" y="708"/>
                  </a:cubicBezTo>
                  <a:cubicBezTo>
                    <a:pt x="5465" y="804"/>
                    <a:pt x="5368" y="1029"/>
                    <a:pt x="5240" y="1190"/>
                  </a:cubicBezTo>
                  <a:cubicBezTo>
                    <a:pt x="5079" y="1351"/>
                    <a:pt x="4886" y="1479"/>
                    <a:pt x="4758" y="1511"/>
                  </a:cubicBezTo>
                  <a:cubicBezTo>
                    <a:pt x="4565" y="1544"/>
                    <a:pt x="4276" y="1672"/>
                    <a:pt x="3922" y="1801"/>
                  </a:cubicBezTo>
                  <a:cubicBezTo>
                    <a:pt x="3376" y="1994"/>
                    <a:pt x="2700" y="2283"/>
                    <a:pt x="2058" y="2508"/>
                  </a:cubicBezTo>
                  <a:cubicBezTo>
                    <a:pt x="1768" y="2604"/>
                    <a:pt x="1447" y="2701"/>
                    <a:pt x="1190" y="2797"/>
                  </a:cubicBezTo>
                  <a:cubicBezTo>
                    <a:pt x="1018" y="2840"/>
                    <a:pt x="861" y="2869"/>
                    <a:pt x="738" y="2883"/>
                  </a:cubicBezTo>
                  <a:lnTo>
                    <a:pt x="738" y="2883"/>
                  </a:lnTo>
                  <a:cubicBezTo>
                    <a:pt x="749" y="2876"/>
                    <a:pt x="760" y="2869"/>
                    <a:pt x="772" y="2861"/>
                  </a:cubicBezTo>
                  <a:cubicBezTo>
                    <a:pt x="1222" y="2476"/>
                    <a:pt x="2283" y="1897"/>
                    <a:pt x="3215" y="1415"/>
                  </a:cubicBezTo>
                  <a:cubicBezTo>
                    <a:pt x="3665" y="1190"/>
                    <a:pt x="4115" y="965"/>
                    <a:pt x="4436" y="804"/>
                  </a:cubicBezTo>
                  <a:cubicBezTo>
                    <a:pt x="4632" y="695"/>
                    <a:pt x="4798" y="616"/>
                    <a:pt x="4886" y="576"/>
                  </a:cubicBezTo>
                  <a:lnTo>
                    <a:pt x="4886" y="576"/>
                  </a:lnTo>
                  <a:lnTo>
                    <a:pt x="4886" y="579"/>
                  </a:lnTo>
                  <a:cubicBezTo>
                    <a:pt x="4983" y="547"/>
                    <a:pt x="5079" y="547"/>
                    <a:pt x="5176" y="547"/>
                  </a:cubicBezTo>
                  <a:close/>
                  <a:moveTo>
                    <a:pt x="5176" y="1"/>
                  </a:moveTo>
                  <a:cubicBezTo>
                    <a:pt x="5047" y="1"/>
                    <a:pt x="4918" y="33"/>
                    <a:pt x="4790" y="65"/>
                  </a:cubicBezTo>
                  <a:lnTo>
                    <a:pt x="4726" y="65"/>
                  </a:lnTo>
                  <a:cubicBezTo>
                    <a:pt x="4693" y="65"/>
                    <a:pt x="3568" y="611"/>
                    <a:pt x="2411" y="1222"/>
                  </a:cubicBezTo>
                  <a:cubicBezTo>
                    <a:pt x="1865" y="1511"/>
                    <a:pt x="1286" y="1833"/>
                    <a:pt x="836" y="2122"/>
                  </a:cubicBezTo>
                  <a:cubicBezTo>
                    <a:pt x="611" y="2283"/>
                    <a:pt x="450" y="2411"/>
                    <a:pt x="290" y="2540"/>
                  </a:cubicBezTo>
                  <a:cubicBezTo>
                    <a:pt x="225" y="2604"/>
                    <a:pt x="161" y="2669"/>
                    <a:pt x="129" y="2733"/>
                  </a:cubicBezTo>
                  <a:cubicBezTo>
                    <a:pt x="65" y="2797"/>
                    <a:pt x="32" y="2894"/>
                    <a:pt x="0" y="3022"/>
                  </a:cubicBezTo>
                  <a:cubicBezTo>
                    <a:pt x="0" y="3119"/>
                    <a:pt x="65" y="3215"/>
                    <a:pt x="129" y="3279"/>
                  </a:cubicBezTo>
                  <a:cubicBezTo>
                    <a:pt x="258" y="3408"/>
                    <a:pt x="418" y="3440"/>
                    <a:pt x="579" y="3440"/>
                  </a:cubicBezTo>
                  <a:cubicBezTo>
                    <a:pt x="868" y="3440"/>
                    <a:pt x="1222" y="3344"/>
                    <a:pt x="1608" y="3215"/>
                  </a:cubicBezTo>
                  <a:cubicBezTo>
                    <a:pt x="2218" y="3022"/>
                    <a:pt x="2925" y="2765"/>
                    <a:pt x="3536" y="2508"/>
                  </a:cubicBezTo>
                  <a:cubicBezTo>
                    <a:pt x="3858" y="2411"/>
                    <a:pt x="4147" y="2283"/>
                    <a:pt x="4372" y="2219"/>
                  </a:cubicBezTo>
                  <a:cubicBezTo>
                    <a:pt x="4597" y="2122"/>
                    <a:pt x="4790" y="2058"/>
                    <a:pt x="4886" y="2026"/>
                  </a:cubicBezTo>
                  <a:cubicBezTo>
                    <a:pt x="5176" y="1961"/>
                    <a:pt x="5433" y="1769"/>
                    <a:pt x="5626" y="1544"/>
                  </a:cubicBezTo>
                  <a:cubicBezTo>
                    <a:pt x="5851" y="1286"/>
                    <a:pt x="5979" y="997"/>
                    <a:pt x="5979" y="708"/>
                  </a:cubicBezTo>
                  <a:cubicBezTo>
                    <a:pt x="6011" y="515"/>
                    <a:pt x="5915" y="322"/>
                    <a:pt x="5786" y="193"/>
                  </a:cubicBezTo>
                  <a:cubicBezTo>
                    <a:pt x="5626" y="65"/>
                    <a:pt x="5401" y="1"/>
                    <a:pt x="51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57"/>
            <p:cNvSpPr/>
            <p:nvPr/>
          </p:nvSpPr>
          <p:spPr>
            <a:xfrm>
              <a:off x="2849250" y="5096175"/>
              <a:ext cx="87625" cy="156775"/>
            </a:xfrm>
            <a:custGeom>
              <a:avLst/>
              <a:gdLst/>
              <a:ahLst/>
              <a:cxnLst/>
              <a:rect l="l" t="t" r="r" b="b"/>
              <a:pathLst>
                <a:path w="3505" h="6271" extrusionOk="0">
                  <a:moveTo>
                    <a:pt x="2823" y="0"/>
                  </a:moveTo>
                  <a:cubicBezTo>
                    <a:pt x="2347" y="0"/>
                    <a:pt x="1770" y="91"/>
                    <a:pt x="1608" y="506"/>
                  </a:cubicBezTo>
                  <a:cubicBezTo>
                    <a:pt x="1319" y="1213"/>
                    <a:pt x="1" y="5167"/>
                    <a:pt x="162" y="6035"/>
                  </a:cubicBezTo>
                  <a:cubicBezTo>
                    <a:pt x="186" y="6200"/>
                    <a:pt x="254" y="6271"/>
                    <a:pt x="351" y="6271"/>
                  </a:cubicBezTo>
                  <a:cubicBezTo>
                    <a:pt x="766" y="6271"/>
                    <a:pt x="1718" y="4995"/>
                    <a:pt x="2187" y="4267"/>
                  </a:cubicBezTo>
                  <a:cubicBezTo>
                    <a:pt x="2765" y="3399"/>
                    <a:pt x="3505" y="56"/>
                    <a:pt x="3505" y="56"/>
                  </a:cubicBezTo>
                  <a:cubicBezTo>
                    <a:pt x="3505" y="56"/>
                    <a:pt x="3195" y="0"/>
                    <a:pt x="2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57"/>
            <p:cNvSpPr/>
            <p:nvPr/>
          </p:nvSpPr>
          <p:spPr>
            <a:xfrm>
              <a:off x="2846050" y="5089525"/>
              <a:ext cx="98050" cy="170375"/>
            </a:xfrm>
            <a:custGeom>
              <a:avLst/>
              <a:gdLst/>
              <a:ahLst/>
              <a:cxnLst/>
              <a:rect l="l" t="t" r="r" b="b"/>
              <a:pathLst>
                <a:path w="3922" h="6815" extrusionOk="0">
                  <a:moveTo>
                    <a:pt x="2795" y="541"/>
                  </a:moveTo>
                  <a:cubicBezTo>
                    <a:pt x="2839" y="541"/>
                    <a:pt x="2882" y="543"/>
                    <a:pt x="2925" y="547"/>
                  </a:cubicBezTo>
                  <a:lnTo>
                    <a:pt x="3302" y="547"/>
                  </a:lnTo>
                  <a:cubicBezTo>
                    <a:pt x="3285" y="622"/>
                    <a:pt x="3266" y="709"/>
                    <a:pt x="3247" y="804"/>
                  </a:cubicBezTo>
                  <a:cubicBezTo>
                    <a:pt x="3118" y="1286"/>
                    <a:pt x="2958" y="2058"/>
                    <a:pt x="2732" y="2765"/>
                  </a:cubicBezTo>
                  <a:cubicBezTo>
                    <a:pt x="2636" y="3118"/>
                    <a:pt x="2507" y="3440"/>
                    <a:pt x="2411" y="3729"/>
                  </a:cubicBezTo>
                  <a:cubicBezTo>
                    <a:pt x="2282" y="4018"/>
                    <a:pt x="2186" y="4276"/>
                    <a:pt x="2090" y="4404"/>
                  </a:cubicBezTo>
                  <a:cubicBezTo>
                    <a:pt x="1865" y="4758"/>
                    <a:pt x="1511" y="5240"/>
                    <a:pt x="1190" y="5626"/>
                  </a:cubicBezTo>
                  <a:cubicBezTo>
                    <a:pt x="997" y="5819"/>
                    <a:pt x="836" y="6011"/>
                    <a:pt x="707" y="6108"/>
                  </a:cubicBezTo>
                  <a:cubicBezTo>
                    <a:pt x="643" y="6172"/>
                    <a:pt x="579" y="6204"/>
                    <a:pt x="547" y="6236"/>
                  </a:cubicBezTo>
                  <a:cubicBezTo>
                    <a:pt x="547" y="6236"/>
                    <a:pt x="547" y="6172"/>
                    <a:pt x="547" y="6140"/>
                  </a:cubicBezTo>
                  <a:cubicBezTo>
                    <a:pt x="547" y="5883"/>
                    <a:pt x="611" y="5465"/>
                    <a:pt x="707" y="4983"/>
                  </a:cubicBezTo>
                  <a:cubicBezTo>
                    <a:pt x="1061" y="3504"/>
                    <a:pt x="1800" y="1350"/>
                    <a:pt x="1993" y="868"/>
                  </a:cubicBezTo>
                  <a:cubicBezTo>
                    <a:pt x="1993" y="804"/>
                    <a:pt x="2025" y="772"/>
                    <a:pt x="2090" y="708"/>
                  </a:cubicBezTo>
                  <a:cubicBezTo>
                    <a:pt x="2229" y="624"/>
                    <a:pt x="2513" y="541"/>
                    <a:pt x="2795" y="541"/>
                  </a:cubicBezTo>
                  <a:close/>
                  <a:moveTo>
                    <a:pt x="2925" y="0"/>
                  </a:moveTo>
                  <a:cubicBezTo>
                    <a:pt x="2700" y="0"/>
                    <a:pt x="2411" y="33"/>
                    <a:pt x="2122" y="97"/>
                  </a:cubicBezTo>
                  <a:cubicBezTo>
                    <a:pt x="1993" y="161"/>
                    <a:pt x="1865" y="225"/>
                    <a:pt x="1768" y="290"/>
                  </a:cubicBezTo>
                  <a:cubicBezTo>
                    <a:pt x="1640" y="386"/>
                    <a:pt x="1543" y="515"/>
                    <a:pt x="1479" y="675"/>
                  </a:cubicBezTo>
                  <a:cubicBezTo>
                    <a:pt x="1350" y="1029"/>
                    <a:pt x="965" y="2090"/>
                    <a:pt x="643" y="3215"/>
                  </a:cubicBezTo>
                  <a:cubicBezTo>
                    <a:pt x="482" y="3761"/>
                    <a:pt x="322" y="4340"/>
                    <a:pt x="193" y="4854"/>
                  </a:cubicBezTo>
                  <a:cubicBezTo>
                    <a:pt x="97" y="5368"/>
                    <a:pt x="0" y="5819"/>
                    <a:pt x="0" y="6140"/>
                  </a:cubicBezTo>
                  <a:cubicBezTo>
                    <a:pt x="0" y="6204"/>
                    <a:pt x="0" y="6269"/>
                    <a:pt x="32" y="6333"/>
                  </a:cubicBezTo>
                  <a:cubicBezTo>
                    <a:pt x="32" y="6461"/>
                    <a:pt x="65" y="6558"/>
                    <a:pt x="161" y="6654"/>
                  </a:cubicBezTo>
                  <a:cubicBezTo>
                    <a:pt x="225" y="6751"/>
                    <a:pt x="354" y="6815"/>
                    <a:pt x="482" y="6815"/>
                  </a:cubicBezTo>
                  <a:cubicBezTo>
                    <a:pt x="611" y="6815"/>
                    <a:pt x="707" y="6751"/>
                    <a:pt x="772" y="6719"/>
                  </a:cubicBezTo>
                  <a:cubicBezTo>
                    <a:pt x="1093" y="6526"/>
                    <a:pt x="1415" y="6204"/>
                    <a:pt x="1704" y="5819"/>
                  </a:cubicBezTo>
                  <a:cubicBezTo>
                    <a:pt x="2025" y="5433"/>
                    <a:pt x="2347" y="5015"/>
                    <a:pt x="2540" y="4693"/>
                  </a:cubicBezTo>
                  <a:cubicBezTo>
                    <a:pt x="2700" y="4436"/>
                    <a:pt x="2861" y="4051"/>
                    <a:pt x="3022" y="3601"/>
                  </a:cubicBezTo>
                  <a:cubicBezTo>
                    <a:pt x="3472" y="2283"/>
                    <a:pt x="3890" y="386"/>
                    <a:pt x="3890" y="386"/>
                  </a:cubicBezTo>
                  <a:cubicBezTo>
                    <a:pt x="3922" y="322"/>
                    <a:pt x="3890" y="225"/>
                    <a:pt x="3858" y="161"/>
                  </a:cubicBezTo>
                  <a:cubicBezTo>
                    <a:pt x="3825" y="129"/>
                    <a:pt x="3761" y="65"/>
                    <a:pt x="3665" y="65"/>
                  </a:cubicBezTo>
                  <a:cubicBezTo>
                    <a:pt x="3665" y="65"/>
                    <a:pt x="3343" y="0"/>
                    <a:pt x="2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57"/>
            <p:cNvSpPr/>
            <p:nvPr/>
          </p:nvSpPr>
          <p:spPr>
            <a:xfrm>
              <a:off x="2864525" y="5089350"/>
              <a:ext cx="148700" cy="160125"/>
            </a:xfrm>
            <a:custGeom>
              <a:avLst/>
              <a:gdLst/>
              <a:ahLst/>
              <a:cxnLst/>
              <a:rect l="l" t="t" r="r" b="b"/>
              <a:pathLst>
                <a:path w="5948" h="6405" extrusionOk="0">
                  <a:moveTo>
                    <a:pt x="3885" y="0"/>
                  </a:moveTo>
                  <a:cubicBezTo>
                    <a:pt x="3433" y="0"/>
                    <a:pt x="3044" y="82"/>
                    <a:pt x="2894" y="329"/>
                  </a:cubicBezTo>
                  <a:cubicBezTo>
                    <a:pt x="2444" y="1068"/>
                    <a:pt x="129" y="6147"/>
                    <a:pt x="129" y="6147"/>
                  </a:cubicBezTo>
                  <a:cubicBezTo>
                    <a:pt x="129" y="6147"/>
                    <a:pt x="1" y="6404"/>
                    <a:pt x="305" y="6404"/>
                  </a:cubicBezTo>
                  <a:cubicBezTo>
                    <a:pt x="458" y="6404"/>
                    <a:pt x="718" y="6340"/>
                    <a:pt x="1158" y="6147"/>
                  </a:cubicBezTo>
                  <a:cubicBezTo>
                    <a:pt x="2444" y="5568"/>
                    <a:pt x="5947" y="329"/>
                    <a:pt x="5947" y="329"/>
                  </a:cubicBezTo>
                  <a:cubicBezTo>
                    <a:pt x="5947" y="329"/>
                    <a:pt x="4790" y="0"/>
                    <a:pt x="38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57"/>
            <p:cNvSpPr/>
            <p:nvPr/>
          </p:nvSpPr>
          <p:spPr>
            <a:xfrm>
              <a:off x="2860500" y="5083100"/>
              <a:ext cx="159950" cy="173600"/>
            </a:xfrm>
            <a:custGeom>
              <a:avLst/>
              <a:gdLst/>
              <a:ahLst/>
              <a:cxnLst/>
              <a:rect l="l" t="t" r="r" b="b"/>
              <a:pathLst>
                <a:path w="6398" h="6944" extrusionOk="0">
                  <a:moveTo>
                    <a:pt x="4051" y="515"/>
                  </a:moveTo>
                  <a:cubicBezTo>
                    <a:pt x="4469" y="515"/>
                    <a:pt x="4983" y="611"/>
                    <a:pt x="5369" y="675"/>
                  </a:cubicBezTo>
                  <a:cubicBezTo>
                    <a:pt x="5479" y="694"/>
                    <a:pt x="5579" y="723"/>
                    <a:pt x="5669" y="750"/>
                  </a:cubicBezTo>
                  <a:lnTo>
                    <a:pt x="5669" y="750"/>
                  </a:lnTo>
                  <a:cubicBezTo>
                    <a:pt x="5579" y="888"/>
                    <a:pt x="5466" y="1060"/>
                    <a:pt x="5337" y="1254"/>
                  </a:cubicBezTo>
                  <a:cubicBezTo>
                    <a:pt x="4790" y="1993"/>
                    <a:pt x="3987" y="3150"/>
                    <a:pt x="3183" y="4147"/>
                  </a:cubicBezTo>
                  <a:cubicBezTo>
                    <a:pt x="2797" y="4629"/>
                    <a:pt x="2412" y="5111"/>
                    <a:pt x="2058" y="5465"/>
                  </a:cubicBezTo>
                  <a:cubicBezTo>
                    <a:pt x="1704" y="5818"/>
                    <a:pt x="1383" y="6076"/>
                    <a:pt x="1190" y="6172"/>
                  </a:cubicBezTo>
                  <a:cubicBezTo>
                    <a:pt x="906" y="6303"/>
                    <a:pt x="712" y="6360"/>
                    <a:pt x="585" y="6383"/>
                  </a:cubicBezTo>
                  <a:lnTo>
                    <a:pt x="585" y="6383"/>
                  </a:lnTo>
                  <a:cubicBezTo>
                    <a:pt x="653" y="6244"/>
                    <a:pt x="765" y="6012"/>
                    <a:pt x="901" y="5722"/>
                  </a:cubicBezTo>
                  <a:cubicBezTo>
                    <a:pt x="1222" y="4983"/>
                    <a:pt x="1769" y="3858"/>
                    <a:pt x="2219" y="2861"/>
                  </a:cubicBezTo>
                  <a:cubicBezTo>
                    <a:pt x="2476" y="2347"/>
                    <a:pt x="2701" y="1897"/>
                    <a:pt x="2862" y="1511"/>
                  </a:cubicBezTo>
                  <a:cubicBezTo>
                    <a:pt x="3055" y="1125"/>
                    <a:pt x="3215" y="836"/>
                    <a:pt x="3280" y="707"/>
                  </a:cubicBezTo>
                  <a:cubicBezTo>
                    <a:pt x="3312" y="675"/>
                    <a:pt x="3376" y="611"/>
                    <a:pt x="3505" y="579"/>
                  </a:cubicBezTo>
                  <a:cubicBezTo>
                    <a:pt x="3633" y="547"/>
                    <a:pt x="3826" y="515"/>
                    <a:pt x="4051" y="515"/>
                  </a:cubicBezTo>
                  <a:close/>
                  <a:moveTo>
                    <a:pt x="4051" y="0"/>
                  </a:moveTo>
                  <a:cubicBezTo>
                    <a:pt x="3794" y="0"/>
                    <a:pt x="3569" y="0"/>
                    <a:pt x="3344" y="64"/>
                  </a:cubicBezTo>
                  <a:cubicBezTo>
                    <a:pt x="3151" y="129"/>
                    <a:pt x="2958" y="225"/>
                    <a:pt x="2830" y="450"/>
                  </a:cubicBezTo>
                  <a:cubicBezTo>
                    <a:pt x="2701" y="643"/>
                    <a:pt x="2476" y="1093"/>
                    <a:pt x="2187" y="1672"/>
                  </a:cubicBezTo>
                  <a:cubicBezTo>
                    <a:pt x="1351" y="3440"/>
                    <a:pt x="33" y="6301"/>
                    <a:pt x="33" y="6301"/>
                  </a:cubicBezTo>
                  <a:cubicBezTo>
                    <a:pt x="33" y="6301"/>
                    <a:pt x="1" y="6365"/>
                    <a:pt x="1" y="6526"/>
                  </a:cubicBezTo>
                  <a:cubicBezTo>
                    <a:pt x="1" y="6590"/>
                    <a:pt x="1" y="6718"/>
                    <a:pt x="129" y="6815"/>
                  </a:cubicBezTo>
                  <a:cubicBezTo>
                    <a:pt x="226" y="6911"/>
                    <a:pt x="354" y="6943"/>
                    <a:pt x="451" y="6943"/>
                  </a:cubicBezTo>
                  <a:cubicBezTo>
                    <a:pt x="676" y="6943"/>
                    <a:pt x="965" y="6847"/>
                    <a:pt x="1415" y="6654"/>
                  </a:cubicBezTo>
                  <a:cubicBezTo>
                    <a:pt x="1833" y="6461"/>
                    <a:pt x="2283" y="6011"/>
                    <a:pt x="2797" y="5433"/>
                  </a:cubicBezTo>
                  <a:cubicBezTo>
                    <a:pt x="4372" y="3697"/>
                    <a:pt x="6333" y="740"/>
                    <a:pt x="6333" y="740"/>
                  </a:cubicBezTo>
                  <a:cubicBezTo>
                    <a:pt x="6398" y="643"/>
                    <a:pt x="6398" y="579"/>
                    <a:pt x="6365" y="482"/>
                  </a:cubicBezTo>
                  <a:cubicBezTo>
                    <a:pt x="6333" y="418"/>
                    <a:pt x="6269" y="354"/>
                    <a:pt x="6173" y="322"/>
                  </a:cubicBezTo>
                  <a:cubicBezTo>
                    <a:pt x="6173" y="322"/>
                    <a:pt x="5015" y="0"/>
                    <a:pt x="40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57"/>
            <p:cNvSpPr/>
            <p:nvPr/>
          </p:nvSpPr>
          <p:spPr>
            <a:xfrm>
              <a:off x="2874975" y="5075450"/>
              <a:ext cx="1043925" cy="240775"/>
            </a:xfrm>
            <a:custGeom>
              <a:avLst/>
              <a:gdLst/>
              <a:ahLst/>
              <a:cxnLst/>
              <a:rect l="l" t="t" r="r" b="b"/>
              <a:pathLst>
                <a:path w="41757" h="9631" extrusionOk="0">
                  <a:moveTo>
                    <a:pt x="7148" y="0"/>
                  </a:moveTo>
                  <a:cubicBezTo>
                    <a:pt x="5926" y="0"/>
                    <a:pt x="4749" y="946"/>
                    <a:pt x="4211" y="1753"/>
                  </a:cubicBezTo>
                  <a:cubicBezTo>
                    <a:pt x="3633" y="2621"/>
                    <a:pt x="0" y="7282"/>
                    <a:pt x="0" y="7282"/>
                  </a:cubicBezTo>
                  <a:lnTo>
                    <a:pt x="868" y="7571"/>
                  </a:lnTo>
                  <a:lnTo>
                    <a:pt x="5979" y="3521"/>
                  </a:lnTo>
                  <a:cubicBezTo>
                    <a:pt x="5979" y="3521"/>
                    <a:pt x="8744" y="3360"/>
                    <a:pt x="9612" y="3360"/>
                  </a:cubicBezTo>
                  <a:cubicBezTo>
                    <a:pt x="10480" y="3360"/>
                    <a:pt x="7136" y="5256"/>
                    <a:pt x="6108" y="5417"/>
                  </a:cubicBezTo>
                  <a:cubicBezTo>
                    <a:pt x="5111" y="5546"/>
                    <a:pt x="3922" y="5706"/>
                    <a:pt x="4083" y="6285"/>
                  </a:cubicBezTo>
                  <a:cubicBezTo>
                    <a:pt x="4211" y="6864"/>
                    <a:pt x="6847" y="6992"/>
                    <a:pt x="7426" y="6992"/>
                  </a:cubicBezTo>
                  <a:cubicBezTo>
                    <a:pt x="8004" y="6992"/>
                    <a:pt x="12087" y="5546"/>
                    <a:pt x="12087" y="5546"/>
                  </a:cubicBezTo>
                  <a:cubicBezTo>
                    <a:pt x="12087" y="5546"/>
                    <a:pt x="13115" y="5546"/>
                    <a:pt x="14401" y="5706"/>
                  </a:cubicBezTo>
                  <a:cubicBezTo>
                    <a:pt x="14479" y="5714"/>
                    <a:pt x="14560" y="5718"/>
                    <a:pt x="14644" y="5718"/>
                  </a:cubicBezTo>
                  <a:cubicBezTo>
                    <a:pt x="15987" y="5718"/>
                    <a:pt x="18066" y="4806"/>
                    <a:pt x="18066" y="4806"/>
                  </a:cubicBezTo>
                  <a:cubicBezTo>
                    <a:pt x="18066" y="4806"/>
                    <a:pt x="38208" y="9631"/>
                    <a:pt x="40116" y="9631"/>
                  </a:cubicBezTo>
                  <a:cubicBezTo>
                    <a:pt x="40141" y="9631"/>
                    <a:pt x="40162" y="9630"/>
                    <a:pt x="40181" y="9628"/>
                  </a:cubicBezTo>
                  <a:cubicBezTo>
                    <a:pt x="41660" y="9467"/>
                    <a:pt x="41756" y="1849"/>
                    <a:pt x="36838" y="885"/>
                  </a:cubicBezTo>
                  <a:lnTo>
                    <a:pt x="20251" y="2492"/>
                  </a:lnTo>
                  <a:cubicBezTo>
                    <a:pt x="20251" y="2492"/>
                    <a:pt x="8744" y="145"/>
                    <a:pt x="7426" y="17"/>
                  </a:cubicBezTo>
                  <a:cubicBezTo>
                    <a:pt x="7333" y="6"/>
                    <a:pt x="7240" y="0"/>
                    <a:pt x="71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57"/>
            <p:cNvSpPr/>
            <p:nvPr/>
          </p:nvSpPr>
          <p:spPr>
            <a:xfrm>
              <a:off x="2867750" y="5068625"/>
              <a:ext cx="1040700" cy="253975"/>
            </a:xfrm>
            <a:custGeom>
              <a:avLst/>
              <a:gdLst/>
              <a:ahLst/>
              <a:cxnLst/>
              <a:rect l="l" t="t" r="r" b="b"/>
              <a:pathLst>
                <a:path w="41628" h="10159" extrusionOk="0">
                  <a:moveTo>
                    <a:pt x="9772" y="3633"/>
                  </a:moveTo>
                  <a:lnTo>
                    <a:pt x="9788" y="3638"/>
                  </a:lnTo>
                  <a:lnTo>
                    <a:pt x="9788" y="3638"/>
                  </a:lnTo>
                  <a:cubicBezTo>
                    <a:pt x="9787" y="3638"/>
                    <a:pt x="9787" y="3639"/>
                    <a:pt x="9787" y="3639"/>
                  </a:cubicBezTo>
                  <a:lnTo>
                    <a:pt x="9787" y="3639"/>
                  </a:lnTo>
                  <a:lnTo>
                    <a:pt x="9772" y="3633"/>
                  </a:lnTo>
                  <a:close/>
                  <a:moveTo>
                    <a:pt x="7683" y="547"/>
                  </a:moveTo>
                  <a:cubicBezTo>
                    <a:pt x="8004" y="579"/>
                    <a:pt x="8968" y="772"/>
                    <a:pt x="10222" y="997"/>
                  </a:cubicBezTo>
                  <a:cubicBezTo>
                    <a:pt x="12119" y="1351"/>
                    <a:pt x="14690" y="1865"/>
                    <a:pt x="16780" y="2283"/>
                  </a:cubicBezTo>
                  <a:cubicBezTo>
                    <a:pt x="17808" y="2476"/>
                    <a:pt x="18740" y="2669"/>
                    <a:pt x="19415" y="2797"/>
                  </a:cubicBezTo>
                  <a:cubicBezTo>
                    <a:pt x="20058" y="2958"/>
                    <a:pt x="20476" y="3022"/>
                    <a:pt x="20476" y="3022"/>
                  </a:cubicBezTo>
                  <a:lnTo>
                    <a:pt x="20573" y="3022"/>
                  </a:lnTo>
                  <a:lnTo>
                    <a:pt x="37116" y="1419"/>
                  </a:lnTo>
                  <a:lnTo>
                    <a:pt x="37116" y="1419"/>
                  </a:lnTo>
                  <a:cubicBezTo>
                    <a:pt x="38583" y="1713"/>
                    <a:pt x="39541" y="2642"/>
                    <a:pt x="40181" y="3794"/>
                  </a:cubicBezTo>
                  <a:cubicBezTo>
                    <a:pt x="40824" y="4951"/>
                    <a:pt x="41081" y="6333"/>
                    <a:pt x="41081" y="7458"/>
                  </a:cubicBezTo>
                  <a:cubicBezTo>
                    <a:pt x="41081" y="8133"/>
                    <a:pt x="41016" y="8680"/>
                    <a:pt x="40856" y="9065"/>
                  </a:cubicBezTo>
                  <a:cubicBezTo>
                    <a:pt x="40791" y="9258"/>
                    <a:pt x="40727" y="9419"/>
                    <a:pt x="40631" y="9515"/>
                  </a:cubicBezTo>
                  <a:cubicBezTo>
                    <a:pt x="40566" y="9612"/>
                    <a:pt x="40502" y="9612"/>
                    <a:pt x="40470" y="9644"/>
                  </a:cubicBezTo>
                  <a:lnTo>
                    <a:pt x="40406" y="9644"/>
                  </a:lnTo>
                  <a:cubicBezTo>
                    <a:pt x="40213" y="9644"/>
                    <a:pt x="39666" y="9548"/>
                    <a:pt x="38927" y="9419"/>
                  </a:cubicBezTo>
                  <a:cubicBezTo>
                    <a:pt x="36356" y="8969"/>
                    <a:pt x="31245" y="7812"/>
                    <a:pt x="26744" y="6783"/>
                  </a:cubicBezTo>
                  <a:cubicBezTo>
                    <a:pt x="24494" y="6269"/>
                    <a:pt x="22405" y="5787"/>
                    <a:pt x="20894" y="5433"/>
                  </a:cubicBezTo>
                  <a:cubicBezTo>
                    <a:pt x="19383" y="5047"/>
                    <a:pt x="18419" y="4822"/>
                    <a:pt x="18419" y="4822"/>
                  </a:cubicBezTo>
                  <a:cubicBezTo>
                    <a:pt x="18355" y="4822"/>
                    <a:pt x="18290" y="4822"/>
                    <a:pt x="18226" y="4854"/>
                  </a:cubicBezTo>
                  <a:cubicBezTo>
                    <a:pt x="18226" y="4854"/>
                    <a:pt x="18194" y="4854"/>
                    <a:pt x="18162" y="4887"/>
                  </a:cubicBezTo>
                  <a:cubicBezTo>
                    <a:pt x="17969" y="4951"/>
                    <a:pt x="17422" y="5176"/>
                    <a:pt x="16812" y="5369"/>
                  </a:cubicBezTo>
                  <a:cubicBezTo>
                    <a:pt x="16201" y="5562"/>
                    <a:pt x="15526" y="5722"/>
                    <a:pt x="14979" y="5722"/>
                  </a:cubicBezTo>
                  <a:cubicBezTo>
                    <a:pt x="14883" y="5722"/>
                    <a:pt x="14819" y="5722"/>
                    <a:pt x="14722" y="5690"/>
                  </a:cubicBezTo>
                  <a:cubicBezTo>
                    <a:pt x="13404" y="5562"/>
                    <a:pt x="12376" y="5562"/>
                    <a:pt x="12376" y="5562"/>
                  </a:cubicBezTo>
                  <a:lnTo>
                    <a:pt x="12279" y="5562"/>
                  </a:lnTo>
                  <a:cubicBezTo>
                    <a:pt x="12279" y="5562"/>
                    <a:pt x="12022" y="5658"/>
                    <a:pt x="11636" y="5787"/>
                  </a:cubicBezTo>
                  <a:cubicBezTo>
                    <a:pt x="11058" y="6012"/>
                    <a:pt x="10158" y="6301"/>
                    <a:pt x="9354" y="6558"/>
                  </a:cubicBezTo>
                  <a:cubicBezTo>
                    <a:pt x="8968" y="6687"/>
                    <a:pt x="8583" y="6815"/>
                    <a:pt x="8293" y="6880"/>
                  </a:cubicBezTo>
                  <a:cubicBezTo>
                    <a:pt x="8133" y="6912"/>
                    <a:pt x="8004" y="6944"/>
                    <a:pt x="7908" y="6976"/>
                  </a:cubicBezTo>
                  <a:cubicBezTo>
                    <a:pt x="7811" y="7008"/>
                    <a:pt x="7715" y="7008"/>
                    <a:pt x="7715" y="7008"/>
                  </a:cubicBezTo>
                  <a:cubicBezTo>
                    <a:pt x="7425" y="7008"/>
                    <a:pt x="6654" y="6976"/>
                    <a:pt x="5915" y="6880"/>
                  </a:cubicBezTo>
                  <a:cubicBezTo>
                    <a:pt x="5561" y="6815"/>
                    <a:pt x="5208" y="6751"/>
                    <a:pt x="4950" y="6655"/>
                  </a:cubicBezTo>
                  <a:cubicBezTo>
                    <a:pt x="4822" y="6622"/>
                    <a:pt x="4725" y="6558"/>
                    <a:pt x="4693" y="6526"/>
                  </a:cubicBezTo>
                  <a:lnTo>
                    <a:pt x="4629" y="6494"/>
                  </a:lnTo>
                  <a:lnTo>
                    <a:pt x="4629" y="6462"/>
                  </a:lnTo>
                  <a:cubicBezTo>
                    <a:pt x="4629" y="6430"/>
                    <a:pt x="4629" y="6430"/>
                    <a:pt x="4693" y="6365"/>
                  </a:cubicBezTo>
                  <a:cubicBezTo>
                    <a:pt x="4822" y="6269"/>
                    <a:pt x="5079" y="6172"/>
                    <a:pt x="5400" y="6108"/>
                  </a:cubicBezTo>
                  <a:cubicBezTo>
                    <a:pt x="5722" y="6044"/>
                    <a:pt x="6075" y="5979"/>
                    <a:pt x="6429" y="5947"/>
                  </a:cubicBezTo>
                  <a:cubicBezTo>
                    <a:pt x="6718" y="5883"/>
                    <a:pt x="7072" y="5787"/>
                    <a:pt x="7458" y="5594"/>
                  </a:cubicBezTo>
                  <a:cubicBezTo>
                    <a:pt x="8036" y="5369"/>
                    <a:pt x="8743" y="5015"/>
                    <a:pt x="9258" y="4662"/>
                  </a:cubicBezTo>
                  <a:cubicBezTo>
                    <a:pt x="9547" y="4501"/>
                    <a:pt x="9772" y="4340"/>
                    <a:pt x="9965" y="4212"/>
                  </a:cubicBezTo>
                  <a:cubicBezTo>
                    <a:pt x="10029" y="4147"/>
                    <a:pt x="10126" y="4083"/>
                    <a:pt x="10190" y="4019"/>
                  </a:cubicBezTo>
                  <a:lnTo>
                    <a:pt x="10254" y="3890"/>
                  </a:lnTo>
                  <a:cubicBezTo>
                    <a:pt x="10286" y="3858"/>
                    <a:pt x="10318" y="3794"/>
                    <a:pt x="10318" y="3697"/>
                  </a:cubicBezTo>
                  <a:cubicBezTo>
                    <a:pt x="10318" y="3633"/>
                    <a:pt x="10286" y="3569"/>
                    <a:pt x="10254" y="3536"/>
                  </a:cubicBezTo>
                  <a:cubicBezTo>
                    <a:pt x="10190" y="3440"/>
                    <a:pt x="10126" y="3408"/>
                    <a:pt x="10061" y="3376"/>
                  </a:cubicBezTo>
                  <a:lnTo>
                    <a:pt x="9901" y="3376"/>
                  </a:lnTo>
                  <a:cubicBezTo>
                    <a:pt x="9001" y="3376"/>
                    <a:pt x="6236" y="3504"/>
                    <a:pt x="6236" y="3504"/>
                  </a:cubicBezTo>
                  <a:cubicBezTo>
                    <a:pt x="6204" y="3504"/>
                    <a:pt x="6140" y="3536"/>
                    <a:pt x="6108" y="3569"/>
                  </a:cubicBezTo>
                  <a:lnTo>
                    <a:pt x="1093" y="7555"/>
                  </a:lnTo>
                  <a:lnTo>
                    <a:pt x="745" y="7444"/>
                  </a:lnTo>
                  <a:lnTo>
                    <a:pt x="745" y="7444"/>
                  </a:lnTo>
                  <a:cubicBezTo>
                    <a:pt x="1073" y="7011"/>
                    <a:pt x="1711" y="6173"/>
                    <a:pt x="2379" y="5304"/>
                  </a:cubicBezTo>
                  <a:cubicBezTo>
                    <a:pt x="2893" y="4662"/>
                    <a:pt x="3407" y="3987"/>
                    <a:pt x="3825" y="3440"/>
                  </a:cubicBezTo>
                  <a:cubicBezTo>
                    <a:pt x="4243" y="2861"/>
                    <a:pt x="4565" y="2411"/>
                    <a:pt x="4725" y="2186"/>
                  </a:cubicBezTo>
                  <a:cubicBezTo>
                    <a:pt x="4983" y="1801"/>
                    <a:pt x="5400" y="1383"/>
                    <a:pt x="5883" y="1061"/>
                  </a:cubicBezTo>
                  <a:cubicBezTo>
                    <a:pt x="6365" y="740"/>
                    <a:pt x="6911" y="547"/>
                    <a:pt x="7458" y="547"/>
                  </a:cubicBezTo>
                  <a:close/>
                  <a:moveTo>
                    <a:pt x="7458" y="1"/>
                  </a:moveTo>
                  <a:cubicBezTo>
                    <a:pt x="6783" y="1"/>
                    <a:pt x="6140" y="258"/>
                    <a:pt x="5593" y="611"/>
                  </a:cubicBezTo>
                  <a:cubicBezTo>
                    <a:pt x="5047" y="997"/>
                    <a:pt x="4597" y="1447"/>
                    <a:pt x="4275" y="1897"/>
                  </a:cubicBezTo>
                  <a:cubicBezTo>
                    <a:pt x="4147" y="2090"/>
                    <a:pt x="3825" y="2540"/>
                    <a:pt x="3407" y="3119"/>
                  </a:cubicBezTo>
                  <a:cubicBezTo>
                    <a:pt x="2765" y="3954"/>
                    <a:pt x="1929" y="5015"/>
                    <a:pt x="1254" y="5883"/>
                  </a:cubicBezTo>
                  <a:cubicBezTo>
                    <a:pt x="579" y="6751"/>
                    <a:pt x="64" y="7394"/>
                    <a:pt x="64" y="7394"/>
                  </a:cubicBezTo>
                  <a:cubicBezTo>
                    <a:pt x="32" y="7458"/>
                    <a:pt x="0" y="7555"/>
                    <a:pt x="32" y="7651"/>
                  </a:cubicBezTo>
                  <a:cubicBezTo>
                    <a:pt x="64" y="7715"/>
                    <a:pt x="129" y="7780"/>
                    <a:pt x="193" y="7812"/>
                  </a:cubicBezTo>
                  <a:lnTo>
                    <a:pt x="1061" y="8101"/>
                  </a:lnTo>
                  <a:cubicBezTo>
                    <a:pt x="1101" y="8114"/>
                    <a:pt x="1141" y="8122"/>
                    <a:pt x="1178" y="8122"/>
                  </a:cubicBezTo>
                  <a:cubicBezTo>
                    <a:pt x="1232" y="8122"/>
                    <a:pt x="1280" y="8107"/>
                    <a:pt x="1318" y="8069"/>
                  </a:cubicBezTo>
                  <a:lnTo>
                    <a:pt x="6353" y="4047"/>
                  </a:lnTo>
                  <a:lnTo>
                    <a:pt x="6353" y="4047"/>
                  </a:lnTo>
                  <a:cubicBezTo>
                    <a:pt x="6564" y="4038"/>
                    <a:pt x="7141" y="4012"/>
                    <a:pt x="7779" y="3987"/>
                  </a:cubicBezTo>
                  <a:cubicBezTo>
                    <a:pt x="8340" y="3963"/>
                    <a:pt x="8986" y="3923"/>
                    <a:pt x="9457" y="3903"/>
                  </a:cubicBezTo>
                  <a:lnTo>
                    <a:pt x="9457" y="3903"/>
                  </a:lnTo>
                  <a:cubicBezTo>
                    <a:pt x="9107" y="4155"/>
                    <a:pt x="8566" y="4490"/>
                    <a:pt x="8004" y="4758"/>
                  </a:cubicBezTo>
                  <a:cubicBezTo>
                    <a:pt x="7683" y="4919"/>
                    <a:pt x="7329" y="5079"/>
                    <a:pt x="7040" y="5208"/>
                  </a:cubicBezTo>
                  <a:cubicBezTo>
                    <a:pt x="6750" y="5304"/>
                    <a:pt x="6525" y="5401"/>
                    <a:pt x="6365" y="5401"/>
                  </a:cubicBezTo>
                  <a:cubicBezTo>
                    <a:pt x="5883" y="5465"/>
                    <a:pt x="5368" y="5562"/>
                    <a:pt x="4950" y="5658"/>
                  </a:cubicBezTo>
                  <a:cubicBezTo>
                    <a:pt x="4725" y="5722"/>
                    <a:pt x="4532" y="5819"/>
                    <a:pt x="4372" y="5915"/>
                  </a:cubicBezTo>
                  <a:cubicBezTo>
                    <a:pt x="4211" y="6044"/>
                    <a:pt x="4082" y="6237"/>
                    <a:pt x="4082" y="6462"/>
                  </a:cubicBezTo>
                  <a:cubicBezTo>
                    <a:pt x="4082" y="6494"/>
                    <a:pt x="4082" y="6558"/>
                    <a:pt x="4115" y="6622"/>
                  </a:cubicBezTo>
                  <a:cubicBezTo>
                    <a:pt x="4147" y="6783"/>
                    <a:pt x="4275" y="6880"/>
                    <a:pt x="4372" y="6976"/>
                  </a:cubicBezTo>
                  <a:cubicBezTo>
                    <a:pt x="4565" y="7105"/>
                    <a:pt x="4854" y="7201"/>
                    <a:pt x="5143" y="7265"/>
                  </a:cubicBezTo>
                  <a:cubicBezTo>
                    <a:pt x="6043" y="7490"/>
                    <a:pt x="7297" y="7555"/>
                    <a:pt x="7715" y="7555"/>
                  </a:cubicBezTo>
                  <a:cubicBezTo>
                    <a:pt x="7843" y="7555"/>
                    <a:pt x="7972" y="7522"/>
                    <a:pt x="8133" y="7490"/>
                  </a:cubicBezTo>
                  <a:cubicBezTo>
                    <a:pt x="8743" y="7330"/>
                    <a:pt x="9836" y="6976"/>
                    <a:pt x="10769" y="6655"/>
                  </a:cubicBezTo>
                  <a:cubicBezTo>
                    <a:pt x="11669" y="6365"/>
                    <a:pt x="12472" y="6076"/>
                    <a:pt x="12472" y="6076"/>
                  </a:cubicBezTo>
                  <a:lnTo>
                    <a:pt x="12536" y="6076"/>
                  </a:lnTo>
                  <a:cubicBezTo>
                    <a:pt x="12890" y="6108"/>
                    <a:pt x="13694" y="6140"/>
                    <a:pt x="14690" y="6237"/>
                  </a:cubicBezTo>
                  <a:lnTo>
                    <a:pt x="14979" y="6237"/>
                  </a:lnTo>
                  <a:cubicBezTo>
                    <a:pt x="15719" y="6237"/>
                    <a:pt x="16555" y="6012"/>
                    <a:pt x="17262" y="5787"/>
                  </a:cubicBezTo>
                  <a:cubicBezTo>
                    <a:pt x="17803" y="5606"/>
                    <a:pt x="18240" y="5426"/>
                    <a:pt x="18393" y="5362"/>
                  </a:cubicBezTo>
                  <a:lnTo>
                    <a:pt x="18393" y="5362"/>
                  </a:lnTo>
                  <a:cubicBezTo>
                    <a:pt x="19131" y="5541"/>
                    <a:pt x="23746" y="6658"/>
                    <a:pt x="28577" y="7747"/>
                  </a:cubicBezTo>
                  <a:cubicBezTo>
                    <a:pt x="31212" y="8358"/>
                    <a:pt x="33913" y="8969"/>
                    <a:pt x="36066" y="9419"/>
                  </a:cubicBezTo>
                  <a:cubicBezTo>
                    <a:pt x="37159" y="9644"/>
                    <a:pt x="38091" y="9837"/>
                    <a:pt x="38831" y="9965"/>
                  </a:cubicBezTo>
                  <a:cubicBezTo>
                    <a:pt x="39602" y="10094"/>
                    <a:pt x="40116" y="10158"/>
                    <a:pt x="40406" y="10158"/>
                  </a:cubicBezTo>
                  <a:lnTo>
                    <a:pt x="40502" y="10158"/>
                  </a:lnTo>
                  <a:cubicBezTo>
                    <a:pt x="40727" y="10158"/>
                    <a:pt x="40920" y="10030"/>
                    <a:pt x="41049" y="9869"/>
                  </a:cubicBezTo>
                  <a:cubicBezTo>
                    <a:pt x="41241" y="9612"/>
                    <a:pt x="41370" y="9290"/>
                    <a:pt x="41466" y="8872"/>
                  </a:cubicBezTo>
                  <a:cubicBezTo>
                    <a:pt x="41563" y="8487"/>
                    <a:pt x="41627" y="8005"/>
                    <a:pt x="41627" y="7458"/>
                  </a:cubicBezTo>
                  <a:cubicBezTo>
                    <a:pt x="41627" y="6237"/>
                    <a:pt x="41338" y="4790"/>
                    <a:pt x="40663" y="3536"/>
                  </a:cubicBezTo>
                  <a:cubicBezTo>
                    <a:pt x="39956" y="2283"/>
                    <a:pt x="38831" y="1222"/>
                    <a:pt x="37191" y="901"/>
                  </a:cubicBezTo>
                  <a:lnTo>
                    <a:pt x="37095" y="901"/>
                  </a:lnTo>
                  <a:lnTo>
                    <a:pt x="20552" y="2504"/>
                  </a:lnTo>
                  <a:lnTo>
                    <a:pt x="20552" y="2504"/>
                  </a:lnTo>
                  <a:cubicBezTo>
                    <a:pt x="20288" y="2450"/>
                    <a:pt x="17560" y="1899"/>
                    <a:pt x="14658" y="1319"/>
                  </a:cubicBezTo>
                  <a:cubicBezTo>
                    <a:pt x="13147" y="1029"/>
                    <a:pt x="11572" y="708"/>
                    <a:pt x="10318" y="483"/>
                  </a:cubicBezTo>
                  <a:cubicBezTo>
                    <a:pt x="9065" y="226"/>
                    <a:pt x="8101" y="65"/>
                    <a:pt x="7747" y="33"/>
                  </a:cubicBezTo>
                  <a:cubicBezTo>
                    <a:pt x="7650" y="1"/>
                    <a:pt x="7554" y="1"/>
                    <a:pt x="7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57"/>
            <p:cNvSpPr/>
            <p:nvPr/>
          </p:nvSpPr>
          <p:spPr>
            <a:xfrm>
              <a:off x="4233075" y="4101575"/>
              <a:ext cx="677475" cy="1267625"/>
            </a:xfrm>
            <a:custGeom>
              <a:avLst/>
              <a:gdLst/>
              <a:ahLst/>
              <a:cxnLst/>
              <a:rect l="l" t="t" r="r" b="b"/>
              <a:pathLst>
                <a:path w="27099" h="50705" extrusionOk="0">
                  <a:moveTo>
                    <a:pt x="17643" y="0"/>
                  </a:moveTo>
                  <a:cubicBezTo>
                    <a:pt x="10633" y="0"/>
                    <a:pt x="2797" y="6795"/>
                    <a:pt x="2797" y="6795"/>
                  </a:cubicBezTo>
                  <a:lnTo>
                    <a:pt x="1" y="50705"/>
                  </a:lnTo>
                  <a:lnTo>
                    <a:pt x="21087" y="50705"/>
                  </a:lnTo>
                  <a:lnTo>
                    <a:pt x="27098" y="4320"/>
                  </a:lnTo>
                  <a:cubicBezTo>
                    <a:pt x="27098" y="4320"/>
                    <a:pt x="25298" y="366"/>
                    <a:pt x="18162" y="13"/>
                  </a:cubicBezTo>
                  <a:cubicBezTo>
                    <a:pt x="17990" y="4"/>
                    <a:pt x="17817" y="0"/>
                    <a:pt x="176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57"/>
            <p:cNvSpPr/>
            <p:nvPr/>
          </p:nvSpPr>
          <p:spPr>
            <a:xfrm>
              <a:off x="4226650" y="4094650"/>
              <a:ext cx="690325" cy="1280975"/>
            </a:xfrm>
            <a:custGeom>
              <a:avLst/>
              <a:gdLst/>
              <a:ahLst/>
              <a:cxnLst/>
              <a:rect l="l" t="t" r="r" b="b"/>
              <a:pathLst>
                <a:path w="27613" h="51239" extrusionOk="0">
                  <a:moveTo>
                    <a:pt x="17905" y="547"/>
                  </a:moveTo>
                  <a:cubicBezTo>
                    <a:pt x="18066" y="547"/>
                    <a:pt x="18226" y="547"/>
                    <a:pt x="18419" y="579"/>
                  </a:cubicBezTo>
                  <a:cubicBezTo>
                    <a:pt x="21923" y="740"/>
                    <a:pt x="24109" y="1801"/>
                    <a:pt x="25395" y="2797"/>
                  </a:cubicBezTo>
                  <a:cubicBezTo>
                    <a:pt x="26037" y="3279"/>
                    <a:pt x="26487" y="3761"/>
                    <a:pt x="26745" y="4115"/>
                  </a:cubicBezTo>
                  <a:cubicBezTo>
                    <a:pt x="26873" y="4308"/>
                    <a:pt x="26970" y="4436"/>
                    <a:pt x="27034" y="4533"/>
                  </a:cubicBezTo>
                  <a:cubicBezTo>
                    <a:pt x="27060" y="4586"/>
                    <a:pt x="27065" y="4617"/>
                    <a:pt x="27084" y="4644"/>
                  </a:cubicBezTo>
                  <a:lnTo>
                    <a:pt x="27084" y="4644"/>
                  </a:lnTo>
                  <a:lnTo>
                    <a:pt x="21119" y="50692"/>
                  </a:lnTo>
                  <a:lnTo>
                    <a:pt x="547" y="50692"/>
                  </a:lnTo>
                  <a:lnTo>
                    <a:pt x="3339" y="7179"/>
                  </a:lnTo>
                  <a:lnTo>
                    <a:pt x="3339" y="7179"/>
                  </a:lnTo>
                  <a:cubicBezTo>
                    <a:pt x="3838" y="6784"/>
                    <a:pt x="5838" y="5146"/>
                    <a:pt x="8519" y="3601"/>
                  </a:cubicBezTo>
                  <a:cubicBezTo>
                    <a:pt x="11251" y="2026"/>
                    <a:pt x="14690" y="547"/>
                    <a:pt x="17905" y="547"/>
                  </a:cubicBezTo>
                  <a:close/>
                  <a:moveTo>
                    <a:pt x="17905" y="0"/>
                  </a:moveTo>
                  <a:cubicBezTo>
                    <a:pt x="14305" y="33"/>
                    <a:pt x="10576" y="1736"/>
                    <a:pt x="7715" y="3440"/>
                  </a:cubicBezTo>
                  <a:cubicBezTo>
                    <a:pt x="4854" y="5176"/>
                    <a:pt x="2893" y="6879"/>
                    <a:pt x="2893" y="6879"/>
                  </a:cubicBezTo>
                  <a:cubicBezTo>
                    <a:pt x="2829" y="6912"/>
                    <a:pt x="2797" y="7008"/>
                    <a:pt x="2797" y="7072"/>
                  </a:cubicBezTo>
                  <a:lnTo>
                    <a:pt x="0" y="50950"/>
                  </a:lnTo>
                  <a:cubicBezTo>
                    <a:pt x="0" y="51046"/>
                    <a:pt x="33" y="51110"/>
                    <a:pt x="65" y="51142"/>
                  </a:cubicBezTo>
                  <a:cubicBezTo>
                    <a:pt x="129" y="51207"/>
                    <a:pt x="193" y="51239"/>
                    <a:pt x="258" y="51239"/>
                  </a:cubicBezTo>
                  <a:lnTo>
                    <a:pt x="21344" y="51239"/>
                  </a:lnTo>
                  <a:cubicBezTo>
                    <a:pt x="21473" y="51239"/>
                    <a:pt x="21601" y="51142"/>
                    <a:pt x="21601" y="51014"/>
                  </a:cubicBezTo>
                  <a:lnTo>
                    <a:pt x="27613" y="4629"/>
                  </a:lnTo>
                  <a:cubicBezTo>
                    <a:pt x="27613" y="4565"/>
                    <a:pt x="27613" y="4501"/>
                    <a:pt x="27580" y="4469"/>
                  </a:cubicBezTo>
                  <a:cubicBezTo>
                    <a:pt x="27580" y="4436"/>
                    <a:pt x="27098" y="3408"/>
                    <a:pt x="25716" y="2347"/>
                  </a:cubicBezTo>
                  <a:cubicBezTo>
                    <a:pt x="24334" y="1286"/>
                    <a:pt x="22052" y="193"/>
                    <a:pt x="18419" y="33"/>
                  </a:cubicBezTo>
                  <a:cubicBezTo>
                    <a:pt x="18258" y="33"/>
                    <a:pt x="18066" y="0"/>
                    <a:pt x="17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57"/>
            <p:cNvSpPr/>
            <p:nvPr/>
          </p:nvSpPr>
          <p:spPr>
            <a:xfrm>
              <a:off x="4030575" y="4125175"/>
              <a:ext cx="497450" cy="1244825"/>
            </a:xfrm>
            <a:custGeom>
              <a:avLst/>
              <a:gdLst/>
              <a:ahLst/>
              <a:cxnLst/>
              <a:rect l="l" t="t" r="r" b="b"/>
              <a:pathLst>
                <a:path w="19898" h="49793" extrusionOk="0">
                  <a:moveTo>
                    <a:pt x="18869" y="1"/>
                  </a:moveTo>
                  <a:cubicBezTo>
                    <a:pt x="18869" y="1"/>
                    <a:pt x="3568" y="6430"/>
                    <a:pt x="3568" y="7426"/>
                  </a:cubicBezTo>
                  <a:cubicBezTo>
                    <a:pt x="3568" y="8455"/>
                    <a:pt x="3729" y="8037"/>
                    <a:pt x="3729" y="10062"/>
                  </a:cubicBezTo>
                  <a:cubicBezTo>
                    <a:pt x="3729" y="11959"/>
                    <a:pt x="482" y="44907"/>
                    <a:pt x="0" y="49793"/>
                  </a:cubicBezTo>
                  <a:lnTo>
                    <a:pt x="11251" y="49793"/>
                  </a:lnTo>
                  <a:cubicBezTo>
                    <a:pt x="11958" y="45260"/>
                    <a:pt x="16490" y="16748"/>
                    <a:pt x="17422" y="13116"/>
                  </a:cubicBezTo>
                  <a:cubicBezTo>
                    <a:pt x="18451" y="9194"/>
                    <a:pt x="19898" y="5851"/>
                    <a:pt x="19898" y="5851"/>
                  </a:cubicBezTo>
                  <a:lnTo>
                    <a:pt x="188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57"/>
            <p:cNvSpPr/>
            <p:nvPr/>
          </p:nvSpPr>
          <p:spPr>
            <a:xfrm>
              <a:off x="4023325" y="4118950"/>
              <a:ext cx="511125" cy="1257475"/>
            </a:xfrm>
            <a:custGeom>
              <a:avLst/>
              <a:gdLst/>
              <a:ahLst/>
              <a:cxnLst/>
              <a:rect l="l" t="t" r="r" b="b"/>
              <a:pathLst>
                <a:path w="20445" h="50299" extrusionOk="0">
                  <a:moveTo>
                    <a:pt x="4133" y="7733"/>
                  </a:moveTo>
                  <a:lnTo>
                    <a:pt x="4148" y="7740"/>
                  </a:lnTo>
                  <a:lnTo>
                    <a:pt x="4115" y="7740"/>
                  </a:lnTo>
                  <a:cubicBezTo>
                    <a:pt x="4121" y="7740"/>
                    <a:pt x="4126" y="7737"/>
                    <a:pt x="4133" y="7733"/>
                  </a:cubicBezTo>
                  <a:close/>
                  <a:moveTo>
                    <a:pt x="18958" y="635"/>
                  </a:moveTo>
                  <a:lnTo>
                    <a:pt x="19911" y="6023"/>
                  </a:lnTo>
                  <a:lnTo>
                    <a:pt x="19911" y="6023"/>
                  </a:lnTo>
                  <a:cubicBezTo>
                    <a:pt x="19736" y="6460"/>
                    <a:pt x="18414" y="9615"/>
                    <a:pt x="17455" y="13301"/>
                  </a:cubicBezTo>
                  <a:cubicBezTo>
                    <a:pt x="17198" y="14233"/>
                    <a:pt x="16748" y="16676"/>
                    <a:pt x="16170" y="19955"/>
                  </a:cubicBezTo>
                  <a:cubicBezTo>
                    <a:pt x="14532" y="29496"/>
                    <a:pt x="11908" y="45916"/>
                    <a:pt x="11318" y="49785"/>
                  </a:cubicBezTo>
                  <a:lnTo>
                    <a:pt x="578" y="49785"/>
                  </a:lnTo>
                  <a:cubicBezTo>
                    <a:pt x="871" y="46952"/>
                    <a:pt x="1768" y="37824"/>
                    <a:pt x="2605" y="29084"/>
                  </a:cubicBezTo>
                  <a:cubicBezTo>
                    <a:pt x="3022" y="24519"/>
                    <a:pt x="3472" y="20083"/>
                    <a:pt x="3762" y="16644"/>
                  </a:cubicBezTo>
                  <a:cubicBezTo>
                    <a:pt x="3922" y="14940"/>
                    <a:pt x="4051" y="13461"/>
                    <a:pt x="4148" y="12368"/>
                  </a:cubicBezTo>
                  <a:cubicBezTo>
                    <a:pt x="4244" y="11276"/>
                    <a:pt x="4276" y="10568"/>
                    <a:pt x="4276" y="10311"/>
                  </a:cubicBezTo>
                  <a:cubicBezTo>
                    <a:pt x="4276" y="9283"/>
                    <a:pt x="4244" y="8865"/>
                    <a:pt x="4212" y="8575"/>
                  </a:cubicBezTo>
                  <a:cubicBezTo>
                    <a:pt x="4181" y="8295"/>
                    <a:pt x="4149" y="8196"/>
                    <a:pt x="4148" y="7722"/>
                  </a:cubicBezTo>
                  <a:lnTo>
                    <a:pt x="4148" y="7722"/>
                  </a:lnTo>
                  <a:cubicBezTo>
                    <a:pt x="4185" y="7689"/>
                    <a:pt x="4245" y="7618"/>
                    <a:pt x="4340" y="7547"/>
                  </a:cubicBezTo>
                  <a:cubicBezTo>
                    <a:pt x="4855" y="7129"/>
                    <a:pt x="6044" y="6486"/>
                    <a:pt x="7555" y="5747"/>
                  </a:cubicBezTo>
                  <a:cubicBezTo>
                    <a:pt x="9805" y="4654"/>
                    <a:pt x="12730" y="3336"/>
                    <a:pt x="15109" y="2307"/>
                  </a:cubicBezTo>
                  <a:cubicBezTo>
                    <a:pt x="16298" y="1793"/>
                    <a:pt x="17327" y="1343"/>
                    <a:pt x="18066" y="1021"/>
                  </a:cubicBezTo>
                  <a:cubicBezTo>
                    <a:pt x="18448" y="855"/>
                    <a:pt x="18753" y="723"/>
                    <a:pt x="18958" y="635"/>
                  </a:cubicBezTo>
                  <a:close/>
                  <a:moveTo>
                    <a:pt x="19175" y="1"/>
                  </a:moveTo>
                  <a:cubicBezTo>
                    <a:pt x="19135" y="1"/>
                    <a:pt x="19095" y="9"/>
                    <a:pt x="19063" y="25"/>
                  </a:cubicBezTo>
                  <a:cubicBezTo>
                    <a:pt x="19063" y="25"/>
                    <a:pt x="15237" y="1632"/>
                    <a:pt x="11412" y="3336"/>
                  </a:cubicBezTo>
                  <a:cubicBezTo>
                    <a:pt x="9483" y="4204"/>
                    <a:pt x="7587" y="5104"/>
                    <a:pt x="6140" y="5875"/>
                  </a:cubicBezTo>
                  <a:cubicBezTo>
                    <a:pt x="5401" y="6229"/>
                    <a:pt x="4823" y="6582"/>
                    <a:pt x="4373" y="6840"/>
                  </a:cubicBezTo>
                  <a:cubicBezTo>
                    <a:pt x="4180" y="7000"/>
                    <a:pt x="3987" y="7129"/>
                    <a:pt x="3858" y="7225"/>
                  </a:cubicBezTo>
                  <a:cubicBezTo>
                    <a:pt x="3794" y="7290"/>
                    <a:pt x="3730" y="7354"/>
                    <a:pt x="3697" y="7418"/>
                  </a:cubicBezTo>
                  <a:cubicBezTo>
                    <a:pt x="3665" y="7482"/>
                    <a:pt x="3601" y="7579"/>
                    <a:pt x="3601" y="7675"/>
                  </a:cubicBezTo>
                  <a:cubicBezTo>
                    <a:pt x="3601" y="8222"/>
                    <a:pt x="3633" y="8383"/>
                    <a:pt x="3665" y="8640"/>
                  </a:cubicBezTo>
                  <a:cubicBezTo>
                    <a:pt x="3697" y="8929"/>
                    <a:pt x="3762" y="9283"/>
                    <a:pt x="3762" y="10311"/>
                  </a:cubicBezTo>
                  <a:cubicBezTo>
                    <a:pt x="3762" y="10536"/>
                    <a:pt x="3697" y="11243"/>
                    <a:pt x="3601" y="12336"/>
                  </a:cubicBezTo>
                  <a:cubicBezTo>
                    <a:pt x="2990" y="19955"/>
                    <a:pt x="451" y="45734"/>
                    <a:pt x="33" y="50010"/>
                  </a:cubicBezTo>
                  <a:cubicBezTo>
                    <a:pt x="1" y="50074"/>
                    <a:pt x="33" y="50170"/>
                    <a:pt x="97" y="50235"/>
                  </a:cubicBezTo>
                  <a:cubicBezTo>
                    <a:pt x="129" y="50267"/>
                    <a:pt x="226" y="50299"/>
                    <a:pt x="290" y="50299"/>
                  </a:cubicBezTo>
                  <a:lnTo>
                    <a:pt x="11541" y="50299"/>
                  </a:lnTo>
                  <a:cubicBezTo>
                    <a:pt x="11669" y="50299"/>
                    <a:pt x="11798" y="50203"/>
                    <a:pt x="11798" y="50074"/>
                  </a:cubicBezTo>
                  <a:cubicBezTo>
                    <a:pt x="12151" y="47824"/>
                    <a:pt x="13469" y="39563"/>
                    <a:pt x="14819" y="31398"/>
                  </a:cubicBezTo>
                  <a:cubicBezTo>
                    <a:pt x="15462" y="27316"/>
                    <a:pt x="16137" y="23298"/>
                    <a:pt x="16716" y="20019"/>
                  </a:cubicBezTo>
                  <a:cubicBezTo>
                    <a:pt x="17262" y="16772"/>
                    <a:pt x="17745" y="14329"/>
                    <a:pt x="17970" y="13429"/>
                  </a:cubicBezTo>
                  <a:cubicBezTo>
                    <a:pt x="18484" y="11468"/>
                    <a:pt x="19095" y="9668"/>
                    <a:pt x="19577" y="8350"/>
                  </a:cubicBezTo>
                  <a:cubicBezTo>
                    <a:pt x="19834" y="7675"/>
                    <a:pt x="20027" y="7161"/>
                    <a:pt x="20188" y="6775"/>
                  </a:cubicBezTo>
                  <a:cubicBezTo>
                    <a:pt x="20348" y="6390"/>
                    <a:pt x="20413" y="6197"/>
                    <a:pt x="20413" y="6197"/>
                  </a:cubicBezTo>
                  <a:cubicBezTo>
                    <a:pt x="20445" y="6132"/>
                    <a:pt x="20445" y="6100"/>
                    <a:pt x="20445" y="6036"/>
                  </a:cubicBezTo>
                  <a:lnTo>
                    <a:pt x="19416" y="218"/>
                  </a:lnTo>
                  <a:cubicBezTo>
                    <a:pt x="19416" y="121"/>
                    <a:pt x="19352" y="57"/>
                    <a:pt x="19288" y="25"/>
                  </a:cubicBezTo>
                  <a:cubicBezTo>
                    <a:pt x="19255" y="9"/>
                    <a:pt x="19215" y="1"/>
                    <a:pt x="19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57"/>
            <p:cNvSpPr/>
            <p:nvPr/>
          </p:nvSpPr>
          <p:spPr>
            <a:xfrm>
              <a:off x="4349600" y="4100275"/>
              <a:ext cx="131025" cy="192900"/>
            </a:xfrm>
            <a:custGeom>
              <a:avLst/>
              <a:gdLst/>
              <a:ahLst/>
              <a:cxnLst/>
              <a:rect l="l" t="t" r="r" b="b"/>
              <a:pathLst>
                <a:path w="5241" h="7716" extrusionOk="0">
                  <a:moveTo>
                    <a:pt x="2765" y="0"/>
                  </a:moveTo>
                  <a:lnTo>
                    <a:pt x="1" y="7715"/>
                  </a:lnTo>
                  <a:lnTo>
                    <a:pt x="5240" y="5240"/>
                  </a:lnTo>
                  <a:lnTo>
                    <a:pt x="27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57"/>
            <p:cNvSpPr/>
            <p:nvPr/>
          </p:nvSpPr>
          <p:spPr>
            <a:xfrm>
              <a:off x="4342375" y="4093050"/>
              <a:ext cx="145475" cy="206625"/>
            </a:xfrm>
            <a:custGeom>
              <a:avLst/>
              <a:gdLst/>
              <a:ahLst/>
              <a:cxnLst/>
              <a:rect l="l" t="t" r="r" b="b"/>
              <a:pathLst>
                <a:path w="5819" h="8265" extrusionOk="0">
                  <a:moveTo>
                    <a:pt x="3088" y="1001"/>
                  </a:moveTo>
                  <a:lnTo>
                    <a:pt x="5175" y="5400"/>
                  </a:lnTo>
                  <a:lnTo>
                    <a:pt x="740" y="7490"/>
                  </a:lnTo>
                  <a:lnTo>
                    <a:pt x="740" y="7490"/>
                  </a:lnTo>
                  <a:lnTo>
                    <a:pt x="3088" y="1001"/>
                  </a:lnTo>
                  <a:close/>
                  <a:moveTo>
                    <a:pt x="3054" y="0"/>
                  </a:moveTo>
                  <a:cubicBezTo>
                    <a:pt x="2925" y="32"/>
                    <a:pt x="2829" y="97"/>
                    <a:pt x="2797" y="193"/>
                  </a:cubicBezTo>
                  <a:lnTo>
                    <a:pt x="32" y="7908"/>
                  </a:lnTo>
                  <a:cubicBezTo>
                    <a:pt x="0" y="8004"/>
                    <a:pt x="32" y="8133"/>
                    <a:pt x="97" y="8197"/>
                  </a:cubicBezTo>
                  <a:cubicBezTo>
                    <a:pt x="156" y="8237"/>
                    <a:pt x="216" y="8264"/>
                    <a:pt x="275" y="8264"/>
                  </a:cubicBezTo>
                  <a:cubicBezTo>
                    <a:pt x="312" y="8264"/>
                    <a:pt x="349" y="8254"/>
                    <a:pt x="386" y="8229"/>
                  </a:cubicBezTo>
                  <a:lnTo>
                    <a:pt x="5625" y="5754"/>
                  </a:lnTo>
                  <a:cubicBezTo>
                    <a:pt x="5690" y="5722"/>
                    <a:pt x="5754" y="5690"/>
                    <a:pt x="5786" y="5625"/>
                  </a:cubicBezTo>
                  <a:cubicBezTo>
                    <a:pt x="5818" y="5529"/>
                    <a:pt x="5786" y="5465"/>
                    <a:pt x="5754" y="5400"/>
                  </a:cubicBezTo>
                  <a:lnTo>
                    <a:pt x="3279" y="161"/>
                  </a:lnTo>
                  <a:cubicBezTo>
                    <a:pt x="3247" y="64"/>
                    <a:pt x="3150" y="0"/>
                    <a:pt x="3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57"/>
            <p:cNvSpPr/>
            <p:nvPr/>
          </p:nvSpPr>
          <p:spPr>
            <a:xfrm>
              <a:off x="4418700" y="3834275"/>
              <a:ext cx="451675" cy="495050"/>
            </a:xfrm>
            <a:custGeom>
              <a:avLst/>
              <a:gdLst/>
              <a:ahLst/>
              <a:cxnLst/>
              <a:rect l="l" t="t" r="r" b="b"/>
              <a:pathLst>
                <a:path w="18067" h="19802" extrusionOk="0">
                  <a:moveTo>
                    <a:pt x="10641" y="1"/>
                  </a:moveTo>
                  <a:lnTo>
                    <a:pt x="1" y="10640"/>
                  </a:lnTo>
                  <a:lnTo>
                    <a:pt x="3505" y="19802"/>
                  </a:lnTo>
                  <a:lnTo>
                    <a:pt x="10062" y="7426"/>
                  </a:lnTo>
                  <a:lnTo>
                    <a:pt x="17198" y="7426"/>
                  </a:lnTo>
                  <a:lnTo>
                    <a:pt x="18066" y="579"/>
                  </a:lnTo>
                  <a:lnTo>
                    <a:pt x="106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57"/>
            <p:cNvSpPr/>
            <p:nvPr/>
          </p:nvSpPr>
          <p:spPr>
            <a:xfrm>
              <a:off x="4411475" y="3827525"/>
              <a:ext cx="465325" cy="508450"/>
            </a:xfrm>
            <a:custGeom>
              <a:avLst/>
              <a:gdLst/>
              <a:ahLst/>
              <a:cxnLst/>
              <a:rect l="l" t="t" r="r" b="b"/>
              <a:pathLst>
                <a:path w="18613" h="20338" extrusionOk="0">
                  <a:moveTo>
                    <a:pt x="11026" y="560"/>
                  </a:moveTo>
                  <a:lnTo>
                    <a:pt x="18032" y="1085"/>
                  </a:lnTo>
                  <a:lnTo>
                    <a:pt x="18032" y="1085"/>
                  </a:lnTo>
                  <a:lnTo>
                    <a:pt x="17230" y="7439"/>
                  </a:lnTo>
                  <a:lnTo>
                    <a:pt x="10351" y="7439"/>
                  </a:lnTo>
                  <a:cubicBezTo>
                    <a:pt x="10223" y="7439"/>
                    <a:pt x="10158" y="7471"/>
                    <a:pt x="10094" y="7567"/>
                  </a:cubicBezTo>
                  <a:lnTo>
                    <a:pt x="3826" y="19429"/>
                  </a:lnTo>
                  <a:lnTo>
                    <a:pt x="611" y="10975"/>
                  </a:lnTo>
                  <a:lnTo>
                    <a:pt x="11026" y="560"/>
                  </a:lnTo>
                  <a:close/>
                  <a:moveTo>
                    <a:pt x="10873" y="1"/>
                  </a:moveTo>
                  <a:cubicBezTo>
                    <a:pt x="10818" y="1"/>
                    <a:pt x="10760" y="31"/>
                    <a:pt x="10737" y="78"/>
                  </a:cubicBezTo>
                  <a:lnTo>
                    <a:pt x="97" y="10718"/>
                  </a:lnTo>
                  <a:cubicBezTo>
                    <a:pt x="33" y="10782"/>
                    <a:pt x="1" y="10910"/>
                    <a:pt x="33" y="11007"/>
                  </a:cubicBezTo>
                  <a:lnTo>
                    <a:pt x="3537" y="20168"/>
                  </a:lnTo>
                  <a:cubicBezTo>
                    <a:pt x="3569" y="20265"/>
                    <a:pt x="3665" y="20329"/>
                    <a:pt x="3762" y="20329"/>
                  </a:cubicBezTo>
                  <a:cubicBezTo>
                    <a:pt x="3779" y="20335"/>
                    <a:pt x="3796" y="20337"/>
                    <a:pt x="3813" y="20337"/>
                  </a:cubicBezTo>
                  <a:cubicBezTo>
                    <a:pt x="3891" y="20337"/>
                    <a:pt x="3966" y="20280"/>
                    <a:pt x="4019" y="20200"/>
                  </a:cubicBezTo>
                  <a:lnTo>
                    <a:pt x="10512" y="7953"/>
                  </a:lnTo>
                  <a:lnTo>
                    <a:pt x="17487" y="7953"/>
                  </a:lnTo>
                  <a:cubicBezTo>
                    <a:pt x="17616" y="7953"/>
                    <a:pt x="17712" y="7857"/>
                    <a:pt x="17744" y="7728"/>
                  </a:cubicBezTo>
                  <a:lnTo>
                    <a:pt x="18612" y="881"/>
                  </a:lnTo>
                  <a:cubicBezTo>
                    <a:pt x="18612" y="817"/>
                    <a:pt x="18612" y="753"/>
                    <a:pt x="18548" y="689"/>
                  </a:cubicBezTo>
                  <a:cubicBezTo>
                    <a:pt x="18516" y="624"/>
                    <a:pt x="18452" y="592"/>
                    <a:pt x="18355" y="592"/>
                  </a:cubicBezTo>
                  <a:lnTo>
                    <a:pt x="10930" y="13"/>
                  </a:lnTo>
                  <a:cubicBezTo>
                    <a:pt x="10913" y="5"/>
                    <a:pt x="10893" y="1"/>
                    <a:pt x="108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57"/>
            <p:cNvSpPr/>
            <p:nvPr/>
          </p:nvSpPr>
          <p:spPr>
            <a:xfrm>
              <a:off x="4254775" y="3175150"/>
              <a:ext cx="542450" cy="1180025"/>
            </a:xfrm>
            <a:custGeom>
              <a:avLst/>
              <a:gdLst/>
              <a:ahLst/>
              <a:cxnLst/>
              <a:rect l="l" t="t" r="r" b="b"/>
              <a:pathLst>
                <a:path w="21698" h="47201" extrusionOk="0">
                  <a:moveTo>
                    <a:pt x="11463" y="0"/>
                  </a:moveTo>
                  <a:cubicBezTo>
                    <a:pt x="8617" y="0"/>
                    <a:pt x="6106" y="1038"/>
                    <a:pt x="3922" y="2611"/>
                  </a:cubicBezTo>
                  <a:cubicBezTo>
                    <a:pt x="3922" y="2611"/>
                    <a:pt x="579" y="4668"/>
                    <a:pt x="290" y="9908"/>
                  </a:cubicBezTo>
                  <a:cubicBezTo>
                    <a:pt x="0" y="15147"/>
                    <a:pt x="1158" y="28680"/>
                    <a:pt x="1897" y="30866"/>
                  </a:cubicBezTo>
                  <a:cubicBezTo>
                    <a:pt x="2554" y="32810"/>
                    <a:pt x="5499" y="34753"/>
                    <a:pt x="8087" y="34753"/>
                  </a:cubicBezTo>
                  <a:cubicBezTo>
                    <a:pt x="8410" y="34753"/>
                    <a:pt x="8727" y="34723"/>
                    <a:pt x="9033" y="34659"/>
                  </a:cubicBezTo>
                  <a:cubicBezTo>
                    <a:pt x="9033" y="34659"/>
                    <a:pt x="10165" y="47200"/>
                    <a:pt x="11464" y="47200"/>
                  </a:cubicBezTo>
                  <a:cubicBezTo>
                    <a:pt x="11479" y="47200"/>
                    <a:pt x="11493" y="47199"/>
                    <a:pt x="11508" y="47195"/>
                  </a:cubicBezTo>
                  <a:cubicBezTo>
                    <a:pt x="12826" y="46906"/>
                    <a:pt x="19673" y="37713"/>
                    <a:pt x="19962" y="35109"/>
                  </a:cubicBezTo>
                  <a:cubicBezTo>
                    <a:pt x="20251" y="32473"/>
                    <a:pt x="20669" y="24019"/>
                    <a:pt x="20669" y="24019"/>
                  </a:cubicBezTo>
                  <a:cubicBezTo>
                    <a:pt x="20669" y="24019"/>
                    <a:pt x="21698" y="17494"/>
                    <a:pt x="21698" y="12093"/>
                  </a:cubicBezTo>
                  <a:cubicBezTo>
                    <a:pt x="21698" y="6693"/>
                    <a:pt x="20380" y="2322"/>
                    <a:pt x="15719" y="746"/>
                  </a:cubicBezTo>
                  <a:cubicBezTo>
                    <a:pt x="14225" y="231"/>
                    <a:pt x="12807" y="0"/>
                    <a:pt x="114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57"/>
            <p:cNvSpPr/>
            <p:nvPr/>
          </p:nvSpPr>
          <p:spPr>
            <a:xfrm>
              <a:off x="4333525" y="3175150"/>
              <a:ext cx="463700" cy="450850"/>
            </a:xfrm>
            <a:custGeom>
              <a:avLst/>
              <a:gdLst/>
              <a:ahLst/>
              <a:cxnLst/>
              <a:rect l="l" t="t" r="r" b="b"/>
              <a:pathLst>
                <a:path w="18548" h="18034" extrusionOk="0">
                  <a:moveTo>
                    <a:pt x="8313" y="0"/>
                  </a:moveTo>
                  <a:cubicBezTo>
                    <a:pt x="5467" y="0"/>
                    <a:pt x="2956" y="1038"/>
                    <a:pt x="772" y="2611"/>
                  </a:cubicBezTo>
                  <a:cubicBezTo>
                    <a:pt x="772" y="2611"/>
                    <a:pt x="451" y="2836"/>
                    <a:pt x="1" y="3254"/>
                  </a:cubicBezTo>
                  <a:cubicBezTo>
                    <a:pt x="226" y="3414"/>
                    <a:pt x="1929" y="4379"/>
                    <a:pt x="5497" y="4379"/>
                  </a:cubicBezTo>
                  <a:cubicBezTo>
                    <a:pt x="9322" y="4379"/>
                    <a:pt x="14305" y="3800"/>
                    <a:pt x="14305" y="3800"/>
                  </a:cubicBezTo>
                  <a:lnTo>
                    <a:pt x="14305" y="3800"/>
                  </a:lnTo>
                  <a:cubicBezTo>
                    <a:pt x="14305" y="3800"/>
                    <a:pt x="12023" y="5954"/>
                    <a:pt x="11894" y="7497"/>
                  </a:cubicBezTo>
                  <a:cubicBezTo>
                    <a:pt x="11766" y="9072"/>
                    <a:pt x="12312" y="13058"/>
                    <a:pt x="13598" y="13765"/>
                  </a:cubicBezTo>
                  <a:cubicBezTo>
                    <a:pt x="14884" y="14472"/>
                    <a:pt x="13726" y="15758"/>
                    <a:pt x="14466" y="16883"/>
                  </a:cubicBezTo>
                  <a:cubicBezTo>
                    <a:pt x="14889" y="17556"/>
                    <a:pt x="15415" y="18033"/>
                    <a:pt x="16072" y="18033"/>
                  </a:cubicBezTo>
                  <a:cubicBezTo>
                    <a:pt x="16514" y="18033"/>
                    <a:pt x="17015" y="17818"/>
                    <a:pt x="17584" y="17301"/>
                  </a:cubicBezTo>
                  <a:cubicBezTo>
                    <a:pt x="17841" y="17076"/>
                    <a:pt x="18098" y="16658"/>
                    <a:pt x="18387" y="16079"/>
                  </a:cubicBezTo>
                  <a:cubicBezTo>
                    <a:pt x="18484" y="14761"/>
                    <a:pt x="18548" y="13379"/>
                    <a:pt x="18548" y="12093"/>
                  </a:cubicBezTo>
                  <a:cubicBezTo>
                    <a:pt x="18548" y="6693"/>
                    <a:pt x="17230" y="2322"/>
                    <a:pt x="12569" y="746"/>
                  </a:cubicBezTo>
                  <a:cubicBezTo>
                    <a:pt x="11075" y="231"/>
                    <a:pt x="9657" y="0"/>
                    <a:pt x="831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57"/>
            <p:cNvSpPr/>
            <p:nvPr/>
          </p:nvSpPr>
          <p:spPr>
            <a:xfrm>
              <a:off x="4253975" y="3168075"/>
              <a:ext cx="549700" cy="1193400"/>
            </a:xfrm>
            <a:custGeom>
              <a:avLst/>
              <a:gdLst/>
              <a:ahLst/>
              <a:cxnLst/>
              <a:rect l="l" t="t" r="r" b="b"/>
              <a:pathLst>
                <a:path w="21988" h="47736" extrusionOk="0">
                  <a:moveTo>
                    <a:pt x="3829" y="2675"/>
                  </a:moveTo>
                  <a:cubicBezTo>
                    <a:pt x="3829" y="2675"/>
                    <a:pt x="3829" y="2675"/>
                    <a:pt x="3829" y="2675"/>
                  </a:cubicBezTo>
                  <a:lnTo>
                    <a:pt x="3829" y="2675"/>
                  </a:lnTo>
                  <a:lnTo>
                    <a:pt x="3829" y="2675"/>
                  </a:lnTo>
                  <a:close/>
                  <a:moveTo>
                    <a:pt x="11540" y="547"/>
                  </a:moveTo>
                  <a:cubicBezTo>
                    <a:pt x="12826" y="547"/>
                    <a:pt x="14208" y="772"/>
                    <a:pt x="15687" y="1254"/>
                  </a:cubicBezTo>
                  <a:cubicBezTo>
                    <a:pt x="17937" y="2058"/>
                    <a:pt x="19351" y="3472"/>
                    <a:pt x="20251" y="5401"/>
                  </a:cubicBezTo>
                  <a:cubicBezTo>
                    <a:pt x="21151" y="7298"/>
                    <a:pt x="21473" y="9708"/>
                    <a:pt x="21473" y="12376"/>
                  </a:cubicBezTo>
                  <a:cubicBezTo>
                    <a:pt x="21473" y="15044"/>
                    <a:pt x="21216" y="18034"/>
                    <a:pt x="20959" y="20348"/>
                  </a:cubicBezTo>
                  <a:cubicBezTo>
                    <a:pt x="20830" y="21506"/>
                    <a:pt x="20701" y="22470"/>
                    <a:pt x="20605" y="23177"/>
                  </a:cubicBezTo>
                  <a:cubicBezTo>
                    <a:pt x="20508" y="23884"/>
                    <a:pt x="20444" y="24270"/>
                    <a:pt x="20444" y="24270"/>
                  </a:cubicBezTo>
                  <a:lnTo>
                    <a:pt x="20444" y="24302"/>
                  </a:lnTo>
                  <a:cubicBezTo>
                    <a:pt x="20444" y="24302"/>
                    <a:pt x="20412" y="24816"/>
                    <a:pt x="20380" y="25652"/>
                  </a:cubicBezTo>
                  <a:cubicBezTo>
                    <a:pt x="20251" y="28159"/>
                    <a:pt x="19930" y="33399"/>
                    <a:pt x="19705" y="35360"/>
                  </a:cubicBezTo>
                  <a:cubicBezTo>
                    <a:pt x="19705" y="35649"/>
                    <a:pt x="19544" y="36067"/>
                    <a:pt x="19351" y="36549"/>
                  </a:cubicBezTo>
                  <a:cubicBezTo>
                    <a:pt x="18612" y="38253"/>
                    <a:pt x="16876" y="40889"/>
                    <a:pt x="15205" y="43107"/>
                  </a:cubicBezTo>
                  <a:cubicBezTo>
                    <a:pt x="14369" y="44232"/>
                    <a:pt x="13565" y="45260"/>
                    <a:pt x="12858" y="46000"/>
                  </a:cubicBezTo>
                  <a:cubicBezTo>
                    <a:pt x="12537" y="46353"/>
                    <a:pt x="12215" y="46675"/>
                    <a:pt x="11990" y="46868"/>
                  </a:cubicBezTo>
                  <a:cubicBezTo>
                    <a:pt x="11862" y="46996"/>
                    <a:pt x="11733" y="47060"/>
                    <a:pt x="11669" y="47125"/>
                  </a:cubicBezTo>
                  <a:cubicBezTo>
                    <a:pt x="11595" y="47174"/>
                    <a:pt x="11539" y="47205"/>
                    <a:pt x="11503" y="47216"/>
                  </a:cubicBezTo>
                  <a:lnTo>
                    <a:pt x="11503" y="47216"/>
                  </a:lnTo>
                  <a:cubicBezTo>
                    <a:pt x="11487" y="47198"/>
                    <a:pt x="11433" y="47136"/>
                    <a:pt x="11379" y="47028"/>
                  </a:cubicBezTo>
                  <a:cubicBezTo>
                    <a:pt x="11251" y="46835"/>
                    <a:pt x="11122" y="46482"/>
                    <a:pt x="10994" y="46032"/>
                  </a:cubicBezTo>
                  <a:cubicBezTo>
                    <a:pt x="10512" y="44457"/>
                    <a:pt x="10094" y="41660"/>
                    <a:pt x="9804" y="39281"/>
                  </a:cubicBezTo>
                  <a:cubicBezTo>
                    <a:pt x="9644" y="38092"/>
                    <a:pt x="9547" y="36999"/>
                    <a:pt x="9451" y="36196"/>
                  </a:cubicBezTo>
                  <a:cubicBezTo>
                    <a:pt x="9387" y="35424"/>
                    <a:pt x="9322" y="34910"/>
                    <a:pt x="9322" y="34910"/>
                  </a:cubicBezTo>
                  <a:cubicBezTo>
                    <a:pt x="9322" y="34845"/>
                    <a:pt x="9290" y="34781"/>
                    <a:pt x="9226" y="34749"/>
                  </a:cubicBezTo>
                  <a:cubicBezTo>
                    <a:pt x="9161" y="34685"/>
                    <a:pt x="9097" y="34685"/>
                    <a:pt x="9001" y="34685"/>
                  </a:cubicBezTo>
                  <a:cubicBezTo>
                    <a:pt x="8711" y="34749"/>
                    <a:pt x="8422" y="34781"/>
                    <a:pt x="8101" y="34781"/>
                  </a:cubicBezTo>
                  <a:cubicBezTo>
                    <a:pt x="6879" y="34781"/>
                    <a:pt x="5529" y="34299"/>
                    <a:pt x="4436" y="33592"/>
                  </a:cubicBezTo>
                  <a:cubicBezTo>
                    <a:pt x="3343" y="32917"/>
                    <a:pt x="2475" y="31952"/>
                    <a:pt x="2186" y="31085"/>
                  </a:cubicBezTo>
                  <a:cubicBezTo>
                    <a:pt x="2025" y="30635"/>
                    <a:pt x="1833" y="29574"/>
                    <a:pt x="1672" y="28192"/>
                  </a:cubicBezTo>
                  <a:cubicBezTo>
                    <a:pt x="1093" y="24013"/>
                    <a:pt x="547" y="16684"/>
                    <a:pt x="547" y="12151"/>
                  </a:cubicBezTo>
                  <a:cubicBezTo>
                    <a:pt x="547" y="11412"/>
                    <a:pt x="547" y="10769"/>
                    <a:pt x="579" y="10191"/>
                  </a:cubicBezTo>
                  <a:cubicBezTo>
                    <a:pt x="740" y="7651"/>
                    <a:pt x="1608" y="5883"/>
                    <a:pt x="2475" y="4758"/>
                  </a:cubicBezTo>
                  <a:cubicBezTo>
                    <a:pt x="2893" y="4180"/>
                    <a:pt x="3311" y="3762"/>
                    <a:pt x="3601" y="3505"/>
                  </a:cubicBezTo>
                  <a:cubicBezTo>
                    <a:pt x="3761" y="3376"/>
                    <a:pt x="3890" y="3280"/>
                    <a:pt x="3986" y="3215"/>
                  </a:cubicBezTo>
                  <a:lnTo>
                    <a:pt x="4083" y="3151"/>
                  </a:lnTo>
                  <a:lnTo>
                    <a:pt x="4115" y="3151"/>
                  </a:lnTo>
                  <a:lnTo>
                    <a:pt x="4115" y="3119"/>
                  </a:lnTo>
                  <a:cubicBezTo>
                    <a:pt x="6268" y="1576"/>
                    <a:pt x="8744" y="547"/>
                    <a:pt x="11540" y="547"/>
                  </a:cubicBezTo>
                  <a:close/>
                  <a:moveTo>
                    <a:pt x="11540" y="1"/>
                  </a:moveTo>
                  <a:cubicBezTo>
                    <a:pt x="8631" y="1"/>
                    <a:pt x="6039" y="1082"/>
                    <a:pt x="3829" y="2675"/>
                  </a:cubicBezTo>
                  <a:lnTo>
                    <a:pt x="3826" y="2669"/>
                  </a:lnTo>
                  <a:cubicBezTo>
                    <a:pt x="3793" y="2701"/>
                    <a:pt x="2925" y="3215"/>
                    <a:pt x="2025" y="4437"/>
                  </a:cubicBezTo>
                  <a:cubicBezTo>
                    <a:pt x="1125" y="5626"/>
                    <a:pt x="193" y="7491"/>
                    <a:pt x="65" y="10191"/>
                  </a:cubicBezTo>
                  <a:cubicBezTo>
                    <a:pt x="32" y="10737"/>
                    <a:pt x="0" y="11412"/>
                    <a:pt x="0" y="12151"/>
                  </a:cubicBezTo>
                  <a:cubicBezTo>
                    <a:pt x="0" y="15205"/>
                    <a:pt x="257" y="19480"/>
                    <a:pt x="579" y="23209"/>
                  </a:cubicBezTo>
                  <a:cubicBezTo>
                    <a:pt x="772" y="25106"/>
                    <a:pt x="933" y="26842"/>
                    <a:pt x="1125" y="28256"/>
                  </a:cubicBezTo>
                  <a:cubicBezTo>
                    <a:pt x="1318" y="29670"/>
                    <a:pt x="1511" y="30731"/>
                    <a:pt x="1672" y="31245"/>
                  </a:cubicBezTo>
                  <a:cubicBezTo>
                    <a:pt x="2025" y="32306"/>
                    <a:pt x="2958" y="33303"/>
                    <a:pt x="4147" y="34042"/>
                  </a:cubicBezTo>
                  <a:cubicBezTo>
                    <a:pt x="5336" y="34813"/>
                    <a:pt x="6751" y="35296"/>
                    <a:pt x="8101" y="35328"/>
                  </a:cubicBezTo>
                  <a:cubicBezTo>
                    <a:pt x="8354" y="35328"/>
                    <a:pt x="8591" y="35311"/>
                    <a:pt x="8836" y="35266"/>
                  </a:cubicBezTo>
                  <a:lnTo>
                    <a:pt x="8836" y="35266"/>
                  </a:lnTo>
                  <a:cubicBezTo>
                    <a:pt x="8917" y="36116"/>
                    <a:pt x="9173" y="38690"/>
                    <a:pt x="9515" y="41242"/>
                  </a:cubicBezTo>
                  <a:cubicBezTo>
                    <a:pt x="9740" y="42817"/>
                    <a:pt x="10029" y="44392"/>
                    <a:pt x="10319" y="45582"/>
                  </a:cubicBezTo>
                  <a:cubicBezTo>
                    <a:pt x="10447" y="46193"/>
                    <a:pt x="10608" y="46675"/>
                    <a:pt x="10769" y="47060"/>
                  </a:cubicBezTo>
                  <a:cubicBezTo>
                    <a:pt x="10865" y="47221"/>
                    <a:pt x="10929" y="47382"/>
                    <a:pt x="11058" y="47510"/>
                  </a:cubicBezTo>
                  <a:cubicBezTo>
                    <a:pt x="11090" y="47575"/>
                    <a:pt x="11154" y="47639"/>
                    <a:pt x="11251" y="47671"/>
                  </a:cubicBezTo>
                  <a:cubicBezTo>
                    <a:pt x="11315" y="47703"/>
                    <a:pt x="11412" y="47735"/>
                    <a:pt x="11508" y="47735"/>
                  </a:cubicBezTo>
                  <a:lnTo>
                    <a:pt x="11604" y="47735"/>
                  </a:lnTo>
                  <a:cubicBezTo>
                    <a:pt x="11733" y="47703"/>
                    <a:pt x="11862" y="47639"/>
                    <a:pt x="11990" y="47543"/>
                  </a:cubicBezTo>
                  <a:cubicBezTo>
                    <a:pt x="12505" y="47189"/>
                    <a:pt x="13212" y="46450"/>
                    <a:pt x="14047" y="45453"/>
                  </a:cubicBezTo>
                  <a:cubicBezTo>
                    <a:pt x="15301" y="43942"/>
                    <a:pt x="16780" y="41949"/>
                    <a:pt x="18001" y="40053"/>
                  </a:cubicBezTo>
                  <a:cubicBezTo>
                    <a:pt x="18612" y="39121"/>
                    <a:pt x="19126" y="38221"/>
                    <a:pt x="19544" y="37417"/>
                  </a:cubicBezTo>
                  <a:cubicBezTo>
                    <a:pt x="19930" y="36613"/>
                    <a:pt x="20187" y="35938"/>
                    <a:pt x="20251" y="35424"/>
                  </a:cubicBezTo>
                  <a:cubicBezTo>
                    <a:pt x="20530" y="32882"/>
                    <a:pt x="20959" y="24931"/>
                    <a:pt x="20989" y="24366"/>
                  </a:cubicBezTo>
                  <a:lnTo>
                    <a:pt x="20989" y="24366"/>
                  </a:lnTo>
                  <a:lnTo>
                    <a:pt x="20991" y="24366"/>
                  </a:lnTo>
                  <a:cubicBezTo>
                    <a:pt x="20991" y="24366"/>
                    <a:pt x="21987" y="17809"/>
                    <a:pt x="21987" y="12376"/>
                  </a:cubicBezTo>
                  <a:cubicBezTo>
                    <a:pt x="21987" y="9644"/>
                    <a:pt x="21666" y="7169"/>
                    <a:pt x="20734" y="5176"/>
                  </a:cubicBezTo>
                  <a:cubicBezTo>
                    <a:pt x="19801" y="3151"/>
                    <a:pt x="18258" y="1576"/>
                    <a:pt x="15848" y="772"/>
                  </a:cubicBezTo>
                  <a:cubicBezTo>
                    <a:pt x="14337" y="258"/>
                    <a:pt x="12890" y="1"/>
                    <a:pt x="115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57"/>
            <p:cNvSpPr/>
            <p:nvPr/>
          </p:nvSpPr>
          <p:spPr>
            <a:xfrm>
              <a:off x="4706400" y="3568950"/>
              <a:ext cx="116550" cy="215550"/>
            </a:xfrm>
            <a:custGeom>
              <a:avLst/>
              <a:gdLst/>
              <a:ahLst/>
              <a:cxnLst/>
              <a:rect l="l" t="t" r="r" b="b"/>
              <a:pathLst>
                <a:path w="4662" h="8622" extrusionOk="0">
                  <a:moveTo>
                    <a:pt x="3089" y="1"/>
                  </a:moveTo>
                  <a:cubicBezTo>
                    <a:pt x="1847" y="1"/>
                    <a:pt x="1" y="2899"/>
                    <a:pt x="1" y="2899"/>
                  </a:cubicBezTo>
                  <a:lnTo>
                    <a:pt x="1319" y="7849"/>
                  </a:lnTo>
                  <a:cubicBezTo>
                    <a:pt x="1550" y="8377"/>
                    <a:pt x="1849" y="8621"/>
                    <a:pt x="2171" y="8621"/>
                  </a:cubicBezTo>
                  <a:cubicBezTo>
                    <a:pt x="2654" y="8621"/>
                    <a:pt x="3190" y="8074"/>
                    <a:pt x="3633" y="7110"/>
                  </a:cubicBezTo>
                  <a:cubicBezTo>
                    <a:pt x="4372" y="5503"/>
                    <a:pt x="4662" y="1002"/>
                    <a:pt x="3504" y="135"/>
                  </a:cubicBezTo>
                  <a:cubicBezTo>
                    <a:pt x="3377" y="42"/>
                    <a:pt x="3238" y="1"/>
                    <a:pt x="30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57"/>
            <p:cNvSpPr/>
            <p:nvPr/>
          </p:nvSpPr>
          <p:spPr>
            <a:xfrm>
              <a:off x="4700775" y="3561850"/>
              <a:ext cx="118975" cy="229050"/>
            </a:xfrm>
            <a:custGeom>
              <a:avLst/>
              <a:gdLst/>
              <a:ahLst/>
              <a:cxnLst/>
              <a:rect l="l" t="t" r="r" b="b"/>
              <a:pathLst>
                <a:path w="4759" h="9162" extrusionOk="0">
                  <a:moveTo>
                    <a:pt x="3312" y="1"/>
                  </a:moveTo>
                  <a:cubicBezTo>
                    <a:pt x="2894" y="1"/>
                    <a:pt x="2508" y="226"/>
                    <a:pt x="2154" y="515"/>
                  </a:cubicBezTo>
                  <a:cubicBezTo>
                    <a:pt x="1576" y="965"/>
                    <a:pt x="1061" y="1576"/>
                    <a:pt x="676" y="2090"/>
                  </a:cubicBezTo>
                  <a:cubicBezTo>
                    <a:pt x="258" y="2604"/>
                    <a:pt x="1" y="3022"/>
                    <a:pt x="1" y="3022"/>
                  </a:cubicBezTo>
                  <a:lnTo>
                    <a:pt x="451" y="3312"/>
                  </a:lnTo>
                  <a:cubicBezTo>
                    <a:pt x="451" y="3312"/>
                    <a:pt x="483" y="3279"/>
                    <a:pt x="515" y="3215"/>
                  </a:cubicBezTo>
                  <a:cubicBezTo>
                    <a:pt x="708" y="2926"/>
                    <a:pt x="1190" y="2251"/>
                    <a:pt x="1736" y="1640"/>
                  </a:cubicBezTo>
                  <a:cubicBezTo>
                    <a:pt x="2026" y="1319"/>
                    <a:pt x="2315" y="1061"/>
                    <a:pt x="2604" y="836"/>
                  </a:cubicBezTo>
                  <a:cubicBezTo>
                    <a:pt x="2862" y="644"/>
                    <a:pt x="3119" y="547"/>
                    <a:pt x="3312" y="547"/>
                  </a:cubicBezTo>
                  <a:cubicBezTo>
                    <a:pt x="3408" y="547"/>
                    <a:pt x="3472" y="579"/>
                    <a:pt x="3569" y="611"/>
                  </a:cubicBezTo>
                  <a:cubicBezTo>
                    <a:pt x="3762" y="772"/>
                    <a:pt x="3954" y="1126"/>
                    <a:pt x="4051" y="1640"/>
                  </a:cubicBezTo>
                  <a:cubicBezTo>
                    <a:pt x="4179" y="2154"/>
                    <a:pt x="4244" y="2797"/>
                    <a:pt x="4244" y="3472"/>
                  </a:cubicBezTo>
                  <a:cubicBezTo>
                    <a:pt x="4244" y="4179"/>
                    <a:pt x="4179" y="4951"/>
                    <a:pt x="4051" y="5626"/>
                  </a:cubicBezTo>
                  <a:cubicBezTo>
                    <a:pt x="3954" y="6301"/>
                    <a:pt x="3794" y="6912"/>
                    <a:pt x="3601" y="7297"/>
                  </a:cubicBezTo>
                  <a:cubicBezTo>
                    <a:pt x="3408" y="7747"/>
                    <a:pt x="3183" y="8101"/>
                    <a:pt x="2958" y="8326"/>
                  </a:cubicBezTo>
                  <a:cubicBezTo>
                    <a:pt x="2733" y="8551"/>
                    <a:pt x="2540" y="8648"/>
                    <a:pt x="2411" y="8648"/>
                  </a:cubicBezTo>
                  <a:cubicBezTo>
                    <a:pt x="2315" y="8648"/>
                    <a:pt x="2219" y="8615"/>
                    <a:pt x="2090" y="8519"/>
                  </a:cubicBezTo>
                  <a:cubicBezTo>
                    <a:pt x="1994" y="8423"/>
                    <a:pt x="1897" y="8262"/>
                    <a:pt x="1769" y="8037"/>
                  </a:cubicBezTo>
                  <a:lnTo>
                    <a:pt x="1286" y="8230"/>
                  </a:lnTo>
                  <a:cubicBezTo>
                    <a:pt x="1415" y="8519"/>
                    <a:pt x="1576" y="8744"/>
                    <a:pt x="1769" y="8905"/>
                  </a:cubicBezTo>
                  <a:cubicBezTo>
                    <a:pt x="1929" y="9065"/>
                    <a:pt x="2154" y="9162"/>
                    <a:pt x="2411" y="9162"/>
                  </a:cubicBezTo>
                  <a:cubicBezTo>
                    <a:pt x="2733" y="9162"/>
                    <a:pt x="3054" y="8969"/>
                    <a:pt x="3344" y="8712"/>
                  </a:cubicBezTo>
                  <a:cubicBezTo>
                    <a:pt x="3633" y="8423"/>
                    <a:pt x="3890" y="8005"/>
                    <a:pt x="4115" y="7522"/>
                  </a:cubicBezTo>
                  <a:cubicBezTo>
                    <a:pt x="4308" y="7072"/>
                    <a:pt x="4469" y="6430"/>
                    <a:pt x="4597" y="5722"/>
                  </a:cubicBezTo>
                  <a:cubicBezTo>
                    <a:pt x="4694" y="5015"/>
                    <a:pt x="4758" y="4212"/>
                    <a:pt x="4758" y="3472"/>
                  </a:cubicBezTo>
                  <a:cubicBezTo>
                    <a:pt x="4758" y="2765"/>
                    <a:pt x="4726" y="2090"/>
                    <a:pt x="4565" y="1511"/>
                  </a:cubicBezTo>
                  <a:cubicBezTo>
                    <a:pt x="4437" y="965"/>
                    <a:pt x="4244" y="483"/>
                    <a:pt x="3890" y="194"/>
                  </a:cubicBezTo>
                  <a:cubicBezTo>
                    <a:pt x="3697" y="65"/>
                    <a:pt x="3504" y="1"/>
                    <a:pt x="3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57"/>
            <p:cNvSpPr/>
            <p:nvPr/>
          </p:nvSpPr>
          <p:spPr>
            <a:xfrm>
              <a:off x="4340750" y="3605550"/>
              <a:ext cx="114950" cy="202225"/>
            </a:xfrm>
            <a:custGeom>
              <a:avLst/>
              <a:gdLst/>
              <a:ahLst/>
              <a:cxnLst/>
              <a:rect l="l" t="t" r="r" b="b"/>
              <a:pathLst>
                <a:path w="4598" h="8089" extrusionOk="0">
                  <a:moveTo>
                    <a:pt x="1349" y="0"/>
                  </a:moveTo>
                  <a:cubicBezTo>
                    <a:pt x="1235" y="0"/>
                    <a:pt x="1144" y="87"/>
                    <a:pt x="1094" y="213"/>
                  </a:cubicBezTo>
                  <a:cubicBezTo>
                    <a:pt x="1094" y="213"/>
                    <a:pt x="837" y="1339"/>
                    <a:pt x="547" y="2689"/>
                  </a:cubicBezTo>
                  <a:cubicBezTo>
                    <a:pt x="290" y="4039"/>
                    <a:pt x="1" y="5614"/>
                    <a:pt x="1" y="6546"/>
                  </a:cubicBezTo>
                  <a:cubicBezTo>
                    <a:pt x="1" y="6803"/>
                    <a:pt x="1" y="7028"/>
                    <a:pt x="97" y="7221"/>
                  </a:cubicBezTo>
                  <a:cubicBezTo>
                    <a:pt x="290" y="7575"/>
                    <a:pt x="644" y="7767"/>
                    <a:pt x="1030" y="7896"/>
                  </a:cubicBezTo>
                  <a:cubicBezTo>
                    <a:pt x="1415" y="8025"/>
                    <a:pt x="1865" y="8089"/>
                    <a:pt x="2347" y="8089"/>
                  </a:cubicBezTo>
                  <a:cubicBezTo>
                    <a:pt x="3119" y="8057"/>
                    <a:pt x="3890" y="7928"/>
                    <a:pt x="4405" y="7639"/>
                  </a:cubicBezTo>
                  <a:cubicBezTo>
                    <a:pt x="4533" y="7575"/>
                    <a:pt x="4598" y="7382"/>
                    <a:pt x="4501" y="7253"/>
                  </a:cubicBezTo>
                  <a:cubicBezTo>
                    <a:pt x="4458" y="7167"/>
                    <a:pt x="4373" y="7125"/>
                    <a:pt x="4282" y="7125"/>
                  </a:cubicBezTo>
                  <a:cubicBezTo>
                    <a:pt x="4237" y="7125"/>
                    <a:pt x="4190" y="7135"/>
                    <a:pt x="4148" y="7157"/>
                  </a:cubicBezTo>
                  <a:cubicBezTo>
                    <a:pt x="3762" y="7382"/>
                    <a:pt x="3023" y="7542"/>
                    <a:pt x="2347" y="7542"/>
                  </a:cubicBezTo>
                  <a:cubicBezTo>
                    <a:pt x="1930" y="7542"/>
                    <a:pt x="1512" y="7478"/>
                    <a:pt x="1190" y="7382"/>
                  </a:cubicBezTo>
                  <a:cubicBezTo>
                    <a:pt x="869" y="7285"/>
                    <a:pt x="644" y="7125"/>
                    <a:pt x="580" y="6996"/>
                  </a:cubicBezTo>
                  <a:cubicBezTo>
                    <a:pt x="580" y="6964"/>
                    <a:pt x="547" y="6771"/>
                    <a:pt x="547" y="6546"/>
                  </a:cubicBezTo>
                  <a:cubicBezTo>
                    <a:pt x="547" y="5710"/>
                    <a:pt x="805" y="4135"/>
                    <a:pt x="1094" y="2785"/>
                  </a:cubicBezTo>
                  <a:cubicBezTo>
                    <a:pt x="1222" y="2110"/>
                    <a:pt x="1351" y="1499"/>
                    <a:pt x="1447" y="1049"/>
                  </a:cubicBezTo>
                  <a:cubicBezTo>
                    <a:pt x="1576" y="599"/>
                    <a:pt x="1640" y="342"/>
                    <a:pt x="1640" y="342"/>
                  </a:cubicBezTo>
                  <a:cubicBezTo>
                    <a:pt x="1672" y="181"/>
                    <a:pt x="1576" y="53"/>
                    <a:pt x="1447" y="21"/>
                  </a:cubicBezTo>
                  <a:cubicBezTo>
                    <a:pt x="1413" y="7"/>
                    <a:pt x="1380" y="0"/>
                    <a:pt x="13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57"/>
            <p:cNvSpPr/>
            <p:nvPr/>
          </p:nvSpPr>
          <p:spPr>
            <a:xfrm>
              <a:off x="4360050" y="3835075"/>
              <a:ext cx="135825" cy="28150"/>
            </a:xfrm>
            <a:custGeom>
              <a:avLst/>
              <a:gdLst/>
              <a:ahLst/>
              <a:cxnLst/>
              <a:rect l="l" t="t" r="r" b="b"/>
              <a:pathLst>
                <a:path w="5433" h="1126" extrusionOk="0">
                  <a:moveTo>
                    <a:pt x="5117" y="1"/>
                  </a:moveTo>
                  <a:cubicBezTo>
                    <a:pt x="5072" y="1"/>
                    <a:pt x="5026" y="12"/>
                    <a:pt x="4983" y="33"/>
                  </a:cubicBezTo>
                  <a:cubicBezTo>
                    <a:pt x="4276" y="451"/>
                    <a:pt x="3408" y="612"/>
                    <a:pt x="2604" y="612"/>
                  </a:cubicBezTo>
                  <a:cubicBezTo>
                    <a:pt x="1993" y="612"/>
                    <a:pt x="1447" y="515"/>
                    <a:pt x="1029" y="451"/>
                  </a:cubicBezTo>
                  <a:cubicBezTo>
                    <a:pt x="836" y="419"/>
                    <a:pt x="675" y="354"/>
                    <a:pt x="547" y="354"/>
                  </a:cubicBezTo>
                  <a:cubicBezTo>
                    <a:pt x="483" y="322"/>
                    <a:pt x="450" y="322"/>
                    <a:pt x="418" y="290"/>
                  </a:cubicBezTo>
                  <a:lnTo>
                    <a:pt x="386" y="290"/>
                  </a:lnTo>
                  <a:cubicBezTo>
                    <a:pt x="359" y="285"/>
                    <a:pt x="333" y="282"/>
                    <a:pt x="309" y="282"/>
                  </a:cubicBezTo>
                  <a:cubicBezTo>
                    <a:pt x="185" y="282"/>
                    <a:pt x="91" y="349"/>
                    <a:pt x="65" y="483"/>
                  </a:cubicBezTo>
                  <a:cubicBezTo>
                    <a:pt x="0" y="612"/>
                    <a:pt x="97" y="772"/>
                    <a:pt x="225" y="804"/>
                  </a:cubicBezTo>
                  <a:cubicBezTo>
                    <a:pt x="258" y="804"/>
                    <a:pt x="1318" y="1126"/>
                    <a:pt x="2604" y="1126"/>
                  </a:cubicBezTo>
                  <a:cubicBezTo>
                    <a:pt x="3472" y="1126"/>
                    <a:pt x="4436" y="997"/>
                    <a:pt x="5240" y="483"/>
                  </a:cubicBezTo>
                  <a:cubicBezTo>
                    <a:pt x="5369" y="419"/>
                    <a:pt x="5433" y="258"/>
                    <a:pt x="5336" y="129"/>
                  </a:cubicBezTo>
                  <a:cubicBezTo>
                    <a:pt x="5294" y="44"/>
                    <a:pt x="5208" y="1"/>
                    <a:pt x="51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57"/>
            <p:cNvSpPr/>
            <p:nvPr/>
          </p:nvSpPr>
          <p:spPr>
            <a:xfrm>
              <a:off x="4480600" y="3605250"/>
              <a:ext cx="28950" cy="57875"/>
            </a:xfrm>
            <a:custGeom>
              <a:avLst/>
              <a:gdLst/>
              <a:ahLst/>
              <a:cxnLst/>
              <a:rect l="l" t="t" r="r" b="b"/>
              <a:pathLst>
                <a:path w="1158" h="2315" extrusionOk="0">
                  <a:moveTo>
                    <a:pt x="579" y="0"/>
                  </a:moveTo>
                  <a:cubicBezTo>
                    <a:pt x="257" y="0"/>
                    <a:pt x="0" y="515"/>
                    <a:pt x="0" y="1158"/>
                  </a:cubicBezTo>
                  <a:cubicBezTo>
                    <a:pt x="0" y="1801"/>
                    <a:pt x="257" y="2315"/>
                    <a:pt x="579" y="2315"/>
                  </a:cubicBezTo>
                  <a:cubicBezTo>
                    <a:pt x="900" y="2315"/>
                    <a:pt x="1157" y="1801"/>
                    <a:pt x="1157" y="1158"/>
                  </a:cubicBezTo>
                  <a:cubicBezTo>
                    <a:pt x="1157" y="515"/>
                    <a:pt x="900" y="0"/>
                    <a:pt x="5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57"/>
            <p:cNvSpPr/>
            <p:nvPr/>
          </p:nvSpPr>
          <p:spPr>
            <a:xfrm>
              <a:off x="4305400" y="3586775"/>
              <a:ext cx="29750" cy="57875"/>
            </a:xfrm>
            <a:custGeom>
              <a:avLst/>
              <a:gdLst/>
              <a:ahLst/>
              <a:cxnLst/>
              <a:rect l="l" t="t" r="r" b="b"/>
              <a:pathLst>
                <a:path w="1190" h="2315" extrusionOk="0">
                  <a:moveTo>
                    <a:pt x="611" y="0"/>
                  </a:moveTo>
                  <a:cubicBezTo>
                    <a:pt x="290" y="0"/>
                    <a:pt x="1" y="514"/>
                    <a:pt x="1" y="1157"/>
                  </a:cubicBezTo>
                  <a:cubicBezTo>
                    <a:pt x="1" y="1800"/>
                    <a:pt x="290" y="2315"/>
                    <a:pt x="611" y="2315"/>
                  </a:cubicBezTo>
                  <a:cubicBezTo>
                    <a:pt x="933" y="2315"/>
                    <a:pt x="1190" y="1800"/>
                    <a:pt x="1190" y="1157"/>
                  </a:cubicBezTo>
                  <a:cubicBezTo>
                    <a:pt x="1190" y="514"/>
                    <a:pt x="933"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57"/>
            <p:cNvSpPr/>
            <p:nvPr/>
          </p:nvSpPr>
          <p:spPr>
            <a:xfrm>
              <a:off x="4276475" y="3539350"/>
              <a:ext cx="94850" cy="24950"/>
            </a:xfrm>
            <a:custGeom>
              <a:avLst/>
              <a:gdLst/>
              <a:ahLst/>
              <a:cxnLst/>
              <a:rect l="l" t="t" r="r" b="b"/>
              <a:pathLst>
                <a:path w="3794" h="998" extrusionOk="0">
                  <a:moveTo>
                    <a:pt x="1833" y="1"/>
                  </a:moveTo>
                  <a:cubicBezTo>
                    <a:pt x="804" y="1"/>
                    <a:pt x="161" y="483"/>
                    <a:pt x="129" y="515"/>
                  </a:cubicBezTo>
                  <a:cubicBezTo>
                    <a:pt x="33" y="611"/>
                    <a:pt x="0" y="772"/>
                    <a:pt x="97" y="901"/>
                  </a:cubicBezTo>
                  <a:cubicBezTo>
                    <a:pt x="153" y="957"/>
                    <a:pt x="231" y="991"/>
                    <a:pt x="305" y="991"/>
                  </a:cubicBezTo>
                  <a:cubicBezTo>
                    <a:pt x="358" y="991"/>
                    <a:pt x="410" y="973"/>
                    <a:pt x="450" y="933"/>
                  </a:cubicBezTo>
                  <a:cubicBezTo>
                    <a:pt x="483" y="933"/>
                    <a:pt x="997" y="547"/>
                    <a:pt x="1833" y="547"/>
                  </a:cubicBezTo>
                  <a:cubicBezTo>
                    <a:pt x="2250" y="547"/>
                    <a:pt x="2797" y="644"/>
                    <a:pt x="3376" y="965"/>
                  </a:cubicBezTo>
                  <a:cubicBezTo>
                    <a:pt x="3418" y="986"/>
                    <a:pt x="3465" y="997"/>
                    <a:pt x="3510" y="997"/>
                  </a:cubicBezTo>
                  <a:cubicBezTo>
                    <a:pt x="3601" y="997"/>
                    <a:pt x="3686" y="954"/>
                    <a:pt x="3729" y="869"/>
                  </a:cubicBezTo>
                  <a:cubicBezTo>
                    <a:pt x="3793" y="740"/>
                    <a:pt x="3761" y="547"/>
                    <a:pt x="3633" y="483"/>
                  </a:cubicBezTo>
                  <a:cubicBezTo>
                    <a:pt x="2958" y="129"/>
                    <a:pt x="2347" y="1"/>
                    <a:pt x="1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57"/>
            <p:cNvSpPr/>
            <p:nvPr/>
          </p:nvSpPr>
          <p:spPr>
            <a:xfrm>
              <a:off x="4443625" y="3548200"/>
              <a:ext cx="135025" cy="38000"/>
            </a:xfrm>
            <a:custGeom>
              <a:avLst/>
              <a:gdLst/>
              <a:ahLst/>
              <a:cxnLst/>
              <a:rect l="l" t="t" r="r" b="b"/>
              <a:pathLst>
                <a:path w="5401" h="1520" extrusionOk="0">
                  <a:moveTo>
                    <a:pt x="2636" y="0"/>
                  </a:moveTo>
                  <a:cubicBezTo>
                    <a:pt x="1318" y="0"/>
                    <a:pt x="225" y="579"/>
                    <a:pt x="193" y="579"/>
                  </a:cubicBezTo>
                  <a:cubicBezTo>
                    <a:pt x="65" y="643"/>
                    <a:pt x="0" y="804"/>
                    <a:pt x="65" y="932"/>
                  </a:cubicBezTo>
                  <a:cubicBezTo>
                    <a:pt x="112" y="1027"/>
                    <a:pt x="211" y="1086"/>
                    <a:pt x="310" y="1086"/>
                  </a:cubicBezTo>
                  <a:cubicBezTo>
                    <a:pt x="347" y="1086"/>
                    <a:pt x="384" y="1078"/>
                    <a:pt x="418" y="1061"/>
                  </a:cubicBezTo>
                  <a:lnTo>
                    <a:pt x="450" y="1061"/>
                  </a:lnTo>
                  <a:cubicBezTo>
                    <a:pt x="547" y="997"/>
                    <a:pt x="1543" y="547"/>
                    <a:pt x="2636" y="547"/>
                  </a:cubicBezTo>
                  <a:cubicBezTo>
                    <a:pt x="3408" y="547"/>
                    <a:pt x="4243" y="740"/>
                    <a:pt x="4919" y="1447"/>
                  </a:cubicBezTo>
                  <a:cubicBezTo>
                    <a:pt x="4983" y="1495"/>
                    <a:pt x="5055" y="1519"/>
                    <a:pt x="5123" y="1519"/>
                  </a:cubicBezTo>
                  <a:cubicBezTo>
                    <a:pt x="5192" y="1519"/>
                    <a:pt x="5256" y="1495"/>
                    <a:pt x="5304" y="1447"/>
                  </a:cubicBezTo>
                  <a:cubicBezTo>
                    <a:pt x="5401" y="1318"/>
                    <a:pt x="5401" y="1157"/>
                    <a:pt x="5304" y="1061"/>
                  </a:cubicBezTo>
                  <a:cubicBezTo>
                    <a:pt x="4501" y="257"/>
                    <a:pt x="3504" y="0"/>
                    <a:pt x="26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57"/>
            <p:cNvSpPr/>
            <p:nvPr/>
          </p:nvSpPr>
          <p:spPr>
            <a:xfrm>
              <a:off x="4481400" y="4034375"/>
              <a:ext cx="855050" cy="1335625"/>
            </a:xfrm>
            <a:custGeom>
              <a:avLst/>
              <a:gdLst/>
              <a:ahLst/>
              <a:cxnLst/>
              <a:rect l="l" t="t" r="r" b="b"/>
              <a:pathLst>
                <a:path w="34202" h="53425" extrusionOk="0">
                  <a:moveTo>
                    <a:pt x="14530" y="1"/>
                  </a:moveTo>
                  <a:lnTo>
                    <a:pt x="6236" y="5690"/>
                  </a:lnTo>
                  <a:cubicBezTo>
                    <a:pt x="6236" y="5690"/>
                    <a:pt x="6076" y="13855"/>
                    <a:pt x="4468" y="19384"/>
                  </a:cubicBezTo>
                  <a:cubicBezTo>
                    <a:pt x="2990" y="24559"/>
                    <a:pt x="322" y="50275"/>
                    <a:pt x="0" y="53425"/>
                  </a:cubicBezTo>
                  <a:lnTo>
                    <a:pt x="26809" y="53425"/>
                  </a:lnTo>
                  <a:cubicBezTo>
                    <a:pt x="27452" y="49760"/>
                    <a:pt x="33334" y="15366"/>
                    <a:pt x="33463" y="14273"/>
                  </a:cubicBezTo>
                  <a:cubicBezTo>
                    <a:pt x="33591" y="13116"/>
                    <a:pt x="34202" y="11219"/>
                    <a:pt x="33173" y="10930"/>
                  </a:cubicBezTo>
                  <a:cubicBezTo>
                    <a:pt x="32145" y="10640"/>
                    <a:pt x="14530" y="1"/>
                    <a:pt x="14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57"/>
            <p:cNvSpPr/>
            <p:nvPr/>
          </p:nvSpPr>
          <p:spPr>
            <a:xfrm>
              <a:off x="4474150" y="4027550"/>
              <a:ext cx="858300" cy="1348875"/>
            </a:xfrm>
            <a:custGeom>
              <a:avLst/>
              <a:gdLst/>
              <a:ahLst/>
              <a:cxnLst/>
              <a:rect l="l" t="t" r="r" b="b"/>
              <a:pathLst>
                <a:path w="34332" h="53955" extrusionOk="0">
                  <a:moveTo>
                    <a:pt x="14844" y="592"/>
                  </a:moveTo>
                  <a:lnTo>
                    <a:pt x="14844" y="592"/>
                  </a:lnTo>
                  <a:cubicBezTo>
                    <a:pt x="15659" y="1084"/>
                    <a:pt x="19592" y="3463"/>
                    <a:pt x="23627" y="5867"/>
                  </a:cubicBezTo>
                  <a:cubicBezTo>
                    <a:pt x="25877" y="7217"/>
                    <a:pt x="28192" y="8567"/>
                    <a:pt x="29992" y="9596"/>
                  </a:cubicBezTo>
                  <a:cubicBezTo>
                    <a:pt x="30892" y="10110"/>
                    <a:pt x="31663" y="10560"/>
                    <a:pt x="32242" y="10881"/>
                  </a:cubicBezTo>
                  <a:cubicBezTo>
                    <a:pt x="32531" y="11042"/>
                    <a:pt x="32788" y="11171"/>
                    <a:pt x="32949" y="11267"/>
                  </a:cubicBezTo>
                  <a:cubicBezTo>
                    <a:pt x="33142" y="11363"/>
                    <a:pt x="33270" y="11428"/>
                    <a:pt x="33399" y="11460"/>
                  </a:cubicBezTo>
                  <a:cubicBezTo>
                    <a:pt x="33528" y="11492"/>
                    <a:pt x="33624" y="11588"/>
                    <a:pt x="33688" y="11717"/>
                  </a:cubicBezTo>
                  <a:cubicBezTo>
                    <a:pt x="33753" y="11846"/>
                    <a:pt x="33785" y="12071"/>
                    <a:pt x="33785" y="12328"/>
                  </a:cubicBezTo>
                  <a:cubicBezTo>
                    <a:pt x="33785" y="12971"/>
                    <a:pt x="33560" y="13839"/>
                    <a:pt x="33495" y="14514"/>
                  </a:cubicBezTo>
                  <a:cubicBezTo>
                    <a:pt x="33463" y="14642"/>
                    <a:pt x="33367" y="15317"/>
                    <a:pt x="33174" y="16346"/>
                  </a:cubicBezTo>
                  <a:cubicBezTo>
                    <a:pt x="31977" y="23589"/>
                    <a:pt x="27572" y="49372"/>
                    <a:pt x="26880" y="53441"/>
                  </a:cubicBezTo>
                  <a:lnTo>
                    <a:pt x="577" y="53441"/>
                  </a:lnTo>
                  <a:cubicBezTo>
                    <a:pt x="785" y="51406"/>
                    <a:pt x="1494" y="44536"/>
                    <a:pt x="2347" y="37465"/>
                  </a:cubicBezTo>
                  <a:cubicBezTo>
                    <a:pt x="2797" y="33736"/>
                    <a:pt x="3280" y="29943"/>
                    <a:pt x="3762" y="26761"/>
                  </a:cubicBezTo>
                  <a:cubicBezTo>
                    <a:pt x="4212" y="23578"/>
                    <a:pt x="4662" y="20975"/>
                    <a:pt x="5015" y="19721"/>
                  </a:cubicBezTo>
                  <a:cubicBezTo>
                    <a:pt x="6529" y="14557"/>
                    <a:pt x="6755" y="7200"/>
                    <a:pt x="6781" y="6102"/>
                  </a:cubicBezTo>
                  <a:lnTo>
                    <a:pt x="6781" y="6102"/>
                  </a:lnTo>
                  <a:lnTo>
                    <a:pt x="14844" y="592"/>
                  </a:lnTo>
                  <a:close/>
                  <a:moveTo>
                    <a:pt x="14803" y="0"/>
                  </a:moveTo>
                  <a:cubicBezTo>
                    <a:pt x="14755" y="0"/>
                    <a:pt x="14707" y="16"/>
                    <a:pt x="14659" y="49"/>
                  </a:cubicBezTo>
                  <a:lnTo>
                    <a:pt x="6366" y="5738"/>
                  </a:lnTo>
                  <a:cubicBezTo>
                    <a:pt x="6301" y="5770"/>
                    <a:pt x="6237" y="5867"/>
                    <a:pt x="6237" y="5963"/>
                  </a:cubicBezTo>
                  <a:cubicBezTo>
                    <a:pt x="6237" y="5963"/>
                    <a:pt x="6237" y="6445"/>
                    <a:pt x="6205" y="7313"/>
                  </a:cubicBezTo>
                  <a:cubicBezTo>
                    <a:pt x="6076" y="9853"/>
                    <a:pt x="5690" y="15478"/>
                    <a:pt x="4501" y="19560"/>
                  </a:cubicBezTo>
                  <a:cubicBezTo>
                    <a:pt x="4115" y="20910"/>
                    <a:pt x="3698" y="23482"/>
                    <a:pt x="3215" y="26664"/>
                  </a:cubicBezTo>
                  <a:cubicBezTo>
                    <a:pt x="1833" y="36243"/>
                    <a:pt x="258" y="51287"/>
                    <a:pt x="33" y="53666"/>
                  </a:cubicBezTo>
                  <a:cubicBezTo>
                    <a:pt x="1" y="53730"/>
                    <a:pt x="33" y="53826"/>
                    <a:pt x="97" y="53891"/>
                  </a:cubicBezTo>
                  <a:cubicBezTo>
                    <a:pt x="129" y="53923"/>
                    <a:pt x="226" y="53955"/>
                    <a:pt x="290" y="53955"/>
                  </a:cubicBezTo>
                  <a:lnTo>
                    <a:pt x="27099" y="53955"/>
                  </a:lnTo>
                  <a:cubicBezTo>
                    <a:pt x="27227" y="53955"/>
                    <a:pt x="27356" y="53859"/>
                    <a:pt x="27356" y="53730"/>
                  </a:cubicBezTo>
                  <a:cubicBezTo>
                    <a:pt x="27677" y="51930"/>
                    <a:pt x="29317" y="42415"/>
                    <a:pt x="30892" y="33222"/>
                  </a:cubicBezTo>
                  <a:cubicBezTo>
                    <a:pt x="31663" y="28625"/>
                    <a:pt x="32435" y="24093"/>
                    <a:pt x="33013" y="20653"/>
                  </a:cubicBezTo>
                  <a:cubicBezTo>
                    <a:pt x="33303" y="18950"/>
                    <a:pt x="33528" y="17503"/>
                    <a:pt x="33720" y="16442"/>
                  </a:cubicBezTo>
                  <a:cubicBezTo>
                    <a:pt x="33881" y="15382"/>
                    <a:pt x="34010" y="14739"/>
                    <a:pt x="34010" y="14578"/>
                  </a:cubicBezTo>
                  <a:cubicBezTo>
                    <a:pt x="34106" y="13967"/>
                    <a:pt x="34299" y="13067"/>
                    <a:pt x="34331" y="12328"/>
                  </a:cubicBezTo>
                  <a:cubicBezTo>
                    <a:pt x="34331" y="12039"/>
                    <a:pt x="34267" y="11749"/>
                    <a:pt x="34170" y="11492"/>
                  </a:cubicBezTo>
                  <a:cubicBezTo>
                    <a:pt x="34042" y="11235"/>
                    <a:pt x="33849" y="11010"/>
                    <a:pt x="33528" y="10946"/>
                  </a:cubicBezTo>
                  <a:cubicBezTo>
                    <a:pt x="33528" y="10946"/>
                    <a:pt x="33367" y="10881"/>
                    <a:pt x="33206" y="10785"/>
                  </a:cubicBezTo>
                  <a:cubicBezTo>
                    <a:pt x="31824" y="10110"/>
                    <a:pt x="27259" y="7410"/>
                    <a:pt x="23048" y="4902"/>
                  </a:cubicBezTo>
                  <a:cubicBezTo>
                    <a:pt x="20927" y="3649"/>
                    <a:pt x="18902" y="2427"/>
                    <a:pt x="17423" y="1527"/>
                  </a:cubicBezTo>
                  <a:cubicBezTo>
                    <a:pt x="16684" y="1077"/>
                    <a:pt x="16073" y="724"/>
                    <a:pt x="15623" y="466"/>
                  </a:cubicBezTo>
                  <a:cubicBezTo>
                    <a:pt x="15205" y="209"/>
                    <a:pt x="14948" y="49"/>
                    <a:pt x="14948" y="49"/>
                  </a:cubicBezTo>
                  <a:cubicBezTo>
                    <a:pt x="14900" y="16"/>
                    <a:pt x="14852" y="0"/>
                    <a:pt x="14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57"/>
            <p:cNvSpPr/>
            <p:nvPr/>
          </p:nvSpPr>
          <p:spPr>
            <a:xfrm>
              <a:off x="4637300" y="3848750"/>
              <a:ext cx="257975" cy="516750"/>
            </a:xfrm>
            <a:custGeom>
              <a:avLst/>
              <a:gdLst/>
              <a:ahLst/>
              <a:cxnLst/>
              <a:rect l="l" t="t" r="r" b="b"/>
              <a:pathLst>
                <a:path w="10319" h="20670" extrusionOk="0">
                  <a:moveTo>
                    <a:pt x="9322" y="0"/>
                  </a:moveTo>
                  <a:lnTo>
                    <a:pt x="0" y="13115"/>
                  </a:lnTo>
                  <a:lnTo>
                    <a:pt x="2475" y="20669"/>
                  </a:lnTo>
                  <a:lnTo>
                    <a:pt x="10319" y="7586"/>
                  </a:lnTo>
                  <a:lnTo>
                    <a:pt x="93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57"/>
            <p:cNvSpPr/>
            <p:nvPr/>
          </p:nvSpPr>
          <p:spPr>
            <a:xfrm>
              <a:off x="4630050" y="3842025"/>
              <a:ext cx="272450" cy="530700"/>
            </a:xfrm>
            <a:custGeom>
              <a:avLst/>
              <a:gdLst/>
              <a:ahLst/>
              <a:cxnLst/>
              <a:rect l="l" t="t" r="r" b="b"/>
              <a:pathLst>
                <a:path w="10898" h="21228" extrusionOk="0">
                  <a:moveTo>
                    <a:pt x="9419" y="976"/>
                  </a:moveTo>
                  <a:lnTo>
                    <a:pt x="10351" y="7791"/>
                  </a:lnTo>
                  <a:lnTo>
                    <a:pt x="2830" y="20295"/>
                  </a:lnTo>
                  <a:lnTo>
                    <a:pt x="595" y="13433"/>
                  </a:lnTo>
                  <a:lnTo>
                    <a:pt x="9419" y="976"/>
                  </a:lnTo>
                  <a:close/>
                  <a:moveTo>
                    <a:pt x="9586" y="0"/>
                  </a:moveTo>
                  <a:cubicBezTo>
                    <a:pt x="9502" y="0"/>
                    <a:pt x="9435" y="36"/>
                    <a:pt x="9387" y="109"/>
                  </a:cubicBezTo>
                  <a:lnTo>
                    <a:pt x="65" y="13223"/>
                  </a:lnTo>
                  <a:cubicBezTo>
                    <a:pt x="1" y="13288"/>
                    <a:pt x="1" y="13384"/>
                    <a:pt x="33" y="13448"/>
                  </a:cubicBezTo>
                  <a:lnTo>
                    <a:pt x="2508" y="21035"/>
                  </a:lnTo>
                  <a:cubicBezTo>
                    <a:pt x="2540" y="21131"/>
                    <a:pt x="2637" y="21195"/>
                    <a:pt x="2733" y="21227"/>
                  </a:cubicBezTo>
                  <a:cubicBezTo>
                    <a:pt x="2830" y="21227"/>
                    <a:pt x="2926" y="21195"/>
                    <a:pt x="2990" y="21099"/>
                  </a:cubicBezTo>
                  <a:lnTo>
                    <a:pt x="10866" y="7984"/>
                  </a:lnTo>
                  <a:cubicBezTo>
                    <a:pt x="10898" y="7920"/>
                    <a:pt x="10898" y="7855"/>
                    <a:pt x="10898" y="7823"/>
                  </a:cubicBezTo>
                  <a:lnTo>
                    <a:pt x="9869" y="237"/>
                  </a:lnTo>
                  <a:cubicBezTo>
                    <a:pt x="9869" y="141"/>
                    <a:pt x="9773" y="44"/>
                    <a:pt x="9676" y="12"/>
                  </a:cubicBezTo>
                  <a:cubicBezTo>
                    <a:pt x="9644" y="4"/>
                    <a:pt x="9614" y="0"/>
                    <a:pt x="9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57"/>
            <p:cNvSpPr/>
            <p:nvPr/>
          </p:nvSpPr>
          <p:spPr>
            <a:xfrm>
              <a:off x="4855875" y="4281900"/>
              <a:ext cx="512725" cy="946675"/>
            </a:xfrm>
            <a:custGeom>
              <a:avLst/>
              <a:gdLst/>
              <a:ahLst/>
              <a:cxnLst/>
              <a:rect l="l" t="t" r="r" b="b"/>
              <a:pathLst>
                <a:path w="20509" h="37867" extrusionOk="0">
                  <a:moveTo>
                    <a:pt x="15558" y="0"/>
                  </a:moveTo>
                  <a:lnTo>
                    <a:pt x="5658" y="7715"/>
                  </a:lnTo>
                  <a:lnTo>
                    <a:pt x="1" y="27837"/>
                  </a:lnTo>
                  <a:lnTo>
                    <a:pt x="8294" y="37866"/>
                  </a:lnTo>
                  <a:cubicBezTo>
                    <a:pt x="8294" y="37866"/>
                    <a:pt x="15269" y="25041"/>
                    <a:pt x="17744" y="16330"/>
                  </a:cubicBezTo>
                  <a:cubicBezTo>
                    <a:pt x="20219" y="7586"/>
                    <a:pt x="20509" y="2765"/>
                    <a:pt x="18934" y="1768"/>
                  </a:cubicBezTo>
                  <a:cubicBezTo>
                    <a:pt x="17326" y="739"/>
                    <a:pt x="15558" y="0"/>
                    <a:pt x="15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57"/>
            <p:cNvSpPr/>
            <p:nvPr/>
          </p:nvSpPr>
          <p:spPr>
            <a:xfrm>
              <a:off x="4848650" y="4276275"/>
              <a:ext cx="511925" cy="959025"/>
            </a:xfrm>
            <a:custGeom>
              <a:avLst/>
              <a:gdLst/>
              <a:ahLst/>
              <a:cxnLst/>
              <a:rect l="l" t="t" r="r" b="b"/>
              <a:pathLst>
                <a:path w="20477" h="38361" extrusionOk="0">
                  <a:moveTo>
                    <a:pt x="15976" y="0"/>
                  </a:moveTo>
                  <a:lnTo>
                    <a:pt x="15751" y="482"/>
                  </a:lnTo>
                  <a:cubicBezTo>
                    <a:pt x="15751" y="482"/>
                    <a:pt x="15847" y="514"/>
                    <a:pt x="16040" y="611"/>
                  </a:cubicBezTo>
                  <a:cubicBezTo>
                    <a:pt x="16619" y="868"/>
                    <a:pt x="17873" y="1447"/>
                    <a:pt x="19062" y="2218"/>
                  </a:cubicBezTo>
                  <a:cubicBezTo>
                    <a:pt x="19319" y="2379"/>
                    <a:pt x="19544" y="2668"/>
                    <a:pt x="19705" y="3182"/>
                  </a:cubicBezTo>
                  <a:cubicBezTo>
                    <a:pt x="19866" y="3665"/>
                    <a:pt x="19930" y="4307"/>
                    <a:pt x="19930" y="5143"/>
                  </a:cubicBezTo>
                  <a:cubicBezTo>
                    <a:pt x="19930" y="7554"/>
                    <a:pt x="19255" y="11315"/>
                    <a:pt x="17776" y="16458"/>
                  </a:cubicBezTo>
                  <a:cubicBezTo>
                    <a:pt x="16555" y="20798"/>
                    <a:pt x="14208" y="26198"/>
                    <a:pt x="12151" y="30473"/>
                  </a:cubicBezTo>
                  <a:cubicBezTo>
                    <a:pt x="11122" y="32627"/>
                    <a:pt x="10158" y="34491"/>
                    <a:pt x="9483" y="35841"/>
                  </a:cubicBezTo>
                  <a:cubicBezTo>
                    <a:pt x="9129" y="36516"/>
                    <a:pt x="8840" y="37031"/>
                    <a:pt x="8647" y="37416"/>
                  </a:cubicBezTo>
                  <a:cubicBezTo>
                    <a:pt x="8603" y="37497"/>
                    <a:pt x="8564" y="37569"/>
                    <a:pt x="8530" y="37633"/>
                  </a:cubicBezTo>
                  <a:lnTo>
                    <a:pt x="8530" y="37633"/>
                  </a:lnTo>
                  <a:lnTo>
                    <a:pt x="579" y="27998"/>
                  </a:lnTo>
                  <a:lnTo>
                    <a:pt x="6204" y="8036"/>
                  </a:lnTo>
                  <a:lnTo>
                    <a:pt x="5690" y="7876"/>
                  </a:lnTo>
                  <a:lnTo>
                    <a:pt x="32" y="27966"/>
                  </a:lnTo>
                  <a:cubicBezTo>
                    <a:pt x="0" y="28062"/>
                    <a:pt x="0" y="28159"/>
                    <a:pt x="65" y="28223"/>
                  </a:cubicBezTo>
                  <a:lnTo>
                    <a:pt x="8358" y="38252"/>
                  </a:lnTo>
                  <a:cubicBezTo>
                    <a:pt x="8406" y="38324"/>
                    <a:pt x="8472" y="38361"/>
                    <a:pt x="8543" y="38361"/>
                  </a:cubicBezTo>
                  <a:cubicBezTo>
                    <a:pt x="8567" y="38361"/>
                    <a:pt x="8591" y="38357"/>
                    <a:pt x="8615" y="38349"/>
                  </a:cubicBezTo>
                  <a:cubicBezTo>
                    <a:pt x="8679" y="38349"/>
                    <a:pt x="8776" y="38316"/>
                    <a:pt x="8808" y="38220"/>
                  </a:cubicBezTo>
                  <a:cubicBezTo>
                    <a:pt x="8808" y="38220"/>
                    <a:pt x="15815" y="25394"/>
                    <a:pt x="18290" y="16619"/>
                  </a:cubicBezTo>
                  <a:cubicBezTo>
                    <a:pt x="19769" y="11444"/>
                    <a:pt x="20476" y="7651"/>
                    <a:pt x="20476" y="5143"/>
                  </a:cubicBezTo>
                  <a:cubicBezTo>
                    <a:pt x="20476" y="4275"/>
                    <a:pt x="20380" y="3568"/>
                    <a:pt x="20219" y="2990"/>
                  </a:cubicBezTo>
                  <a:cubicBezTo>
                    <a:pt x="20026" y="2443"/>
                    <a:pt x="19737" y="1993"/>
                    <a:pt x="19351" y="1768"/>
                  </a:cubicBezTo>
                  <a:cubicBezTo>
                    <a:pt x="17712" y="707"/>
                    <a:pt x="15976" y="0"/>
                    <a:pt x="15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57"/>
            <p:cNvSpPr/>
            <p:nvPr/>
          </p:nvSpPr>
          <p:spPr>
            <a:xfrm>
              <a:off x="4716850" y="4919150"/>
              <a:ext cx="404250" cy="407825"/>
            </a:xfrm>
            <a:custGeom>
              <a:avLst/>
              <a:gdLst/>
              <a:ahLst/>
              <a:cxnLst/>
              <a:rect l="l" t="t" r="r" b="b"/>
              <a:pathLst>
                <a:path w="16170" h="16313" extrusionOk="0">
                  <a:moveTo>
                    <a:pt x="5562" y="161"/>
                  </a:moveTo>
                  <a:cubicBezTo>
                    <a:pt x="5562" y="161"/>
                    <a:pt x="290" y="2765"/>
                    <a:pt x="161" y="4372"/>
                  </a:cubicBezTo>
                  <a:cubicBezTo>
                    <a:pt x="1" y="5980"/>
                    <a:pt x="4661" y="10930"/>
                    <a:pt x="5851" y="13116"/>
                  </a:cubicBezTo>
                  <a:cubicBezTo>
                    <a:pt x="6773" y="14857"/>
                    <a:pt x="7980" y="16313"/>
                    <a:pt x="9685" y="16313"/>
                  </a:cubicBezTo>
                  <a:cubicBezTo>
                    <a:pt x="10120" y="16313"/>
                    <a:pt x="10587" y="16218"/>
                    <a:pt x="11090" y="16009"/>
                  </a:cubicBezTo>
                  <a:cubicBezTo>
                    <a:pt x="13566" y="15012"/>
                    <a:pt x="16169" y="12248"/>
                    <a:pt x="16169" y="9773"/>
                  </a:cubicBezTo>
                  <a:cubicBezTo>
                    <a:pt x="16169" y="7298"/>
                    <a:pt x="12537" y="3504"/>
                    <a:pt x="9933" y="1737"/>
                  </a:cubicBezTo>
                  <a:cubicBezTo>
                    <a:pt x="7297" y="1"/>
                    <a:pt x="6429" y="290"/>
                    <a:pt x="5562" y="16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57"/>
            <p:cNvSpPr/>
            <p:nvPr/>
          </p:nvSpPr>
          <p:spPr>
            <a:xfrm>
              <a:off x="4714450" y="4915950"/>
              <a:ext cx="413875" cy="417900"/>
            </a:xfrm>
            <a:custGeom>
              <a:avLst/>
              <a:gdLst/>
              <a:ahLst/>
              <a:cxnLst/>
              <a:rect l="l" t="t" r="r" b="b"/>
              <a:pathLst>
                <a:path w="16555" h="16716" extrusionOk="0">
                  <a:moveTo>
                    <a:pt x="5673" y="556"/>
                  </a:moveTo>
                  <a:cubicBezTo>
                    <a:pt x="6123" y="608"/>
                    <a:pt x="6527" y="588"/>
                    <a:pt x="7104" y="739"/>
                  </a:cubicBezTo>
                  <a:cubicBezTo>
                    <a:pt x="7715" y="900"/>
                    <a:pt x="8583" y="1254"/>
                    <a:pt x="9868" y="2090"/>
                  </a:cubicBezTo>
                  <a:cubicBezTo>
                    <a:pt x="11154" y="2957"/>
                    <a:pt x="12697" y="4340"/>
                    <a:pt x="13919" y="5786"/>
                  </a:cubicBezTo>
                  <a:cubicBezTo>
                    <a:pt x="14529" y="6493"/>
                    <a:pt x="15044" y="7265"/>
                    <a:pt x="15429" y="7972"/>
                  </a:cubicBezTo>
                  <a:cubicBezTo>
                    <a:pt x="15783" y="8679"/>
                    <a:pt x="16008" y="9322"/>
                    <a:pt x="16008" y="9901"/>
                  </a:cubicBezTo>
                  <a:cubicBezTo>
                    <a:pt x="16008" y="11026"/>
                    <a:pt x="15397" y="12311"/>
                    <a:pt x="14465" y="13404"/>
                  </a:cubicBezTo>
                  <a:cubicBezTo>
                    <a:pt x="13501" y="14497"/>
                    <a:pt x="12279" y="15430"/>
                    <a:pt x="11090" y="15912"/>
                  </a:cubicBezTo>
                  <a:cubicBezTo>
                    <a:pt x="10608" y="16105"/>
                    <a:pt x="10190" y="16169"/>
                    <a:pt x="9772" y="16169"/>
                  </a:cubicBezTo>
                  <a:cubicBezTo>
                    <a:pt x="9001" y="16169"/>
                    <a:pt x="8358" y="15847"/>
                    <a:pt x="7747" y="15301"/>
                  </a:cubicBezTo>
                  <a:cubicBezTo>
                    <a:pt x="7136" y="14754"/>
                    <a:pt x="6622" y="13983"/>
                    <a:pt x="6172" y="13115"/>
                  </a:cubicBezTo>
                  <a:cubicBezTo>
                    <a:pt x="5561" y="11990"/>
                    <a:pt x="4147" y="10254"/>
                    <a:pt x="2861" y="8583"/>
                  </a:cubicBezTo>
                  <a:cubicBezTo>
                    <a:pt x="2250" y="7715"/>
                    <a:pt x="1639" y="6911"/>
                    <a:pt x="1222" y="6204"/>
                  </a:cubicBezTo>
                  <a:cubicBezTo>
                    <a:pt x="997" y="5850"/>
                    <a:pt x="804" y="5529"/>
                    <a:pt x="707" y="5240"/>
                  </a:cubicBezTo>
                  <a:cubicBezTo>
                    <a:pt x="579" y="4950"/>
                    <a:pt x="514" y="4725"/>
                    <a:pt x="514" y="4565"/>
                  </a:cubicBezTo>
                  <a:lnTo>
                    <a:pt x="514" y="4533"/>
                  </a:lnTo>
                  <a:cubicBezTo>
                    <a:pt x="547" y="4404"/>
                    <a:pt x="611" y="4211"/>
                    <a:pt x="739" y="4018"/>
                  </a:cubicBezTo>
                  <a:cubicBezTo>
                    <a:pt x="997" y="3665"/>
                    <a:pt x="1447" y="3247"/>
                    <a:pt x="1961" y="2861"/>
                  </a:cubicBezTo>
                  <a:cubicBezTo>
                    <a:pt x="2732" y="2250"/>
                    <a:pt x="3697" y="1672"/>
                    <a:pt x="4436" y="1222"/>
                  </a:cubicBezTo>
                  <a:cubicBezTo>
                    <a:pt x="4822" y="997"/>
                    <a:pt x="5143" y="836"/>
                    <a:pt x="5400" y="707"/>
                  </a:cubicBezTo>
                  <a:cubicBezTo>
                    <a:pt x="5520" y="639"/>
                    <a:pt x="5613" y="588"/>
                    <a:pt x="5673" y="556"/>
                  </a:cubicBezTo>
                  <a:close/>
                  <a:moveTo>
                    <a:pt x="5690" y="0"/>
                  </a:moveTo>
                  <a:cubicBezTo>
                    <a:pt x="5625" y="0"/>
                    <a:pt x="5561" y="0"/>
                    <a:pt x="5529" y="32"/>
                  </a:cubicBezTo>
                  <a:cubicBezTo>
                    <a:pt x="5529" y="32"/>
                    <a:pt x="4211" y="707"/>
                    <a:pt x="2861" y="1575"/>
                  </a:cubicBezTo>
                  <a:cubicBezTo>
                    <a:pt x="2186" y="1993"/>
                    <a:pt x="1511" y="2475"/>
                    <a:pt x="964" y="2957"/>
                  </a:cubicBezTo>
                  <a:cubicBezTo>
                    <a:pt x="707" y="3215"/>
                    <a:pt x="482" y="3472"/>
                    <a:pt x="322" y="3697"/>
                  </a:cubicBezTo>
                  <a:cubicBezTo>
                    <a:pt x="129" y="3954"/>
                    <a:pt x="0" y="4211"/>
                    <a:pt x="0" y="4468"/>
                  </a:cubicBezTo>
                  <a:lnTo>
                    <a:pt x="0" y="4565"/>
                  </a:lnTo>
                  <a:cubicBezTo>
                    <a:pt x="0" y="4854"/>
                    <a:pt x="64" y="5143"/>
                    <a:pt x="193" y="5433"/>
                  </a:cubicBezTo>
                  <a:cubicBezTo>
                    <a:pt x="675" y="6558"/>
                    <a:pt x="1800" y="8036"/>
                    <a:pt x="2925" y="9515"/>
                  </a:cubicBezTo>
                  <a:cubicBezTo>
                    <a:pt x="4082" y="10994"/>
                    <a:pt x="5208" y="12472"/>
                    <a:pt x="5690" y="13372"/>
                  </a:cubicBezTo>
                  <a:cubicBezTo>
                    <a:pt x="6172" y="14240"/>
                    <a:pt x="6718" y="15076"/>
                    <a:pt x="7393" y="15687"/>
                  </a:cubicBezTo>
                  <a:cubicBezTo>
                    <a:pt x="8036" y="16297"/>
                    <a:pt x="8840" y="16715"/>
                    <a:pt x="9772" y="16715"/>
                  </a:cubicBezTo>
                  <a:cubicBezTo>
                    <a:pt x="10254" y="16715"/>
                    <a:pt x="10769" y="16619"/>
                    <a:pt x="11283" y="16394"/>
                  </a:cubicBezTo>
                  <a:cubicBezTo>
                    <a:pt x="12569" y="15880"/>
                    <a:pt x="13854" y="14915"/>
                    <a:pt x="14851" y="13726"/>
                  </a:cubicBezTo>
                  <a:cubicBezTo>
                    <a:pt x="15847" y="12569"/>
                    <a:pt x="16555" y="11219"/>
                    <a:pt x="16555" y="9901"/>
                  </a:cubicBezTo>
                  <a:cubicBezTo>
                    <a:pt x="16555" y="9193"/>
                    <a:pt x="16297" y="8454"/>
                    <a:pt x="15912" y="7715"/>
                  </a:cubicBezTo>
                  <a:cubicBezTo>
                    <a:pt x="14722" y="5465"/>
                    <a:pt x="12151" y="2990"/>
                    <a:pt x="10158" y="1640"/>
                  </a:cubicBezTo>
                  <a:cubicBezTo>
                    <a:pt x="8840" y="772"/>
                    <a:pt x="7940" y="386"/>
                    <a:pt x="7233" y="225"/>
                  </a:cubicBezTo>
                  <a:cubicBezTo>
                    <a:pt x="6558" y="32"/>
                    <a:pt x="6075" y="97"/>
                    <a:pt x="5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57"/>
            <p:cNvSpPr/>
            <p:nvPr/>
          </p:nvSpPr>
          <p:spPr>
            <a:xfrm>
              <a:off x="3529925" y="5101700"/>
              <a:ext cx="469550" cy="99550"/>
            </a:xfrm>
            <a:custGeom>
              <a:avLst/>
              <a:gdLst/>
              <a:ahLst/>
              <a:cxnLst/>
              <a:rect l="l" t="t" r="r" b="b"/>
              <a:pathLst>
                <a:path w="18782" h="3982" extrusionOk="0">
                  <a:moveTo>
                    <a:pt x="10734" y="0"/>
                  </a:moveTo>
                  <a:cubicBezTo>
                    <a:pt x="8013" y="0"/>
                    <a:pt x="5561" y="413"/>
                    <a:pt x="5561" y="413"/>
                  </a:cubicBezTo>
                  <a:cubicBezTo>
                    <a:pt x="5561" y="413"/>
                    <a:pt x="2636" y="2021"/>
                    <a:pt x="1318" y="2181"/>
                  </a:cubicBezTo>
                  <a:cubicBezTo>
                    <a:pt x="0" y="2310"/>
                    <a:pt x="161" y="3467"/>
                    <a:pt x="1318" y="3917"/>
                  </a:cubicBezTo>
                  <a:cubicBezTo>
                    <a:pt x="1432" y="3962"/>
                    <a:pt x="1575" y="3982"/>
                    <a:pt x="1740" y="3982"/>
                  </a:cubicBezTo>
                  <a:cubicBezTo>
                    <a:pt x="3249" y="3982"/>
                    <a:pt x="6646" y="2310"/>
                    <a:pt x="7458" y="2310"/>
                  </a:cubicBezTo>
                  <a:cubicBezTo>
                    <a:pt x="8326" y="2310"/>
                    <a:pt x="15172" y="2889"/>
                    <a:pt x="16619" y="3049"/>
                  </a:cubicBezTo>
                  <a:cubicBezTo>
                    <a:pt x="16679" y="3055"/>
                    <a:pt x="16739" y="3057"/>
                    <a:pt x="16797" y="3057"/>
                  </a:cubicBezTo>
                  <a:cubicBezTo>
                    <a:pt x="18130" y="3057"/>
                    <a:pt x="18781" y="1683"/>
                    <a:pt x="15301" y="574"/>
                  </a:cubicBezTo>
                  <a:cubicBezTo>
                    <a:pt x="13970" y="138"/>
                    <a:pt x="12307" y="0"/>
                    <a:pt x="107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57"/>
            <p:cNvSpPr/>
            <p:nvPr/>
          </p:nvSpPr>
          <p:spPr>
            <a:xfrm>
              <a:off x="3533125" y="5095150"/>
              <a:ext cx="450050" cy="112525"/>
            </a:xfrm>
            <a:custGeom>
              <a:avLst/>
              <a:gdLst/>
              <a:ahLst/>
              <a:cxnLst/>
              <a:rect l="l" t="t" r="r" b="b"/>
              <a:pathLst>
                <a:path w="18002" h="4501" extrusionOk="0">
                  <a:moveTo>
                    <a:pt x="10641" y="547"/>
                  </a:moveTo>
                  <a:cubicBezTo>
                    <a:pt x="12183" y="547"/>
                    <a:pt x="13823" y="675"/>
                    <a:pt x="15109" y="1093"/>
                  </a:cubicBezTo>
                  <a:cubicBezTo>
                    <a:pt x="16041" y="1383"/>
                    <a:pt x="16652" y="1704"/>
                    <a:pt x="17005" y="1993"/>
                  </a:cubicBezTo>
                  <a:cubicBezTo>
                    <a:pt x="17198" y="2122"/>
                    <a:pt x="17327" y="2250"/>
                    <a:pt x="17391" y="2347"/>
                  </a:cubicBezTo>
                  <a:cubicBezTo>
                    <a:pt x="17455" y="2475"/>
                    <a:pt x="17487" y="2572"/>
                    <a:pt x="17487" y="2604"/>
                  </a:cubicBezTo>
                  <a:cubicBezTo>
                    <a:pt x="17487" y="2733"/>
                    <a:pt x="17423" y="2797"/>
                    <a:pt x="17294" y="2893"/>
                  </a:cubicBezTo>
                  <a:cubicBezTo>
                    <a:pt x="17166" y="2990"/>
                    <a:pt x="16941" y="3054"/>
                    <a:pt x="16684" y="3054"/>
                  </a:cubicBezTo>
                  <a:cubicBezTo>
                    <a:pt x="16619" y="3054"/>
                    <a:pt x="16587" y="3054"/>
                    <a:pt x="16523" y="3022"/>
                  </a:cubicBezTo>
                  <a:cubicBezTo>
                    <a:pt x="15784" y="2958"/>
                    <a:pt x="13694" y="2797"/>
                    <a:pt x="11701" y="2604"/>
                  </a:cubicBezTo>
                  <a:cubicBezTo>
                    <a:pt x="10705" y="2540"/>
                    <a:pt x="9708" y="2443"/>
                    <a:pt x="8937" y="2411"/>
                  </a:cubicBezTo>
                  <a:cubicBezTo>
                    <a:pt x="8133" y="2347"/>
                    <a:pt x="7555" y="2315"/>
                    <a:pt x="7330" y="2315"/>
                  </a:cubicBezTo>
                  <a:cubicBezTo>
                    <a:pt x="7169" y="2315"/>
                    <a:pt x="7008" y="2347"/>
                    <a:pt x="6848" y="2379"/>
                  </a:cubicBezTo>
                  <a:cubicBezTo>
                    <a:pt x="6205" y="2572"/>
                    <a:pt x="5208" y="2958"/>
                    <a:pt x="4212" y="3311"/>
                  </a:cubicBezTo>
                  <a:cubicBezTo>
                    <a:pt x="3261" y="3648"/>
                    <a:pt x="2282" y="3956"/>
                    <a:pt x="1691" y="3956"/>
                  </a:cubicBezTo>
                  <a:cubicBezTo>
                    <a:pt x="1663" y="3956"/>
                    <a:pt x="1635" y="3956"/>
                    <a:pt x="1608" y="3954"/>
                  </a:cubicBezTo>
                  <a:cubicBezTo>
                    <a:pt x="1570" y="3964"/>
                    <a:pt x="1533" y="3967"/>
                    <a:pt x="1497" y="3967"/>
                  </a:cubicBezTo>
                  <a:cubicBezTo>
                    <a:pt x="1410" y="3967"/>
                    <a:pt x="1332" y="3945"/>
                    <a:pt x="1287" y="3922"/>
                  </a:cubicBezTo>
                  <a:cubicBezTo>
                    <a:pt x="1029" y="3826"/>
                    <a:pt x="836" y="3697"/>
                    <a:pt x="708" y="3536"/>
                  </a:cubicBezTo>
                  <a:cubicBezTo>
                    <a:pt x="579" y="3408"/>
                    <a:pt x="547" y="3279"/>
                    <a:pt x="547" y="3151"/>
                  </a:cubicBezTo>
                  <a:cubicBezTo>
                    <a:pt x="547" y="3054"/>
                    <a:pt x="579" y="2990"/>
                    <a:pt x="676" y="2893"/>
                  </a:cubicBezTo>
                  <a:cubicBezTo>
                    <a:pt x="772" y="2797"/>
                    <a:pt x="933" y="2733"/>
                    <a:pt x="1222" y="2701"/>
                  </a:cubicBezTo>
                  <a:cubicBezTo>
                    <a:pt x="1608" y="2668"/>
                    <a:pt x="2026" y="2508"/>
                    <a:pt x="2508" y="2347"/>
                  </a:cubicBezTo>
                  <a:cubicBezTo>
                    <a:pt x="3763" y="1880"/>
                    <a:pt x="5230" y="1095"/>
                    <a:pt x="5513" y="930"/>
                  </a:cubicBezTo>
                  <a:lnTo>
                    <a:pt x="5513" y="930"/>
                  </a:lnTo>
                  <a:cubicBezTo>
                    <a:pt x="5579" y="926"/>
                    <a:pt x="5709" y="912"/>
                    <a:pt x="5883" y="868"/>
                  </a:cubicBezTo>
                  <a:cubicBezTo>
                    <a:pt x="6719" y="772"/>
                    <a:pt x="8615" y="547"/>
                    <a:pt x="10641" y="547"/>
                  </a:cubicBezTo>
                  <a:close/>
                  <a:moveTo>
                    <a:pt x="10641" y="0"/>
                  </a:moveTo>
                  <a:cubicBezTo>
                    <a:pt x="7876" y="0"/>
                    <a:pt x="5369" y="418"/>
                    <a:pt x="5369" y="418"/>
                  </a:cubicBezTo>
                  <a:lnTo>
                    <a:pt x="5305" y="450"/>
                  </a:lnTo>
                  <a:cubicBezTo>
                    <a:pt x="5305" y="450"/>
                    <a:pt x="5112" y="547"/>
                    <a:pt x="4822" y="708"/>
                  </a:cubicBezTo>
                  <a:cubicBezTo>
                    <a:pt x="4372" y="933"/>
                    <a:pt x="3697" y="1254"/>
                    <a:pt x="2990" y="1575"/>
                  </a:cubicBezTo>
                  <a:cubicBezTo>
                    <a:pt x="2315" y="1865"/>
                    <a:pt x="1608" y="2122"/>
                    <a:pt x="1158" y="2154"/>
                  </a:cubicBezTo>
                  <a:cubicBezTo>
                    <a:pt x="804" y="2218"/>
                    <a:pt x="515" y="2315"/>
                    <a:pt x="322" y="2475"/>
                  </a:cubicBezTo>
                  <a:cubicBezTo>
                    <a:pt x="97" y="2668"/>
                    <a:pt x="1" y="2926"/>
                    <a:pt x="1" y="3151"/>
                  </a:cubicBezTo>
                  <a:cubicBezTo>
                    <a:pt x="1" y="3440"/>
                    <a:pt x="129" y="3697"/>
                    <a:pt x="322" y="3890"/>
                  </a:cubicBezTo>
                  <a:cubicBezTo>
                    <a:pt x="483" y="4115"/>
                    <a:pt x="772" y="4308"/>
                    <a:pt x="1094" y="4436"/>
                  </a:cubicBezTo>
                  <a:cubicBezTo>
                    <a:pt x="1254" y="4501"/>
                    <a:pt x="1415" y="4501"/>
                    <a:pt x="1608" y="4501"/>
                  </a:cubicBezTo>
                  <a:cubicBezTo>
                    <a:pt x="2026" y="4501"/>
                    <a:pt x="2540" y="4404"/>
                    <a:pt x="3087" y="4243"/>
                  </a:cubicBezTo>
                  <a:cubicBezTo>
                    <a:pt x="3922" y="3986"/>
                    <a:pt x="4855" y="3633"/>
                    <a:pt x="5658" y="3343"/>
                  </a:cubicBezTo>
                  <a:cubicBezTo>
                    <a:pt x="6044" y="3215"/>
                    <a:pt x="6397" y="3086"/>
                    <a:pt x="6719" y="2990"/>
                  </a:cubicBezTo>
                  <a:cubicBezTo>
                    <a:pt x="7008" y="2893"/>
                    <a:pt x="7233" y="2829"/>
                    <a:pt x="7330" y="2829"/>
                  </a:cubicBezTo>
                  <a:cubicBezTo>
                    <a:pt x="7523" y="2829"/>
                    <a:pt x="8101" y="2893"/>
                    <a:pt x="8905" y="2926"/>
                  </a:cubicBezTo>
                  <a:cubicBezTo>
                    <a:pt x="11251" y="3118"/>
                    <a:pt x="15366" y="3472"/>
                    <a:pt x="16459" y="3568"/>
                  </a:cubicBezTo>
                  <a:lnTo>
                    <a:pt x="16684" y="3568"/>
                  </a:lnTo>
                  <a:cubicBezTo>
                    <a:pt x="17037" y="3568"/>
                    <a:pt x="17327" y="3504"/>
                    <a:pt x="17584" y="3343"/>
                  </a:cubicBezTo>
                  <a:cubicBezTo>
                    <a:pt x="17841" y="3183"/>
                    <a:pt x="18002" y="2926"/>
                    <a:pt x="18002" y="2604"/>
                  </a:cubicBezTo>
                  <a:cubicBezTo>
                    <a:pt x="18002" y="2443"/>
                    <a:pt x="17937" y="2250"/>
                    <a:pt x="17841" y="2058"/>
                  </a:cubicBezTo>
                  <a:cubicBezTo>
                    <a:pt x="17487" y="1543"/>
                    <a:pt x="16716" y="1029"/>
                    <a:pt x="15269" y="579"/>
                  </a:cubicBezTo>
                  <a:cubicBezTo>
                    <a:pt x="13887" y="129"/>
                    <a:pt x="12216" y="0"/>
                    <a:pt x="10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57"/>
            <p:cNvSpPr/>
            <p:nvPr/>
          </p:nvSpPr>
          <p:spPr>
            <a:xfrm>
              <a:off x="3583025" y="5056825"/>
              <a:ext cx="166300" cy="176575"/>
            </a:xfrm>
            <a:custGeom>
              <a:avLst/>
              <a:gdLst/>
              <a:ahLst/>
              <a:cxnLst/>
              <a:rect l="l" t="t" r="r" b="b"/>
              <a:pathLst>
                <a:path w="6652" h="7063" extrusionOk="0">
                  <a:moveTo>
                    <a:pt x="5113" y="0"/>
                  </a:moveTo>
                  <a:cubicBezTo>
                    <a:pt x="4439" y="0"/>
                    <a:pt x="3763" y="140"/>
                    <a:pt x="3598" y="665"/>
                  </a:cubicBezTo>
                  <a:cubicBezTo>
                    <a:pt x="3276" y="1791"/>
                    <a:pt x="94" y="6259"/>
                    <a:pt x="30" y="6676"/>
                  </a:cubicBezTo>
                  <a:cubicBezTo>
                    <a:pt x="0" y="6883"/>
                    <a:pt x="221" y="7063"/>
                    <a:pt x="591" y="7063"/>
                  </a:cubicBezTo>
                  <a:cubicBezTo>
                    <a:pt x="1026" y="7063"/>
                    <a:pt x="1666" y="6813"/>
                    <a:pt x="2344" y="6066"/>
                  </a:cubicBezTo>
                  <a:cubicBezTo>
                    <a:pt x="3630" y="4651"/>
                    <a:pt x="6652" y="183"/>
                    <a:pt x="6652" y="183"/>
                  </a:cubicBezTo>
                  <a:cubicBezTo>
                    <a:pt x="6652" y="183"/>
                    <a:pt x="5884" y="0"/>
                    <a:pt x="51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57"/>
            <p:cNvSpPr/>
            <p:nvPr/>
          </p:nvSpPr>
          <p:spPr>
            <a:xfrm>
              <a:off x="3576525" y="5050150"/>
              <a:ext cx="180025" cy="189675"/>
            </a:xfrm>
            <a:custGeom>
              <a:avLst/>
              <a:gdLst/>
              <a:ahLst/>
              <a:cxnLst/>
              <a:rect l="l" t="t" r="r" b="b"/>
              <a:pathLst>
                <a:path w="7201" h="7587" extrusionOk="0">
                  <a:moveTo>
                    <a:pt x="5401" y="515"/>
                  </a:moveTo>
                  <a:cubicBezTo>
                    <a:pt x="5754" y="515"/>
                    <a:pt x="6140" y="579"/>
                    <a:pt x="6397" y="611"/>
                  </a:cubicBezTo>
                  <a:cubicBezTo>
                    <a:pt x="6418" y="616"/>
                    <a:pt x="6439" y="621"/>
                    <a:pt x="6460" y="625"/>
                  </a:cubicBezTo>
                  <a:lnTo>
                    <a:pt x="6460" y="625"/>
                  </a:lnTo>
                  <a:cubicBezTo>
                    <a:pt x="6388" y="730"/>
                    <a:pt x="6302" y="856"/>
                    <a:pt x="6204" y="997"/>
                  </a:cubicBezTo>
                  <a:cubicBezTo>
                    <a:pt x="5754" y="1672"/>
                    <a:pt x="5047" y="2700"/>
                    <a:pt x="4308" y="3697"/>
                  </a:cubicBezTo>
                  <a:cubicBezTo>
                    <a:pt x="3601" y="4693"/>
                    <a:pt x="2894" y="5658"/>
                    <a:pt x="2411" y="6140"/>
                  </a:cubicBezTo>
                  <a:cubicBezTo>
                    <a:pt x="1768" y="6879"/>
                    <a:pt x="1190" y="7072"/>
                    <a:pt x="836" y="7072"/>
                  </a:cubicBezTo>
                  <a:cubicBezTo>
                    <a:pt x="708" y="7072"/>
                    <a:pt x="611" y="7040"/>
                    <a:pt x="579" y="7008"/>
                  </a:cubicBezTo>
                  <a:lnTo>
                    <a:pt x="556" y="6985"/>
                  </a:lnTo>
                  <a:lnTo>
                    <a:pt x="556" y="6985"/>
                  </a:lnTo>
                  <a:cubicBezTo>
                    <a:pt x="578" y="6935"/>
                    <a:pt x="633" y="6811"/>
                    <a:pt x="708" y="6686"/>
                  </a:cubicBezTo>
                  <a:cubicBezTo>
                    <a:pt x="1061" y="6108"/>
                    <a:pt x="1833" y="4918"/>
                    <a:pt x="2540" y="3793"/>
                  </a:cubicBezTo>
                  <a:cubicBezTo>
                    <a:pt x="2926" y="3215"/>
                    <a:pt x="3279" y="2668"/>
                    <a:pt x="3536" y="2186"/>
                  </a:cubicBezTo>
                  <a:cubicBezTo>
                    <a:pt x="3826" y="1704"/>
                    <a:pt x="4019" y="1286"/>
                    <a:pt x="4115" y="997"/>
                  </a:cubicBezTo>
                  <a:cubicBezTo>
                    <a:pt x="4147" y="932"/>
                    <a:pt x="4179" y="868"/>
                    <a:pt x="4276" y="804"/>
                  </a:cubicBezTo>
                  <a:cubicBezTo>
                    <a:pt x="4372" y="707"/>
                    <a:pt x="4533" y="643"/>
                    <a:pt x="4726" y="579"/>
                  </a:cubicBezTo>
                  <a:cubicBezTo>
                    <a:pt x="4919" y="547"/>
                    <a:pt x="5176" y="515"/>
                    <a:pt x="5401" y="515"/>
                  </a:cubicBezTo>
                  <a:close/>
                  <a:moveTo>
                    <a:pt x="5401" y="0"/>
                  </a:moveTo>
                  <a:cubicBezTo>
                    <a:pt x="5047" y="0"/>
                    <a:pt x="4661" y="32"/>
                    <a:pt x="4340" y="161"/>
                  </a:cubicBezTo>
                  <a:cubicBezTo>
                    <a:pt x="4179" y="193"/>
                    <a:pt x="4019" y="290"/>
                    <a:pt x="3890" y="418"/>
                  </a:cubicBezTo>
                  <a:cubicBezTo>
                    <a:pt x="3761" y="515"/>
                    <a:pt x="3665" y="675"/>
                    <a:pt x="3601" y="868"/>
                  </a:cubicBezTo>
                  <a:cubicBezTo>
                    <a:pt x="3536" y="1093"/>
                    <a:pt x="3279" y="1575"/>
                    <a:pt x="2958" y="2154"/>
                  </a:cubicBezTo>
                  <a:cubicBezTo>
                    <a:pt x="2444" y="3022"/>
                    <a:pt x="1736" y="4115"/>
                    <a:pt x="1126" y="5015"/>
                  </a:cubicBezTo>
                  <a:cubicBezTo>
                    <a:pt x="836" y="5465"/>
                    <a:pt x="579" y="5883"/>
                    <a:pt x="386" y="6204"/>
                  </a:cubicBezTo>
                  <a:cubicBezTo>
                    <a:pt x="290" y="6365"/>
                    <a:pt x="226" y="6493"/>
                    <a:pt x="161" y="6590"/>
                  </a:cubicBezTo>
                  <a:cubicBezTo>
                    <a:pt x="129" y="6654"/>
                    <a:pt x="97" y="6718"/>
                    <a:pt x="65" y="6751"/>
                  </a:cubicBezTo>
                  <a:cubicBezTo>
                    <a:pt x="65" y="6815"/>
                    <a:pt x="33" y="6847"/>
                    <a:pt x="33" y="6911"/>
                  </a:cubicBezTo>
                  <a:lnTo>
                    <a:pt x="33" y="7008"/>
                  </a:lnTo>
                  <a:cubicBezTo>
                    <a:pt x="1" y="7201"/>
                    <a:pt x="129" y="7361"/>
                    <a:pt x="290" y="7458"/>
                  </a:cubicBezTo>
                  <a:cubicBezTo>
                    <a:pt x="451" y="7554"/>
                    <a:pt x="643" y="7586"/>
                    <a:pt x="836" y="7586"/>
                  </a:cubicBezTo>
                  <a:cubicBezTo>
                    <a:pt x="1383" y="7586"/>
                    <a:pt x="2090" y="7297"/>
                    <a:pt x="2829" y="6526"/>
                  </a:cubicBezTo>
                  <a:cubicBezTo>
                    <a:pt x="3472" y="5786"/>
                    <a:pt x="4533" y="4308"/>
                    <a:pt x="5465" y="3022"/>
                  </a:cubicBezTo>
                  <a:cubicBezTo>
                    <a:pt x="6397" y="1704"/>
                    <a:pt x="7137" y="579"/>
                    <a:pt x="7137" y="579"/>
                  </a:cubicBezTo>
                  <a:cubicBezTo>
                    <a:pt x="7201" y="515"/>
                    <a:pt x="7201" y="418"/>
                    <a:pt x="7169" y="322"/>
                  </a:cubicBezTo>
                  <a:cubicBezTo>
                    <a:pt x="7137" y="257"/>
                    <a:pt x="7072" y="193"/>
                    <a:pt x="6976" y="161"/>
                  </a:cubicBezTo>
                  <a:cubicBezTo>
                    <a:pt x="6976" y="161"/>
                    <a:pt x="6204" y="0"/>
                    <a:pt x="5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57"/>
            <p:cNvSpPr/>
            <p:nvPr/>
          </p:nvSpPr>
          <p:spPr>
            <a:xfrm>
              <a:off x="3610275" y="5040500"/>
              <a:ext cx="192900" cy="215600"/>
            </a:xfrm>
            <a:custGeom>
              <a:avLst/>
              <a:gdLst/>
              <a:ahLst/>
              <a:cxnLst/>
              <a:rect l="l" t="t" r="r" b="b"/>
              <a:pathLst>
                <a:path w="7716" h="8624" extrusionOk="0">
                  <a:moveTo>
                    <a:pt x="5677" y="1"/>
                  </a:moveTo>
                  <a:cubicBezTo>
                    <a:pt x="5244" y="1"/>
                    <a:pt x="4854" y="65"/>
                    <a:pt x="4662" y="258"/>
                  </a:cubicBezTo>
                  <a:cubicBezTo>
                    <a:pt x="4083" y="836"/>
                    <a:pt x="1" y="7683"/>
                    <a:pt x="1" y="8262"/>
                  </a:cubicBezTo>
                  <a:cubicBezTo>
                    <a:pt x="1" y="8551"/>
                    <a:pt x="402" y="8623"/>
                    <a:pt x="804" y="8623"/>
                  </a:cubicBezTo>
                  <a:cubicBezTo>
                    <a:pt x="1206" y="8623"/>
                    <a:pt x="1608" y="8551"/>
                    <a:pt x="1608" y="8551"/>
                  </a:cubicBezTo>
                  <a:lnTo>
                    <a:pt x="6269" y="2154"/>
                  </a:lnTo>
                  <a:lnTo>
                    <a:pt x="7715" y="836"/>
                  </a:lnTo>
                  <a:lnTo>
                    <a:pt x="7587" y="258"/>
                  </a:lnTo>
                  <a:cubicBezTo>
                    <a:pt x="7587" y="258"/>
                    <a:pt x="6544" y="1"/>
                    <a:pt x="56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57"/>
            <p:cNvSpPr/>
            <p:nvPr/>
          </p:nvSpPr>
          <p:spPr>
            <a:xfrm>
              <a:off x="3603850" y="5033275"/>
              <a:ext cx="206550" cy="229050"/>
            </a:xfrm>
            <a:custGeom>
              <a:avLst/>
              <a:gdLst/>
              <a:ahLst/>
              <a:cxnLst/>
              <a:rect l="l" t="t" r="r" b="b"/>
              <a:pathLst>
                <a:path w="8262" h="9162" extrusionOk="0">
                  <a:moveTo>
                    <a:pt x="5947" y="547"/>
                  </a:moveTo>
                  <a:cubicBezTo>
                    <a:pt x="6333" y="547"/>
                    <a:pt x="6815" y="611"/>
                    <a:pt x="7169" y="675"/>
                  </a:cubicBezTo>
                  <a:cubicBezTo>
                    <a:pt x="7329" y="707"/>
                    <a:pt x="7490" y="740"/>
                    <a:pt x="7587" y="772"/>
                  </a:cubicBezTo>
                  <a:cubicBezTo>
                    <a:pt x="7600" y="772"/>
                    <a:pt x="7612" y="772"/>
                    <a:pt x="7624" y="773"/>
                  </a:cubicBezTo>
                  <a:lnTo>
                    <a:pt x="7624" y="773"/>
                  </a:lnTo>
                  <a:lnTo>
                    <a:pt x="7683" y="1029"/>
                  </a:lnTo>
                  <a:lnTo>
                    <a:pt x="6333" y="2218"/>
                  </a:lnTo>
                  <a:lnTo>
                    <a:pt x="6301" y="2283"/>
                  </a:lnTo>
                  <a:lnTo>
                    <a:pt x="1700" y="8597"/>
                  </a:lnTo>
                  <a:lnTo>
                    <a:pt x="1700" y="8597"/>
                  </a:lnTo>
                  <a:cubicBezTo>
                    <a:pt x="1552" y="8624"/>
                    <a:pt x="1307" y="8647"/>
                    <a:pt x="1061" y="8647"/>
                  </a:cubicBezTo>
                  <a:cubicBezTo>
                    <a:pt x="868" y="8647"/>
                    <a:pt x="708" y="8615"/>
                    <a:pt x="611" y="8583"/>
                  </a:cubicBezTo>
                  <a:cubicBezTo>
                    <a:pt x="547" y="8583"/>
                    <a:pt x="515" y="8551"/>
                    <a:pt x="515" y="8551"/>
                  </a:cubicBezTo>
                  <a:cubicBezTo>
                    <a:pt x="515" y="8551"/>
                    <a:pt x="547" y="8486"/>
                    <a:pt x="579" y="8390"/>
                  </a:cubicBezTo>
                  <a:cubicBezTo>
                    <a:pt x="708" y="8101"/>
                    <a:pt x="1029" y="7458"/>
                    <a:pt x="1447" y="6718"/>
                  </a:cubicBezTo>
                  <a:cubicBezTo>
                    <a:pt x="2058" y="5593"/>
                    <a:pt x="2893" y="4179"/>
                    <a:pt x="3601" y="3022"/>
                  </a:cubicBezTo>
                  <a:cubicBezTo>
                    <a:pt x="3954" y="2411"/>
                    <a:pt x="4308" y="1897"/>
                    <a:pt x="4565" y="1479"/>
                  </a:cubicBezTo>
                  <a:cubicBezTo>
                    <a:pt x="4694" y="1286"/>
                    <a:pt x="4822" y="1093"/>
                    <a:pt x="4919" y="965"/>
                  </a:cubicBezTo>
                  <a:cubicBezTo>
                    <a:pt x="5015" y="836"/>
                    <a:pt x="5079" y="740"/>
                    <a:pt x="5111" y="740"/>
                  </a:cubicBezTo>
                  <a:cubicBezTo>
                    <a:pt x="5144" y="675"/>
                    <a:pt x="5240" y="643"/>
                    <a:pt x="5401" y="579"/>
                  </a:cubicBezTo>
                  <a:cubicBezTo>
                    <a:pt x="5561" y="547"/>
                    <a:pt x="5722" y="547"/>
                    <a:pt x="5947" y="547"/>
                  </a:cubicBezTo>
                  <a:close/>
                  <a:moveTo>
                    <a:pt x="5947" y="0"/>
                  </a:moveTo>
                  <a:cubicBezTo>
                    <a:pt x="5722" y="0"/>
                    <a:pt x="5497" y="32"/>
                    <a:pt x="5272" y="65"/>
                  </a:cubicBezTo>
                  <a:cubicBezTo>
                    <a:pt x="5079" y="129"/>
                    <a:pt x="4886" y="193"/>
                    <a:pt x="4726" y="354"/>
                  </a:cubicBezTo>
                  <a:cubicBezTo>
                    <a:pt x="4629" y="450"/>
                    <a:pt x="4501" y="611"/>
                    <a:pt x="4340" y="868"/>
                  </a:cubicBezTo>
                  <a:cubicBezTo>
                    <a:pt x="3729" y="1736"/>
                    <a:pt x="2668" y="3504"/>
                    <a:pt x="1736" y="5111"/>
                  </a:cubicBezTo>
                  <a:cubicBezTo>
                    <a:pt x="1286" y="5915"/>
                    <a:pt x="836" y="6654"/>
                    <a:pt x="515" y="7265"/>
                  </a:cubicBezTo>
                  <a:cubicBezTo>
                    <a:pt x="386" y="7586"/>
                    <a:pt x="258" y="7844"/>
                    <a:pt x="161" y="8036"/>
                  </a:cubicBezTo>
                  <a:cubicBezTo>
                    <a:pt x="97" y="8133"/>
                    <a:pt x="65" y="8229"/>
                    <a:pt x="33" y="8294"/>
                  </a:cubicBezTo>
                  <a:cubicBezTo>
                    <a:pt x="33" y="8390"/>
                    <a:pt x="0" y="8454"/>
                    <a:pt x="0" y="8551"/>
                  </a:cubicBezTo>
                  <a:cubicBezTo>
                    <a:pt x="0" y="8679"/>
                    <a:pt x="33" y="8808"/>
                    <a:pt x="129" y="8904"/>
                  </a:cubicBezTo>
                  <a:cubicBezTo>
                    <a:pt x="258" y="9033"/>
                    <a:pt x="418" y="9097"/>
                    <a:pt x="579" y="9129"/>
                  </a:cubicBezTo>
                  <a:cubicBezTo>
                    <a:pt x="740" y="9161"/>
                    <a:pt x="900" y="9161"/>
                    <a:pt x="1061" y="9161"/>
                  </a:cubicBezTo>
                  <a:cubicBezTo>
                    <a:pt x="1479" y="9161"/>
                    <a:pt x="1897" y="9097"/>
                    <a:pt x="1897" y="9097"/>
                  </a:cubicBezTo>
                  <a:cubicBezTo>
                    <a:pt x="1993" y="9097"/>
                    <a:pt x="2026" y="9065"/>
                    <a:pt x="2090" y="9001"/>
                  </a:cubicBezTo>
                  <a:lnTo>
                    <a:pt x="6719" y="2604"/>
                  </a:lnTo>
                  <a:lnTo>
                    <a:pt x="8165" y="1318"/>
                  </a:lnTo>
                  <a:cubicBezTo>
                    <a:pt x="8229" y="1254"/>
                    <a:pt x="8262" y="1157"/>
                    <a:pt x="8229" y="1061"/>
                  </a:cubicBezTo>
                  <a:lnTo>
                    <a:pt x="8101" y="482"/>
                  </a:lnTo>
                  <a:cubicBezTo>
                    <a:pt x="8069" y="386"/>
                    <a:pt x="8004" y="290"/>
                    <a:pt x="7908" y="290"/>
                  </a:cubicBezTo>
                  <a:cubicBezTo>
                    <a:pt x="7876" y="290"/>
                    <a:pt x="6847" y="0"/>
                    <a:pt x="59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57"/>
            <p:cNvSpPr/>
            <p:nvPr/>
          </p:nvSpPr>
          <p:spPr>
            <a:xfrm>
              <a:off x="3636000" y="5039525"/>
              <a:ext cx="1332400" cy="269500"/>
            </a:xfrm>
            <a:custGeom>
              <a:avLst/>
              <a:gdLst/>
              <a:ahLst/>
              <a:cxnLst/>
              <a:rect l="l" t="t" r="r" b="b"/>
              <a:pathLst>
                <a:path w="53296" h="10780" extrusionOk="0">
                  <a:moveTo>
                    <a:pt x="46653" y="1"/>
                  </a:moveTo>
                  <a:cubicBezTo>
                    <a:pt x="43579" y="1"/>
                    <a:pt x="31909" y="2616"/>
                    <a:pt x="27098" y="2772"/>
                  </a:cubicBezTo>
                  <a:cubicBezTo>
                    <a:pt x="25320" y="2818"/>
                    <a:pt x="23625" y="2847"/>
                    <a:pt x="22132" y="2847"/>
                  </a:cubicBezTo>
                  <a:cubicBezTo>
                    <a:pt x="19441" y="2847"/>
                    <a:pt x="17409" y="2751"/>
                    <a:pt x="16747" y="2483"/>
                  </a:cubicBezTo>
                  <a:cubicBezTo>
                    <a:pt x="15719" y="2033"/>
                    <a:pt x="7136" y="297"/>
                    <a:pt x="6558" y="297"/>
                  </a:cubicBezTo>
                  <a:cubicBezTo>
                    <a:pt x="5979" y="297"/>
                    <a:pt x="0" y="8590"/>
                    <a:pt x="0" y="8590"/>
                  </a:cubicBezTo>
                  <a:cubicBezTo>
                    <a:pt x="0" y="8590"/>
                    <a:pt x="186" y="9047"/>
                    <a:pt x="662" y="9047"/>
                  </a:cubicBezTo>
                  <a:cubicBezTo>
                    <a:pt x="900" y="9047"/>
                    <a:pt x="1211" y="8933"/>
                    <a:pt x="1607" y="8590"/>
                  </a:cubicBezTo>
                  <a:cubicBezTo>
                    <a:pt x="2765" y="7561"/>
                    <a:pt x="6558" y="4058"/>
                    <a:pt x="6558" y="4058"/>
                  </a:cubicBezTo>
                  <a:lnTo>
                    <a:pt x="10769" y="4058"/>
                  </a:lnTo>
                  <a:cubicBezTo>
                    <a:pt x="10769" y="4058"/>
                    <a:pt x="6847" y="6404"/>
                    <a:pt x="6268" y="6854"/>
                  </a:cubicBezTo>
                  <a:cubicBezTo>
                    <a:pt x="5690" y="7272"/>
                    <a:pt x="3343" y="9747"/>
                    <a:pt x="3922" y="9908"/>
                  </a:cubicBezTo>
                  <a:cubicBezTo>
                    <a:pt x="3936" y="9911"/>
                    <a:pt x="3951" y="9913"/>
                    <a:pt x="3968" y="9913"/>
                  </a:cubicBezTo>
                  <a:cubicBezTo>
                    <a:pt x="4646" y="9913"/>
                    <a:pt x="7554" y="7433"/>
                    <a:pt x="7554" y="7433"/>
                  </a:cubicBezTo>
                  <a:lnTo>
                    <a:pt x="11926" y="6243"/>
                  </a:lnTo>
                  <a:cubicBezTo>
                    <a:pt x="11926" y="6243"/>
                    <a:pt x="15140" y="8301"/>
                    <a:pt x="18065" y="8429"/>
                  </a:cubicBezTo>
                  <a:cubicBezTo>
                    <a:pt x="18311" y="8443"/>
                    <a:pt x="18551" y="8449"/>
                    <a:pt x="18785" y="8449"/>
                  </a:cubicBezTo>
                  <a:cubicBezTo>
                    <a:pt x="21313" y="8449"/>
                    <a:pt x="23144" y="7722"/>
                    <a:pt x="23144" y="7722"/>
                  </a:cubicBezTo>
                  <a:cubicBezTo>
                    <a:pt x="23144" y="7722"/>
                    <a:pt x="39389" y="10780"/>
                    <a:pt x="48933" y="10780"/>
                  </a:cubicBezTo>
                  <a:cubicBezTo>
                    <a:pt x="49126" y="10780"/>
                    <a:pt x="49316" y="10778"/>
                    <a:pt x="49503" y="10776"/>
                  </a:cubicBezTo>
                  <a:cubicBezTo>
                    <a:pt x="49503" y="10776"/>
                    <a:pt x="52717" y="10487"/>
                    <a:pt x="53006" y="6983"/>
                  </a:cubicBezTo>
                  <a:cubicBezTo>
                    <a:pt x="53296" y="3479"/>
                    <a:pt x="49503" y="136"/>
                    <a:pt x="46899" y="7"/>
                  </a:cubicBezTo>
                  <a:cubicBezTo>
                    <a:pt x="46825" y="3"/>
                    <a:pt x="46743" y="1"/>
                    <a:pt x="466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57"/>
            <p:cNvSpPr/>
            <p:nvPr/>
          </p:nvSpPr>
          <p:spPr>
            <a:xfrm>
              <a:off x="3628750" y="5032475"/>
              <a:ext cx="1339650" cy="282875"/>
            </a:xfrm>
            <a:custGeom>
              <a:avLst/>
              <a:gdLst/>
              <a:ahLst/>
              <a:cxnLst/>
              <a:rect l="l" t="t" r="r" b="b"/>
              <a:pathLst>
                <a:path w="53586" h="11315" extrusionOk="0">
                  <a:moveTo>
                    <a:pt x="47157" y="547"/>
                  </a:moveTo>
                  <a:cubicBezTo>
                    <a:pt x="48314" y="611"/>
                    <a:pt x="49825" y="1382"/>
                    <a:pt x="51014" y="2572"/>
                  </a:cubicBezTo>
                  <a:cubicBezTo>
                    <a:pt x="52171" y="3729"/>
                    <a:pt x="53039" y="5304"/>
                    <a:pt x="53039" y="6879"/>
                  </a:cubicBezTo>
                  <a:cubicBezTo>
                    <a:pt x="53039" y="7008"/>
                    <a:pt x="53039" y="7136"/>
                    <a:pt x="53039" y="7233"/>
                  </a:cubicBezTo>
                  <a:cubicBezTo>
                    <a:pt x="52879" y="8904"/>
                    <a:pt x="52075" y="9772"/>
                    <a:pt x="51304" y="10254"/>
                  </a:cubicBezTo>
                  <a:cubicBezTo>
                    <a:pt x="50918" y="10479"/>
                    <a:pt x="50532" y="10608"/>
                    <a:pt x="50243" y="10704"/>
                  </a:cubicBezTo>
                  <a:cubicBezTo>
                    <a:pt x="50082" y="10736"/>
                    <a:pt x="49986" y="10769"/>
                    <a:pt x="49889" y="10769"/>
                  </a:cubicBezTo>
                  <a:lnTo>
                    <a:pt x="49793" y="10769"/>
                  </a:lnTo>
                  <a:lnTo>
                    <a:pt x="49761" y="10801"/>
                  </a:lnTo>
                  <a:lnTo>
                    <a:pt x="49150" y="10801"/>
                  </a:lnTo>
                  <a:cubicBezTo>
                    <a:pt x="44392" y="10801"/>
                    <a:pt x="37964" y="10029"/>
                    <a:pt x="32756" y="9258"/>
                  </a:cubicBezTo>
                  <a:cubicBezTo>
                    <a:pt x="30152" y="8872"/>
                    <a:pt x="27806" y="8486"/>
                    <a:pt x="26167" y="8197"/>
                  </a:cubicBezTo>
                  <a:cubicBezTo>
                    <a:pt x="25331" y="8068"/>
                    <a:pt x="24656" y="7940"/>
                    <a:pt x="24206" y="7876"/>
                  </a:cubicBezTo>
                  <a:cubicBezTo>
                    <a:pt x="23756" y="7779"/>
                    <a:pt x="23499" y="7747"/>
                    <a:pt x="23499" y="7747"/>
                  </a:cubicBezTo>
                  <a:cubicBezTo>
                    <a:pt x="23466" y="7731"/>
                    <a:pt x="23442" y="7723"/>
                    <a:pt x="23418" y="7723"/>
                  </a:cubicBezTo>
                  <a:cubicBezTo>
                    <a:pt x="23394" y="7723"/>
                    <a:pt x="23370" y="7731"/>
                    <a:pt x="23338" y="7747"/>
                  </a:cubicBezTo>
                  <a:cubicBezTo>
                    <a:pt x="23145" y="7811"/>
                    <a:pt x="21377" y="8486"/>
                    <a:pt x="18998" y="8486"/>
                  </a:cubicBezTo>
                  <a:cubicBezTo>
                    <a:pt x="18805" y="8486"/>
                    <a:pt x="18580" y="8454"/>
                    <a:pt x="18355" y="8454"/>
                  </a:cubicBezTo>
                  <a:cubicBezTo>
                    <a:pt x="16941" y="8390"/>
                    <a:pt x="15462" y="7843"/>
                    <a:pt x="14305" y="7329"/>
                  </a:cubicBezTo>
                  <a:cubicBezTo>
                    <a:pt x="13727" y="7072"/>
                    <a:pt x="13244" y="6815"/>
                    <a:pt x="12891" y="6622"/>
                  </a:cubicBezTo>
                  <a:cubicBezTo>
                    <a:pt x="12730" y="6525"/>
                    <a:pt x="12602" y="6461"/>
                    <a:pt x="12505" y="6397"/>
                  </a:cubicBezTo>
                  <a:cubicBezTo>
                    <a:pt x="12409" y="6333"/>
                    <a:pt x="12377" y="6300"/>
                    <a:pt x="12377" y="6300"/>
                  </a:cubicBezTo>
                  <a:cubicBezTo>
                    <a:pt x="12312" y="6268"/>
                    <a:pt x="12216" y="6268"/>
                    <a:pt x="12152" y="6268"/>
                  </a:cubicBezTo>
                  <a:lnTo>
                    <a:pt x="7780" y="7458"/>
                  </a:lnTo>
                  <a:lnTo>
                    <a:pt x="7683" y="7490"/>
                  </a:lnTo>
                  <a:cubicBezTo>
                    <a:pt x="7683" y="7490"/>
                    <a:pt x="7491" y="7650"/>
                    <a:pt x="7233" y="7876"/>
                  </a:cubicBezTo>
                  <a:cubicBezTo>
                    <a:pt x="6816" y="8229"/>
                    <a:pt x="6141" y="8743"/>
                    <a:pt x="5562" y="9193"/>
                  </a:cubicBezTo>
                  <a:cubicBezTo>
                    <a:pt x="5240" y="9386"/>
                    <a:pt x="4951" y="9579"/>
                    <a:pt x="4726" y="9708"/>
                  </a:cubicBezTo>
                  <a:cubicBezTo>
                    <a:pt x="4624" y="9784"/>
                    <a:pt x="4543" y="9820"/>
                    <a:pt x="4465" y="9848"/>
                  </a:cubicBezTo>
                  <a:lnTo>
                    <a:pt x="4465" y="9848"/>
                  </a:lnTo>
                  <a:cubicBezTo>
                    <a:pt x="4466" y="9844"/>
                    <a:pt x="4468" y="9840"/>
                    <a:pt x="4469" y="9836"/>
                  </a:cubicBezTo>
                  <a:cubicBezTo>
                    <a:pt x="4662" y="9515"/>
                    <a:pt x="5144" y="8936"/>
                    <a:pt x="5594" y="8422"/>
                  </a:cubicBezTo>
                  <a:cubicBezTo>
                    <a:pt x="5819" y="8197"/>
                    <a:pt x="6044" y="7940"/>
                    <a:pt x="6237" y="7747"/>
                  </a:cubicBezTo>
                  <a:cubicBezTo>
                    <a:pt x="6462" y="7554"/>
                    <a:pt x="6623" y="7393"/>
                    <a:pt x="6719" y="7329"/>
                  </a:cubicBezTo>
                  <a:cubicBezTo>
                    <a:pt x="6848" y="7233"/>
                    <a:pt x="7201" y="7008"/>
                    <a:pt x="7651" y="6718"/>
                  </a:cubicBezTo>
                  <a:cubicBezTo>
                    <a:pt x="8326" y="6300"/>
                    <a:pt x="9194" y="5786"/>
                    <a:pt x="9934" y="5336"/>
                  </a:cubicBezTo>
                  <a:cubicBezTo>
                    <a:pt x="10641" y="4918"/>
                    <a:pt x="11187" y="4597"/>
                    <a:pt x="11187" y="4597"/>
                  </a:cubicBezTo>
                  <a:cubicBezTo>
                    <a:pt x="11316" y="4532"/>
                    <a:pt x="11348" y="4404"/>
                    <a:pt x="11316" y="4275"/>
                  </a:cubicBezTo>
                  <a:cubicBezTo>
                    <a:pt x="11284" y="4179"/>
                    <a:pt x="11187" y="4082"/>
                    <a:pt x="11059" y="4082"/>
                  </a:cubicBezTo>
                  <a:lnTo>
                    <a:pt x="6848" y="4082"/>
                  </a:lnTo>
                  <a:cubicBezTo>
                    <a:pt x="6783" y="4082"/>
                    <a:pt x="6719" y="4115"/>
                    <a:pt x="6655" y="4147"/>
                  </a:cubicBezTo>
                  <a:cubicBezTo>
                    <a:pt x="6655" y="4147"/>
                    <a:pt x="6430" y="4372"/>
                    <a:pt x="6044" y="4725"/>
                  </a:cubicBezTo>
                  <a:cubicBezTo>
                    <a:pt x="4919" y="5754"/>
                    <a:pt x="2572" y="7908"/>
                    <a:pt x="1705" y="8679"/>
                  </a:cubicBezTo>
                  <a:cubicBezTo>
                    <a:pt x="1351" y="8968"/>
                    <a:pt x="1094" y="9065"/>
                    <a:pt x="965" y="9065"/>
                  </a:cubicBezTo>
                  <a:cubicBezTo>
                    <a:pt x="805" y="9065"/>
                    <a:pt x="708" y="9001"/>
                    <a:pt x="644" y="8904"/>
                  </a:cubicBezTo>
                  <a:lnTo>
                    <a:pt x="621" y="8881"/>
                  </a:lnTo>
                  <a:lnTo>
                    <a:pt x="621" y="8881"/>
                  </a:lnTo>
                  <a:cubicBezTo>
                    <a:pt x="766" y="8672"/>
                    <a:pt x="1055" y="8260"/>
                    <a:pt x="1447" y="7715"/>
                  </a:cubicBezTo>
                  <a:cubicBezTo>
                    <a:pt x="2283" y="6558"/>
                    <a:pt x="3601" y="4822"/>
                    <a:pt x="4726" y="3343"/>
                  </a:cubicBezTo>
                  <a:cubicBezTo>
                    <a:pt x="5273" y="2636"/>
                    <a:pt x="5819" y="1961"/>
                    <a:pt x="6205" y="1511"/>
                  </a:cubicBezTo>
                  <a:cubicBezTo>
                    <a:pt x="6430" y="1286"/>
                    <a:pt x="6591" y="1093"/>
                    <a:pt x="6719" y="964"/>
                  </a:cubicBezTo>
                  <a:cubicBezTo>
                    <a:pt x="6782" y="902"/>
                    <a:pt x="6845" y="869"/>
                    <a:pt x="6878" y="838"/>
                  </a:cubicBezTo>
                  <a:lnTo>
                    <a:pt x="6878" y="838"/>
                  </a:lnTo>
                  <a:cubicBezTo>
                    <a:pt x="6906" y="841"/>
                    <a:pt x="6951" y="849"/>
                    <a:pt x="7008" y="868"/>
                  </a:cubicBezTo>
                  <a:cubicBezTo>
                    <a:pt x="7683" y="932"/>
                    <a:pt x="9966" y="1382"/>
                    <a:pt x="12152" y="1864"/>
                  </a:cubicBezTo>
                  <a:cubicBezTo>
                    <a:pt x="13244" y="2089"/>
                    <a:pt x="14337" y="2315"/>
                    <a:pt x="15205" y="2540"/>
                  </a:cubicBezTo>
                  <a:cubicBezTo>
                    <a:pt x="15655" y="2636"/>
                    <a:pt x="16009" y="2732"/>
                    <a:pt x="16330" y="2797"/>
                  </a:cubicBezTo>
                  <a:cubicBezTo>
                    <a:pt x="16620" y="2893"/>
                    <a:pt x="16845" y="2957"/>
                    <a:pt x="16941" y="2990"/>
                  </a:cubicBezTo>
                  <a:cubicBezTo>
                    <a:pt x="17134" y="3086"/>
                    <a:pt x="17391" y="3150"/>
                    <a:pt x="17713" y="3182"/>
                  </a:cubicBezTo>
                  <a:cubicBezTo>
                    <a:pt x="18709" y="3343"/>
                    <a:pt x="20316" y="3407"/>
                    <a:pt x="22309" y="3407"/>
                  </a:cubicBezTo>
                  <a:cubicBezTo>
                    <a:pt x="23820" y="3407"/>
                    <a:pt x="25556" y="3375"/>
                    <a:pt x="27388" y="3311"/>
                  </a:cubicBezTo>
                  <a:cubicBezTo>
                    <a:pt x="29831" y="3247"/>
                    <a:pt x="33978" y="2540"/>
                    <a:pt x="37899" y="1864"/>
                  </a:cubicBezTo>
                  <a:cubicBezTo>
                    <a:pt x="39860" y="1543"/>
                    <a:pt x="41757" y="1189"/>
                    <a:pt x="43332" y="964"/>
                  </a:cubicBezTo>
                  <a:cubicBezTo>
                    <a:pt x="44939" y="707"/>
                    <a:pt x="46225" y="547"/>
                    <a:pt x="46964" y="547"/>
                  </a:cubicBezTo>
                  <a:close/>
                  <a:moveTo>
                    <a:pt x="46964" y="0"/>
                  </a:moveTo>
                  <a:cubicBezTo>
                    <a:pt x="46160" y="0"/>
                    <a:pt x="44875" y="161"/>
                    <a:pt x="43267" y="418"/>
                  </a:cubicBezTo>
                  <a:cubicBezTo>
                    <a:pt x="40857" y="804"/>
                    <a:pt x="37771" y="1350"/>
                    <a:pt x="34846" y="1832"/>
                  </a:cubicBezTo>
                  <a:cubicBezTo>
                    <a:pt x="31920" y="2315"/>
                    <a:pt x="29156" y="2732"/>
                    <a:pt x="27356" y="2765"/>
                  </a:cubicBezTo>
                  <a:cubicBezTo>
                    <a:pt x="25556" y="2829"/>
                    <a:pt x="23820" y="2861"/>
                    <a:pt x="22309" y="2861"/>
                  </a:cubicBezTo>
                  <a:cubicBezTo>
                    <a:pt x="20991" y="2861"/>
                    <a:pt x="19834" y="2829"/>
                    <a:pt x="18934" y="2765"/>
                  </a:cubicBezTo>
                  <a:cubicBezTo>
                    <a:pt x="18484" y="2732"/>
                    <a:pt x="18098" y="2700"/>
                    <a:pt x="17809" y="2668"/>
                  </a:cubicBezTo>
                  <a:cubicBezTo>
                    <a:pt x="17488" y="2604"/>
                    <a:pt x="17263" y="2572"/>
                    <a:pt x="17134" y="2507"/>
                  </a:cubicBezTo>
                  <a:cubicBezTo>
                    <a:pt x="16973" y="2443"/>
                    <a:pt x="16748" y="2379"/>
                    <a:pt x="16395" y="2282"/>
                  </a:cubicBezTo>
                  <a:cubicBezTo>
                    <a:pt x="15205" y="1961"/>
                    <a:pt x="12955" y="1479"/>
                    <a:pt x="10962" y="1061"/>
                  </a:cubicBezTo>
                  <a:cubicBezTo>
                    <a:pt x="9934" y="836"/>
                    <a:pt x="9001" y="643"/>
                    <a:pt x="8262" y="514"/>
                  </a:cubicBezTo>
                  <a:cubicBezTo>
                    <a:pt x="7876" y="450"/>
                    <a:pt x="7587" y="386"/>
                    <a:pt x="7330" y="354"/>
                  </a:cubicBezTo>
                  <a:cubicBezTo>
                    <a:pt x="7105" y="322"/>
                    <a:pt x="6944" y="289"/>
                    <a:pt x="6848" y="289"/>
                  </a:cubicBezTo>
                  <a:cubicBezTo>
                    <a:pt x="6751" y="289"/>
                    <a:pt x="6687" y="322"/>
                    <a:pt x="6623" y="354"/>
                  </a:cubicBezTo>
                  <a:cubicBezTo>
                    <a:pt x="6558" y="418"/>
                    <a:pt x="6462" y="482"/>
                    <a:pt x="6366" y="579"/>
                  </a:cubicBezTo>
                  <a:cubicBezTo>
                    <a:pt x="6012" y="900"/>
                    <a:pt x="5465" y="1575"/>
                    <a:pt x="4790" y="2379"/>
                  </a:cubicBezTo>
                  <a:cubicBezTo>
                    <a:pt x="2830" y="4854"/>
                    <a:pt x="65" y="8711"/>
                    <a:pt x="65" y="8711"/>
                  </a:cubicBezTo>
                  <a:cubicBezTo>
                    <a:pt x="1" y="8776"/>
                    <a:pt x="1" y="8872"/>
                    <a:pt x="33" y="8968"/>
                  </a:cubicBezTo>
                  <a:cubicBezTo>
                    <a:pt x="33" y="9001"/>
                    <a:pt x="97" y="9129"/>
                    <a:pt x="258" y="9290"/>
                  </a:cubicBezTo>
                  <a:cubicBezTo>
                    <a:pt x="387" y="9418"/>
                    <a:pt x="612" y="9579"/>
                    <a:pt x="965" y="9579"/>
                  </a:cubicBezTo>
                  <a:cubicBezTo>
                    <a:pt x="1287" y="9579"/>
                    <a:pt x="1640" y="9451"/>
                    <a:pt x="2058" y="9065"/>
                  </a:cubicBezTo>
                  <a:cubicBezTo>
                    <a:pt x="3152" y="8119"/>
                    <a:pt x="6420" y="5107"/>
                    <a:pt x="6939" y="4629"/>
                  </a:cubicBezTo>
                  <a:lnTo>
                    <a:pt x="10054" y="4629"/>
                  </a:lnTo>
                  <a:cubicBezTo>
                    <a:pt x="9710" y="4832"/>
                    <a:pt x="9297" y="5079"/>
                    <a:pt x="8873" y="5336"/>
                  </a:cubicBezTo>
                  <a:cubicBezTo>
                    <a:pt x="8358" y="5658"/>
                    <a:pt x="7812" y="6011"/>
                    <a:pt x="7362" y="6268"/>
                  </a:cubicBezTo>
                  <a:cubicBezTo>
                    <a:pt x="6912" y="6558"/>
                    <a:pt x="6558" y="6783"/>
                    <a:pt x="6398" y="6911"/>
                  </a:cubicBezTo>
                  <a:cubicBezTo>
                    <a:pt x="6237" y="7008"/>
                    <a:pt x="6012" y="7233"/>
                    <a:pt x="5755" y="7490"/>
                  </a:cubicBezTo>
                  <a:cubicBezTo>
                    <a:pt x="5369" y="7876"/>
                    <a:pt x="4919" y="8358"/>
                    <a:pt x="4533" y="8840"/>
                  </a:cubicBezTo>
                  <a:cubicBezTo>
                    <a:pt x="4373" y="9065"/>
                    <a:pt x="4212" y="9290"/>
                    <a:pt x="4083" y="9483"/>
                  </a:cubicBezTo>
                  <a:cubicBezTo>
                    <a:pt x="4019" y="9579"/>
                    <a:pt x="3955" y="9676"/>
                    <a:pt x="3923" y="9772"/>
                  </a:cubicBezTo>
                  <a:cubicBezTo>
                    <a:pt x="3890" y="9868"/>
                    <a:pt x="3858" y="9933"/>
                    <a:pt x="3858" y="10061"/>
                  </a:cubicBezTo>
                  <a:cubicBezTo>
                    <a:pt x="3858" y="10126"/>
                    <a:pt x="3858" y="10222"/>
                    <a:pt x="3923" y="10286"/>
                  </a:cubicBezTo>
                  <a:cubicBezTo>
                    <a:pt x="3987" y="10383"/>
                    <a:pt x="4083" y="10415"/>
                    <a:pt x="4148" y="10447"/>
                  </a:cubicBezTo>
                  <a:lnTo>
                    <a:pt x="4276" y="10447"/>
                  </a:lnTo>
                  <a:cubicBezTo>
                    <a:pt x="4437" y="10447"/>
                    <a:pt x="4565" y="10383"/>
                    <a:pt x="4726" y="10318"/>
                  </a:cubicBezTo>
                  <a:cubicBezTo>
                    <a:pt x="5305" y="10061"/>
                    <a:pt x="6108" y="9451"/>
                    <a:pt x="6783" y="8936"/>
                  </a:cubicBezTo>
                  <a:cubicBezTo>
                    <a:pt x="7321" y="8501"/>
                    <a:pt x="7797" y="8107"/>
                    <a:pt x="7969" y="7964"/>
                  </a:cubicBezTo>
                  <a:lnTo>
                    <a:pt x="7969" y="7964"/>
                  </a:lnTo>
                  <a:lnTo>
                    <a:pt x="12166" y="6814"/>
                  </a:lnTo>
                  <a:lnTo>
                    <a:pt x="12166" y="6814"/>
                  </a:lnTo>
                  <a:cubicBezTo>
                    <a:pt x="12395" y="6971"/>
                    <a:pt x="13109" y="7391"/>
                    <a:pt x="14080" y="7811"/>
                  </a:cubicBezTo>
                  <a:cubicBezTo>
                    <a:pt x="15270" y="8358"/>
                    <a:pt x="16812" y="8904"/>
                    <a:pt x="18323" y="9001"/>
                  </a:cubicBezTo>
                  <a:lnTo>
                    <a:pt x="18998" y="9001"/>
                  </a:lnTo>
                  <a:cubicBezTo>
                    <a:pt x="21312" y="9001"/>
                    <a:pt x="23057" y="8431"/>
                    <a:pt x="23448" y="8270"/>
                  </a:cubicBezTo>
                  <a:lnTo>
                    <a:pt x="23448" y="8270"/>
                  </a:lnTo>
                  <a:cubicBezTo>
                    <a:pt x="24396" y="8448"/>
                    <a:pt x="39837" y="11315"/>
                    <a:pt x="49150" y="11315"/>
                  </a:cubicBezTo>
                  <a:lnTo>
                    <a:pt x="49825" y="11315"/>
                  </a:lnTo>
                  <a:cubicBezTo>
                    <a:pt x="49857" y="11315"/>
                    <a:pt x="50693" y="11251"/>
                    <a:pt x="51593" y="10704"/>
                  </a:cubicBezTo>
                  <a:cubicBezTo>
                    <a:pt x="52461" y="10158"/>
                    <a:pt x="53425" y="9129"/>
                    <a:pt x="53554" y="7297"/>
                  </a:cubicBezTo>
                  <a:cubicBezTo>
                    <a:pt x="53586" y="7168"/>
                    <a:pt x="53586" y="7008"/>
                    <a:pt x="53586" y="6879"/>
                  </a:cubicBezTo>
                  <a:cubicBezTo>
                    <a:pt x="53586" y="5111"/>
                    <a:pt x="52621" y="3440"/>
                    <a:pt x="51368" y="2186"/>
                  </a:cubicBezTo>
                  <a:cubicBezTo>
                    <a:pt x="50114" y="932"/>
                    <a:pt x="48571" y="97"/>
                    <a:pt x="47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57"/>
            <p:cNvSpPr/>
            <p:nvPr/>
          </p:nvSpPr>
          <p:spPr>
            <a:xfrm>
              <a:off x="1274175" y="5363550"/>
              <a:ext cx="5102975" cy="12875"/>
            </a:xfrm>
            <a:custGeom>
              <a:avLst/>
              <a:gdLst/>
              <a:ahLst/>
              <a:cxnLst/>
              <a:rect l="l" t="t" r="r" b="b"/>
              <a:pathLst>
                <a:path w="204119" h="515" extrusionOk="0">
                  <a:moveTo>
                    <a:pt x="1" y="1"/>
                  </a:moveTo>
                  <a:lnTo>
                    <a:pt x="1" y="515"/>
                  </a:lnTo>
                  <a:lnTo>
                    <a:pt x="204118" y="515"/>
                  </a:lnTo>
                  <a:lnTo>
                    <a:pt x="204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57"/>
            <p:cNvSpPr/>
            <p:nvPr/>
          </p:nvSpPr>
          <p:spPr>
            <a:xfrm>
              <a:off x="2392800" y="5312125"/>
              <a:ext cx="1579925" cy="57875"/>
            </a:xfrm>
            <a:custGeom>
              <a:avLst/>
              <a:gdLst/>
              <a:ahLst/>
              <a:cxnLst/>
              <a:rect l="l" t="t" r="r" b="b"/>
              <a:pathLst>
                <a:path w="63197" h="2315" extrusionOk="0">
                  <a:moveTo>
                    <a:pt x="1" y="0"/>
                  </a:moveTo>
                  <a:lnTo>
                    <a:pt x="1" y="2315"/>
                  </a:lnTo>
                  <a:lnTo>
                    <a:pt x="63197" y="2315"/>
                  </a:lnTo>
                  <a:lnTo>
                    <a:pt x="631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57"/>
            <p:cNvSpPr/>
            <p:nvPr/>
          </p:nvSpPr>
          <p:spPr>
            <a:xfrm>
              <a:off x="2385575" y="5304900"/>
              <a:ext cx="1594400" cy="71525"/>
            </a:xfrm>
            <a:custGeom>
              <a:avLst/>
              <a:gdLst/>
              <a:ahLst/>
              <a:cxnLst/>
              <a:rect l="l" t="t" r="r" b="b"/>
              <a:pathLst>
                <a:path w="63776" h="2861" extrusionOk="0">
                  <a:moveTo>
                    <a:pt x="63229" y="547"/>
                  </a:moveTo>
                  <a:lnTo>
                    <a:pt x="63229" y="2347"/>
                  </a:lnTo>
                  <a:lnTo>
                    <a:pt x="547" y="2347"/>
                  </a:lnTo>
                  <a:lnTo>
                    <a:pt x="547" y="547"/>
                  </a:lnTo>
                  <a:close/>
                  <a:moveTo>
                    <a:pt x="290" y="0"/>
                  </a:moveTo>
                  <a:cubicBezTo>
                    <a:pt x="193" y="0"/>
                    <a:pt x="129" y="32"/>
                    <a:pt x="97" y="97"/>
                  </a:cubicBezTo>
                  <a:cubicBezTo>
                    <a:pt x="33" y="129"/>
                    <a:pt x="0" y="225"/>
                    <a:pt x="0" y="289"/>
                  </a:cubicBezTo>
                  <a:lnTo>
                    <a:pt x="0" y="2604"/>
                  </a:lnTo>
                  <a:cubicBezTo>
                    <a:pt x="0" y="2668"/>
                    <a:pt x="33" y="2732"/>
                    <a:pt x="97" y="2797"/>
                  </a:cubicBezTo>
                  <a:cubicBezTo>
                    <a:pt x="129" y="2829"/>
                    <a:pt x="193" y="2861"/>
                    <a:pt x="290" y="2861"/>
                  </a:cubicBezTo>
                  <a:lnTo>
                    <a:pt x="63486" y="2861"/>
                  </a:lnTo>
                  <a:cubicBezTo>
                    <a:pt x="63550" y="2861"/>
                    <a:pt x="63614" y="2829"/>
                    <a:pt x="63679" y="2797"/>
                  </a:cubicBezTo>
                  <a:cubicBezTo>
                    <a:pt x="63743" y="2732"/>
                    <a:pt x="63775" y="2668"/>
                    <a:pt x="63775" y="2604"/>
                  </a:cubicBezTo>
                  <a:lnTo>
                    <a:pt x="63775" y="289"/>
                  </a:lnTo>
                  <a:cubicBezTo>
                    <a:pt x="63775" y="225"/>
                    <a:pt x="63743" y="129"/>
                    <a:pt x="63679" y="97"/>
                  </a:cubicBezTo>
                  <a:cubicBezTo>
                    <a:pt x="63614" y="32"/>
                    <a:pt x="63550" y="0"/>
                    <a:pt x="634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57"/>
            <p:cNvSpPr/>
            <p:nvPr/>
          </p:nvSpPr>
          <p:spPr>
            <a:xfrm>
              <a:off x="3230175" y="5312125"/>
              <a:ext cx="742550" cy="57875"/>
            </a:xfrm>
            <a:custGeom>
              <a:avLst/>
              <a:gdLst/>
              <a:ahLst/>
              <a:cxnLst/>
              <a:rect l="l" t="t" r="r" b="b"/>
              <a:pathLst>
                <a:path w="29702" h="2315" extrusionOk="0">
                  <a:moveTo>
                    <a:pt x="0" y="0"/>
                  </a:moveTo>
                  <a:lnTo>
                    <a:pt x="0" y="2315"/>
                  </a:lnTo>
                  <a:lnTo>
                    <a:pt x="29702" y="2315"/>
                  </a:lnTo>
                  <a:lnTo>
                    <a:pt x="297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57"/>
            <p:cNvSpPr/>
            <p:nvPr/>
          </p:nvSpPr>
          <p:spPr>
            <a:xfrm>
              <a:off x="3223750" y="5304900"/>
              <a:ext cx="756225" cy="71525"/>
            </a:xfrm>
            <a:custGeom>
              <a:avLst/>
              <a:gdLst/>
              <a:ahLst/>
              <a:cxnLst/>
              <a:rect l="l" t="t" r="r" b="b"/>
              <a:pathLst>
                <a:path w="30249" h="2861" extrusionOk="0">
                  <a:moveTo>
                    <a:pt x="29702" y="547"/>
                  </a:moveTo>
                  <a:lnTo>
                    <a:pt x="29702" y="2347"/>
                  </a:lnTo>
                  <a:lnTo>
                    <a:pt x="547" y="2347"/>
                  </a:lnTo>
                  <a:lnTo>
                    <a:pt x="547" y="547"/>
                  </a:lnTo>
                  <a:close/>
                  <a:moveTo>
                    <a:pt x="257" y="0"/>
                  </a:moveTo>
                  <a:cubicBezTo>
                    <a:pt x="193" y="0"/>
                    <a:pt x="129" y="32"/>
                    <a:pt x="64" y="97"/>
                  </a:cubicBezTo>
                  <a:cubicBezTo>
                    <a:pt x="32" y="129"/>
                    <a:pt x="0" y="225"/>
                    <a:pt x="0" y="289"/>
                  </a:cubicBezTo>
                  <a:lnTo>
                    <a:pt x="0" y="2604"/>
                  </a:lnTo>
                  <a:cubicBezTo>
                    <a:pt x="0" y="2668"/>
                    <a:pt x="32" y="2732"/>
                    <a:pt x="64" y="2797"/>
                  </a:cubicBezTo>
                  <a:cubicBezTo>
                    <a:pt x="129" y="2829"/>
                    <a:pt x="193" y="2861"/>
                    <a:pt x="257" y="2861"/>
                  </a:cubicBezTo>
                  <a:lnTo>
                    <a:pt x="29959" y="2861"/>
                  </a:lnTo>
                  <a:cubicBezTo>
                    <a:pt x="30023" y="2861"/>
                    <a:pt x="30087" y="2829"/>
                    <a:pt x="30152" y="2797"/>
                  </a:cubicBezTo>
                  <a:cubicBezTo>
                    <a:pt x="30216" y="2732"/>
                    <a:pt x="30248" y="2668"/>
                    <a:pt x="30248" y="2604"/>
                  </a:cubicBezTo>
                  <a:lnTo>
                    <a:pt x="30248" y="289"/>
                  </a:lnTo>
                  <a:cubicBezTo>
                    <a:pt x="30248" y="225"/>
                    <a:pt x="30216" y="129"/>
                    <a:pt x="30152" y="97"/>
                  </a:cubicBezTo>
                  <a:cubicBezTo>
                    <a:pt x="30087" y="32"/>
                    <a:pt x="30023" y="0"/>
                    <a:pt x="299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57"/>
            <p:cNvSpPr/>
            <p:nvPr/>
          </p:nvSpPr>
          <p:spPr>
            <a:xfrm>
              <a:off x="2064125" y="4578425"/>
              <a:ext cx="1203025" cy="733725"/>
            </a:xfrm>
            <a:custGeom>
              <a:avLst/>
              <a:gdLst/>
              <a:ahLst/>
              <a:cxnLst/>
              <a:rect l="l" t="t" r="r" b="b"/>
              <a:pathLst>
                <a:path w="48121" h="29349" extrusionOk="0">
                  <a:moveTo>
                    <a:pt x="1" y="0"/>
                  </a:moveTo>
                  <a:lnTo>
                    <a:pt x="14594" y="29348"/>
                  </a:lnTo>
                  <a:lnTo>
                    <a:pt x="48121" y="29348"/>
                  </a:lnTo>
                  <a:lnTo>
                    <a:pt x="364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57"/>
            <p:cNvSpPr/>
            <p:nvPr/>
          </p:nvSpPr>
          <p:spPr>
            <a:xfrm>
              <a:off x="2056900" y="4572000"/>
              <a:ext cx="1217500" cy="746575"/>
            </a:xfrm>
            <a:custGeom>
              <a:avLst/>
              <a:gdLst/>
              <a:ahLst/>
              <a:cxnLst/>
              <a:rect l="l" t="t" r="r" b="b"/>
              <a:pathLst>
                <a:path w="48700" h="29863" extrusionOk="0">
                  <a:moveTo>
                    <a:pt x="36549" y="547"/>
                  </a:moveTo>
                  <a:lnTo>
                    <a:pt x="47999" y="29316"/>
                  </a:lnTo>
                  <a:lnTo>
                    <a:pt x="15076" y="29316"/>
                  </a:lnTo>
                  <a:lnTo>
                    <a:pt x="740" y="547"/>
                  </a:lnTo>
                  <a:close/>
                  <a:moveTo>
                    <a:pt x="290" y="0"/>
                  </a:moveTo>
                  <a:cubicBezTo>
                    <a:pt x="193" y="0"/>
                    <a:pt x="129" y="32"/>
                    <a:pt x="65" y="129"/>
                  </a:cubicBezTo>
                  <a:cubicBezTo>
                    <a:pt x="32" y="193"/>
                    <a:pt x="0" y="290"/>
                    <a:pt x="65" y="386"/>
                  </a:cubicBezTo>
                  <a:lnTo>
                    <a:pt x="14658" y="29702"/>
                  </a:lnTo>
                  <a:cubicBezTo>
                    <a:pt x="14690" y="29798"/>
                    <a:pt x="14787" y="29863"/>
                    <a:pt x="14883" y="29863"/>
                  </a:cubicBezTo>
                  <a:lnTo>
                    <a:pt x="48410" y="29863"/>
                  </a:lnTo>
                  <a:cubicBezTo>
                    <a:pt x="48506" y="29863"/>
                    <a:pt x="48571" y="29830"/>
                    <a:pt x="48635" y="29734"/>
                  </a:cubicBezTo>
                  <a:cubicBezTo>
                    <a:pt x="48667" y="29670"/>
                    <a:pt x="48699" y="29573"/>
                    <a:pt x="48667" y="29509"/>
                  </a:cubicBezTo>
                  <a:lnTo>
                    <a:pt x="36966" y="161"/>
                  </a:lnTo>
                  <a:cubicBezTo>
                    <a:pt x="36934" y="65"/>
                    <a:pt x="36838" y="0"/>
                    <a:pt x="36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57"/>
            <p:cNvSpPr/>
            <p:nvPr/>
          </p:nvSpPr>
          <p:spPr>
            <a:xfrm>
              <a:off x="2027175" y="4578425"/>
              <a:ext cx="1203025" cy="733725"/>
            </a:xfrm>
            <a:custGeom>
              <a:avLst/>
              <a:gdLst/>
              <a:ahLst/>
              <a:cxnLst/>
              <a:rect l="l" t="t" r="r" b="b"/>
              <a:pathLst>
                <a:path w="48121" h="29349" extrusionOk="0">
                  <a:moveTo>
                    <a:pt x="0" y="0"/>
                  </a:moveTo>
                  <a:lnTo>
                    <a:pt x="14626" y="29348"/>
                  </a:lnTo>
                  <a:lnTo>
                    <a:pt x="48120" y="29348"/>
                  </a:lnTo>
                  <a:lnTo>
                    <a:pt x="364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57"/>
            <p:cNvSpPr/>
            <p:nvPr/>
          </p:nvSpPr>
          <p:spPr>
            <a:xfrm>
              <a:off x="2020725" y="4572000"/>
              <a:ext cx="1216700" cy="746575"/>
            </a:xfrm>
            <a:custGeom>
              <a:avLst/>
              <a:gdLst/>
              <a:ahLst/>
              <a:cxnLst/>
              <a:rect l="l" t="t" r="r" b="b"/>
              <a:pathLst>
                <a:path w="48668" h="29863" extrusionOk="0">
                  <a:moveTo>
                    <a:pt x="36517" y="547"/>
                  </a:moveTo>
                  <a:lnTo>
                    <a:pt x="47968" y="29316"/>
                  </a:lnTo>
                  <a:lnTo>
                    <a:pt x="15044" y="29316"/>
                  </a:lnTo>
                  <a:lnTo>
                    <a:pt x="708" y="547"/>
                  </a:lnTo>
                  <a:close/>
                  <a:moveTo>
                    <a:pt x="258" y="0"/>
                  </a:moveTo>
                  <a:cubicBezTo>
                    <a:pt x="162" y="0"/>
                    <a:pt x="97" y="32"/>
                    <a:pt x="33" y="129"/>
                  </a:cubicBezTo>
                  <a:cubicBezTo>
                    <a:pt x="1" y="193"/>
                    <a:pt x="1" y="290"/>
                    <a:pt x="33" y="386"/>
                  </a:cubicBezTo>
                  <a:lnTo>
                    <a:pt x="14627" y="29702"/>
                  </a:lnTo>
                  <a:cubicBezTo>
                    <a:pt x="14659" y="29798"/>
                    <a:pt x="14755" y="29863"/>
                    <a:pt x="14884" y="29863"/>
                  </a:cubicBezTo>
                  <a:lnTo>
                    <a:pt x="48378" y="29863"/>
                  </a:lnTo>
                  <a:cubicBezTo>
                    <a:pt x="48475" y="29863"/>
                    <a:pt x="48571" y="29830"/>
                    <a:pt x="48603" y="29734"/>
                  </a:cubicBezTo>
                  <a:cubicBezTo>
                    <a:pt x="48668" y="29670"/>
                    <a:pt x="48668" y="29573"/>
                    <a:pt x="48635" y="29509"/>
                  </a:cubicBezTo>
                  <a:lnTo>
                    <a:pt x="36935" y="161"/>
                  </a:lnTo>
                  <a:cubicBezTo>
                    <a:pt x="36903" y="65"/>
                    <a:pt x="36806" y="0"/>
                    <a:pt x="367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2620;p47">
            <a:extLst>
              <a:ext uri="{FF2B5EF4-FFF2-40B4-BE49-F238E27FC236}">
                <a16:creationId xmlns:a16="http://schemas.microsoft.com/office/drawing/2014/main" id="{0D83B64F-85DF-4EC8-B927-DCD6AE9F3172}"/>
              </a:ext>
            </a:extLst>
          </p:cNvPr>
          <p:cNvGrpSpPr/>
          <p:nvPr/>
        </p:nvGrpSpPr>
        <p:grpSpPr>
          <a:xfrm>
            <a:off x="1861379" y="214212"/>
            <a:ext cx="6003525" cy="1145236"/>
            <a:chOff x="2771600" y="526920"/>
            <a:chExt cx="3480300" cy="1145236"/>
          </a:xfrm>
        </p:grpSpPr>
        <p:sp>
          <p:nvSpPr>
            <p:cNvPr id="245" name="Google Shape;2621;p47">
              <a:extLst>
                <a:ext uri="{FF2B5EF4-FFF2-40B4-BE49-F238E27FC236}">
                  <a16:creationId xmlns:a16="http://schemas.microsoft.com/office/drawing/2014/main" id="{9322F4E7-AB44-409B-BDA6-202B279FE8C6}"/>
                </a:ext>
              </a:extLst>
            </p:cNvPr>
            <p:cNvSpPr/>
            <p:nvPr/>
          </p:nvSpPr>
          <p:spPr>
            <a:xfrm>
              <a:off x="2771600" y="526920"/>
              <a:ext cx="3480300" cy="1145236"/>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622;p47">
              <a:extLst>
                <a:ext uri="{FF2B5EF4-FFF2-40B4-BE49-F238E27FC236}">
                  <a16:creationId xmlns:a16="http://schemas.microsoft.com/office/drawing/2014/main" id="{721BB022-DB29-4A8B-9530-55AA4AC1F987}"/>
                </a:ext>
              </a:extLst>
            </p:cNvPr>
            <p:cNvSpPr/>
            <p:nvPr/>
          </p:nvSpPr>
          <p:spPr>
            <a:xfrm>
              <a:off x="2849650" y="606775"/>
              <a:ext cx="3324000" cy="985500"/>
            </a:xfrm>
            <a:prstGeom prst="roundRect">
              <a:avLst>
                <a:gd name="adj" fmla="val 16667"/>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ítulo 2">
            <a:extLst>
              <a:ext uri="{FF2B5EF4-FFF2-40B4-BE49-F238E27FC236}">
                <a16:creationId xmlns:a16="http://schemas.microsoft.com/office/drawing/2014/main" id="{2A83C91B-73D5-4C11-8BF7-DAFB313ACFDD}"/>
              </a:ext>
            </a:extLst>
          </p:cNvPr>
          <p:cNvSpPr txBox="1">
            <a:spLocks/>
          </p:cNvSpPr>
          <p:nvPr/>
        </p:nvSpPr>
        <p:spPr>
          <a:xfrm>
            <a:off x="2081467" y="305116"/>
            <a:ext cx="5532673" cy="36212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9pPr>
          </a:lstStyle>
          <a:p>
            <a:r>
              <a:rPr lang="es-ES">
                <a:solidFill>
                  <a:schemeClr val="accent1"/>
                </a:solidFill>
              </a:rPr>
              <a:t>Teoría de las remesas tributarias (acota)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93"/>
        <p:cNvGrpSpPr/>
        <p:nvPr/>
      </p:nvGrpSpPr>
      <p:grpSpPr>
        <a:xfrm>
          <a:off x="0" y="0"/>
          <a:ext cx="0" cy="0"/>
          <a:chOff x="0" y="0"/>
          <a:chExt cx="0" cy="0"/>
        </a:xfrm>
      </p:grpSpPr>
      <p:sp>
        <p:nvSpPr>
          <p:cNvPr id="2695" name="Google Shape;2695;p49"/>
          <p:cNvSpPr txBox="1"/>
          <p:nvPr/>
        </p:nvSpPr>
        <p:spPr>
          <a:xfrm>
            <a:off x="757441" y="1393291"/>
            <a:ext cx="2704635" cy="819011"/>
          </a:xfrm>
          <a:prstGeom prst="rect">
            <a:avLst/>
          </a:prstGeom>
          <a:noFill/>
          <a:ln>
            <a:noFill/>
          </a:ln>
        </p:spPr>
        <p:txBody>
          <a:bodyPr spcFirstLastPara="1" wrap="square" lIns="91425" tIns="91425" rIns="91425" bIns="91425" anchor="t" anchorCtr="0">
            <a:noAutofit/>
          </a:bodyPr>
          <a:lstStyle/>
          <a:p>
            <a:pPr algn="just"/>
            <a:r>
              <a:rPr lang="es-419" sz="1600" dirty="0">
                <a:solidFill>
                  <a:schemeClr val="tx1"/>
                </a:solidFill>
                <a:latin typeface="Barlow Semi Condensed"/>
                <a:ea typeface="Barlow Semi Condensed"/>
                <a:cs typeface="Barlow Semi Condensed"/>
              </a:rPr>
              <a:t>Eliminar: uso de concepto "Incidencia tributaria" (es decir, empresas recolectan impuestos y los individuos pagan impuesto)</a:t>
            </a:r>
            <a:endParaRPr lang="es-ES" dirty="0">
              <a:solidFill>
                <a:schemeClr val="tx1"/>
              </a:solidFill>
            </a:endParaRPr>
          </a:p>
        </p:txBody>
      </p:sp>
      <p:sp>
        <p:nvSpPr>
          <p:cNvPr id="2696" name="Google Shape;2696;p49"/>
          <p:cNvSpPr txBox="1"/>
          <p:nvPr/>
        </p:nvSpPr>
        <p:spPr>
          <a:xfrm>
            <a:off x="4173420" y="1393291"/>
            <a:ext cx="3221764" cy="681758"/>
          </a:xfrm>
          <a:prstGeom prst="rect">
            <a:avLst/>
          </a:prstGeom>
          <a:noFill/>
          <a:ln>
            <a:noFill/>
          </a:ln>
        </p:spPr>
        <p:txBody>
          <a:bodyPr spcFirstLastPara="1" wrap="square" lIns="91425" tIns="91425" rIns="91425" bIns="91425" anchor="t" anchorCtr="0">
            <a:noAutofit/>
          </a:bodyPr>
          <a:lstStyle/>
          <a:p>
            <a:pPr algn="just"/>
            <a:r>
              <a:rPr lang="es-419" sz="1600" dirty="0">
                <a:solidFill>
                  <a:schemeClr val="tx1"/>
                </a:solidFill>
                <a:latin typeface="Barlow Semi Condensed"/>
                <a:ea typeface="Barlow Semi Condensed"/>
                <a:cs typeface="Barlow Semi Condensed"/>
                <a:sym typeface="Barlow Semi Condensed"/>
              </a:rPr>
              <a:t>El que recolecta los impuestos es la autoridad encargada de esa misión en la sociedad</a:t>
            </a:r>
            <a:endParaRPr lang="es-419" sz="1600" dirty="0">
              <a:solidFill>
                <a:schemeClr val="tx1"/>
              </a:solidFill>
              <a:latin typeface="Barlow Semi Condensed"/>
              <a:ea typeface="Barlow Semi Condensed"/>
              <a:cs typeface="Barlow Semi Condensed"/>
            </a:endParaRPr>
          </a:p>
        </p:txBody>
      </p:sp>
      <p:sp>
        <p:nvSpPr>
          <p:cNvPr id="2697" name="Google Shape;2697;p49"/>
          <p:cNvSpPr txBox="1"/>
          <p:nvPr/>
        </p:nvSpPr>
        <p:spPr>
          <a:xfrm>
            <a:off x="1745808" y="3620112"/>
            <a:ext cx="3464145" cy="1023477"/>
          </a:xfrm>
          <a:prstGeom prst="rect">
            <a:avLst/>
          </a:prstGeom>
          <a:noFill/>
          <a:ln>
            <a:noFill/>
          </a:ln>
        </p:spPr>
        <p:txBody>
          <a:bodyPr spcFirstLastPara="1" wrap="square" lIns="91425" tIns="91425" rIns="91425" bIns="91425" anchor="t" anchorCtr="0">
            <a:noAutofit/>
          </a:bodyPr>
          <a:lstStyle/>
          <a:p>
            <a:pPr algn="just"/>
            <a:r>
              <a:rPr lang="es-419" sz="1600" dirty="0">
                <a:solidFill>
                  <a:schemeClr val="tx1"/>
                </a:solidFill>
                <a:latin typeface="Barlow Semi Condensed"/>
                <a:ea typeface="Barlow Semi Condensed"/>
                <a:cs typeface="Barlow Semi Condensed"/>
                <a:sym typeface="Barlow Semi Condensed"/>
              </a:rPr>
              <a:t>Propone: hablar del retenedor de impuesto (sería la persona que remesaría los impuestos al fisco</a:t>
            </a:r>
            <a:r>
              <a:rPr lang="en" sz="1600" dirty="0">
                <a:solidFill>
                  <a:schemeClr val="tx1"/>
                </a:solidFill>
                <a:latin typeface="Barlow Semi Condensed"/>
                <a:ea typeface="Barlow Semi Condensed"/>
                <a:cs typeface="Barlow Semi Condensed"/>
                <a:sym typeface="Barlow Semi Condensed"/>
              </a:rPr>
              <a:t>)</a:t>
            </a:r>
            <a:endParaRPr lang="en" sz="1600" dirty="0">
              <a:solidFill>
                <a:schemeClr val="tx1"/>
              </a:solidFill>
              <a:latin typeface="Barlow Semi Condensed"/>
              <a:ea typeface="Barlow Semi Condensed"/>
              <a:cs typeface="Barlow Semi Condensed"/>
            </a:endParaRPr>
          </a:p>
        </p:txBody>
      </p:sp>
      <p:sp>
        <p:nvSpPr>
          <p:cNvPr id="2698" name="Google Shape;2698;p49"/>
          <p:cNvSpPr txBox="1"/>
          <p:nvPr/>
        </p:nvSpPr>
        <p:spPr>
          <a:xfrm>
            <a:off x="5832886" y="3533848"/>
            <a:ext cx="3055933" cy="1023477"/>
          </a:xfrm>
          <a:prstGeom prst="rect">
            <a:avLst/>
          </a:prstGeom>
          <a:noFill/>
          <a:ln>
            <a:noFill/>
          </a:ln>
        </p:spPr>
        <p:txBody>
          <a:bodyPr spcFirstLastPara="1" wrap="square" lIns="91425" tIns="91425" rIns="91425" bIns="91425" anchor="t" anchorCtr="0">
            <a:noAutofit/>
          </a:bodyPr>
          <a:lstStyle/>
          <a:p>
            <a:pPr algn="just"/>
            <a:r>
              <a:rPr lang="es-419" sz="1600" dirty="0">
                <a:solidFill>
                  <a:schemeClr val="tx1"/>
                </a:solidFill>
                <a:latin typeface="Barlow Semi Condensed"/>
                <a:ea typeface="Barlow Semi Condensed"/>
                <a:cs typeface="Barlow Semi Condensed"/>
                <a:sym typeface="Barlow Semi Condensed"/>
              </a:rPr>
              <a:t>Decir que los individuos pagan impuesto se confunde con la incidencia económica de un impuesto</a:t>
            </a:r>
            <a:endParaRPr lang="es-419" sz="1600" dirty="0">
              <a:solidFill>
                <a:schemeClr val="tx1"/>
              </a:solidFill>
              <a:latin typeface="Barlow Semi Condensed"/>
              <a:ea typeface="Barlow Semi Condensed"/>
              <a:cs typeface="Barlow Semi Condensed"/>
            </a:endParaRPr>
          </a:p>
        </p:txBody>
      </p:sp>
      <p:grpSp>
        <p:nvGrpSpPr>
          <p:cNvPr id="2699" name="Google Shape;2699;p49"/>
          <p:cNvGrpSpPr/>
          <p:nvPr/>
        </p:nvGrpSpPr>
        <p:grpSpPr>
          <a:xfrm>
            <a:off x="1620199" y="-318796"/>
            <a:ext cx="5900365" cy="3644245"/>
            <a:chOff x="1621724" y="-3718769"/>
            <a:chExt cx="5900365" cy="7343094"/>
          </a:xfrm>
        </p:grpSpPr>
        <p:grpSp>
          <p:nvGrpSpPr>
            <p:cNvPr id="2700" name="Google Shape;2700;p49"/>
            <p:cNvGrpSpPr/>
            <p:nvPr/>
          </p:nvGrpSpPr>
          <p:grpSpPr>
            <a:xfrm>
              <a:off x="2604811" y="-3718769"/>
              <a:ext cx="4021725" cy="150"/>
              <a:chOff x="3762462" y="2553002"/>
              <a:chExt cx="1121570" cy="150"/>
            </a:xfrm>
          </p:grpSpPr>
          <p:cxnSp>
            <p:nvCxnSpPr>
              <p:cNvPr id="2701" name="Google Shape;2701;p49"/>
              <p:cNvCxnSpPr/>
              <p:nvPr/>
            </p:nvCxnSpPr>
            <p:spPr>
              <a:xfrm>
                <a:off x="4195395" y="2553002"/>
                <a:ext cx="231600" cy="0"/>
              </a:xfrm>
              <a:prstGeom prst="straightConnector1">
                <a:avLst/>
              </a:prstGeom>
              <a:noFill/>
              <a:ln w="9525" cap="flat" cmpd="sng">
                <a:solidFill>
                  <a:srgbClr val="595959"/>
                </a:solidFill>
                <a:prstDash val="solid"/>
                <a:round/>
                <a:headEnd type="none" w="med" len="med"/>
                <a:tailEnd type="none" w="med" len="med"/>
              </a:ln>
            </p:spPr>
          </p:cxnSp>
          <p:cxnSp>
            <p:nvCxnSpPr>
              <p:cNvPr id="2702" name="Google Shape;2702;p49"/>
              <p:cNvCxnSpPr/>
              <p:nvPr/>
            </p:nvCxnSpPr>
            <p:spPr>
              <a:xfrm>
                <a:off x="4652432" y="2553002"/>
                <a:ext cx="231600" cy="0"/>
              </a:xfrm>
              <a:prstGeom prst="straightConnector1">
                <a:avLst/>
              </a:prstGeom>
              <a:noFill/>
              <a:ln w="9525" cap="flat" cmpd="sng">
                <a:solidFill>
                  <a:srgbClr val="595959"/>
                </a:solidFill>
                <a:prstDash val="solid"/>
                <a:round/>
                <a:headEnd type="none" w="med" len="med"/>
                <a:tailEnd type="none" w="med" len="med"/>
              </a:ln>
            </p:spPr>
          </p:cxnSp>
          <p:cxnSp>
            <p:nvCxnSpPr>
              <p:cNvPr id="2703" name="Google Shape;2703;p49"/>
              <p:cNvCxnSpPr>
                <a:stCxn id="2704" idx="6"/>
                <a:endCxn id="2705" idx="2"/>
              </p:cNvCxnSpPr>
              <p:nvPr/>
            </p:nvCxnSpPr>
            <p:spPr>
              <a:xfrm>
                <a:off x="3762462" y="2553152"/>
                <a:ext cx="183000" cy="0"/>
              </a:xfrm>
              <a:prstGeom prst="straightConnector1">
                <a:avLst/>
              </a:prstGeom>
              <a:noFill/>
              <a:ln w="9525" cap="flat" cmpd="sng">
                <a:solidFill>
                  <a:srgbClr val="595959"/>
                </a:solidFill>
                <a:prstDash val="solid"/>
                <a:round/>
                <a:headEnd type="none" w="med" len="med"/>
                <a:tailEnd type="none" w="med" len="med"/>
              </a:ln>
            </p:spPr>
          </p:cxnSp>
        </p:grpSp>
        <p:cxnSp>
          <p:nvCxnSpPr>
            <p:cNvPr id="2706" name="Google Shape;2706;p49"/>
            <p:cNvCxnSpPr/>
            <p:nvPr/>
          </p:nvCxnSpPr>
          <p:spPr>
            <a:xfrm>
              <a:off x="3752008" y="3186309"/>
              <a:ext cx="0" cy="358221"/>
            </a:xfrm>
            <a:prstGeom prst="straightConnector1">
              <a:avLst/>
            </a:prstGeom>
            <a:noFill/>
            <a:ln w="9525" cap="flat" cmpd="sng">
              <a:solidFill>
                <a:schemeClr val="dk2"/>
              </a:solidFill>
              <a:prstDash val="solid"/>
              <a:round/>
              <a:headEnd type="none" w="med" len="med"/>
              <a:tailEnd type="none" w="med" len="med"/>
            </a:ln>
          </p:spPr>
        </p:cxnSp>
        <p:grpSp>
          <p:nvGrpSpPr>
            <p:cNvPr id="2707" name="Google Shape;2707;p49"/>
            <p:cNvGrpSpPr/>
            <p:nvPr/>
          </p:nvGrpSpPr>
          <p:grpSpPr>
            <a:xfrm>
              <a:off x="3261117" y="2393765"/>
              <a:ext cx="983055" cy="983055"/>
              <a:chOff x="3347725" y="2480342"/>
              <a:chExt cx="810032" cy="810032"/>
            </a:xfrm>
          </p:grpSpPr>
          <p:sp>
            <p:nvSpPr>
              <p:cNvPr id="2705" name="Google Shape;2705;p49"/>
              <p:cNvSpPr/>
              <p:nvPr/>
            </p:nvSpPr>
            <p:spPr>
              <a:xfrm>
                <a:off x="3347725" y="2480342"/>
                <a:ext cx="810032" cy="810032"/>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9"/>
              <p:cNvSpPr/>
              <p:nvPr/>
            </p:nvSpPr>
            <p:spPr>
              <a:xfrm>
                <a:off x="3451091" y="2583719"/>
                <a:ext cx="603490" cy="60349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709" name="Google Shape;2709;p49"/>
            <p:cNvCxnSpPr>
              <a:stCxn id="2710" idx="0"/>
            </p:cNvCxnSpPr>
            <p:nvPr/>
          </p:nvCxnSpPr>
          <p:spPr>
            <a:xfrm rot="10800000">
              <a:off x="5391613" y="2122099"/>
              <a:ext cx="0" cy="396900"/>
            </a:xfrm>
            <a:prstGeom prst="straightConnector1">
              <a:avLst/>
            </a:prstGeom>
            <a:noFill/>
            <a:ln w="9525" cap="flat" cmpd="sng">
              <a:solidFill>
                <a:schemeClr val="dk2"/>
              </a:solidFill>
              <a:prstDash val="solid"/>
              <a:round/>
              <a:headEnd type="none" w="med" len="med"/>
              <a:tailEnd type="none" w="med" len="med"/>
            </a:ln>
          </p:spPr>
        </p:cxnSp>
        <p:grpSp>
          <p:nvGrpSpPr>
            <p:cNvPr id="2711" name="Google Shape;2711;p49"/>
            <p:cNvGrpSpPr/>
            <p:nvPr/>
          </p:nvGrpSpPr>
          <p:grpSpPr>
            <a:xfrm>
              <a:off x="4899976" y="2393376"/>
              <a:ext cx="983044" cy="983044"/>
              <a:chOff x="4987056" y="2480342"/>
              <a:chExt cx="808956" cy="808956"/>
            </a:xfrm>
          </p:grpSpPr>
          <p:sp>
            <p:nvSpPr>
              <p:cNvPr id="2712" name="Google Shape;2712;p49"/>
              <p:cNvSpPr/>
              <p:nvPr/>
            </p:nvSpPr>
            <p:spPr>
              <a:xfrm>
                <a:off x="4987056" y="2480342"/>
                <a:ext cx="808956" cy="808956"/>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9"/>
              <p:cNvSpPr/>
              <p:nvPr/>
            </p:nvSpPr>
            <p:spPr>
              <a:xfrm>
                <a:off x="5090423" y="2583719"/>
                <a:ext cx="602414" cy="602414"/>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713" name="Google Shape;2713;p49"/>
            <p:cNvCxnSpPr/>
            <p:nvPr/>
          </p:nvCxnSpPr>
          <p:spPr>
            <a:xfrm>
              <a:off x="7031106" y="3186309"/>
              <a:ext cx="0" cy="357146"/>
            </a:xfrm>
            <a:prstGeom prst="straightConnector1">
              <a:avLst/>
            </a:prstGeom>
            <a:noFill/>
            <a:ln w="9525" cap="flat" cmpd="sng">
              <a:solidFill>
                <a:schemeClr val="dk2"/>
              </a:solidFill>
              <a:prstDash val="solid"/>
              <a:round/>
              <a:headEnd type="none" w="med" len="med"/>
              <a:tailEnd type="none" w="med" len="med"/>
            </a:ln>
          </p:spPr>
        </p:cxnSp>
        <p:grpSp>
          <p:nvGrpSpPr>
            <p:cNvPr id="2714" name="Google Shape;2714;p49"/>
            <p:cNvGrpSpPr/>
            <p:nvPr/>
          </p:nvGrpSpPr>
          <p:grpSpPr>
            <a:xfrm>
              <a:off x="6539045" y="2393178"/>
              <a:ext cx="983044" cy="983044"/>
              <a:chOff x="6626363" y="2480342"/>
              <a:chExt cx="808956" cy="808956"/>
            </a:xfrm>
          </p:grpSpPr>
          <p:sp>
            <p:nvSpPr>
              <p:cNvPr id="2715" name="Google Shape;2715;p49"/>
              <p:cNvSpPr/>
              <p:nvPr/>
            </p:nvSpPr>
            <p:spPr>
              <a:xfrm>
                <a:off x="6626363" y="2480342"/>
                <a:ext cx="808956" cy="808956"/>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9"/>
              <p:cNvSpPr/>
              <p:nvPr/>
            </p:nvSpPr>
            <p:spPr>
              <a:xfrm>
                <a:off x="6729729" y="2583719"/>
                <a:ext cx="602414" cy="602414"/>
              </a:xfrm>
              <a:prstGeom prst="ellipse">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717" name="Google Shape;2717;p49"/>
            <p:cNvCxnSpPr>
              <a:stCxn id="2718" idx="0"/>
            </p:cNvCxnSpPr>
            <p:nvPr/>
          </p:nvCxnSpPr>
          <p:spPr>
            <a:xfrm rot="10800000">
              <a:off x="2113432" y="2122227"/>
              <a:ext cx="0" cy="397200"/>
            </a:xfrm>
            <a:prstGeom prst="straightConnector1">
              <a:avLst/>
            </a:prstGeom>
            <a:noFill/>
            <a:ln w="9525" cap="flat" cmpd="sng">
              <a:solidFill>
                <a:schemeClr val="dk2"/>
              </a:solidFill>
              <a:prstDash val="solid"/>
              <a:round/>
              <a:headEnd type="none" w="med" len="med"/>
              <a:tailEnd type="none" w="med" len="med"/>
            </a:ln>
          </p:spPr>
        </p:cxnSp>
        <p:grpSp>
          <p:nvGrpSpPr>
            <p:cNvPr id="2719" name="Google Shape;2719;p49"/>
            <p:cNvGrpSpPr/>
            <p:nvPr/>
          </p:nvGrpSpPr>
          <p:grpSpPr>
            <a:xfrm>
              <a:off x="1621724" y="2393805"/>
              <a:ext cx="983087" cy="983459"/>
              <a:chOff x="1708681" y="2480698"/>
              <a:chExt cx="809125" cy="809432"/>
            </a:xfrm>
          </p:grpSpPr>
          <p:sp>
            <p:nvSpPr>
              <p:cNvPr id="2704" name="Google Shape;2704;p49"/>
              <p:cNvSpPr/>
              <p:nvPr/>
            </p:nvSpPr>
            <p:spPr>
              <a:xfrm>
                <a:off x="1708681" y="2480698"/>
                <a:ext cx="809125" cy="809432"/>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9"/>
              <p:cNvSpPr/>
              <p:nvPr/>
            </p:nvSpPr>
            <p:spPr>
              <a:xfrm>
                <a:off x="1812063" y="2584091"/>
                <a:ext cx="602631" cy="602631"/>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0" name="Google Shape;2720;p49"/>
            <p:cNvSpPr/>
            <p:nvPr/>
          </p:nvSpPr>
          <p:spPr>
            <a:xfrm>
              <a:off x="2073125" y="2106975"/>
              <a:ext cx="79800" cy="798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49"/>
            <p:cNvSpPr/>
            <p:nvPr/>
          </p:nvSpPr>
          <p:spPr>
            <a:xfrm>
              <a:off x="5351645" y="2106974"/>
              <a:ext cx="79800" cy="798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9"/>
            <p:cNvSpPr/>
            <p:nvPr/>
          </p:nvSpPr>
          <p:spPr>
            <a:xfrm>
              <a:off x="3711575" y="3544525"/>
              <a:ext cx="79800" cy="798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9"/>
            <p:cNvSpPr/>
            <p:nvPr/>
          </p:nvSpPr>
          <p:spPr>
            <a:xfrm>
              <a:off x="6990966" y="3544525"/>
              <a:ext cx="79800" cy="798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4" name="Google Shape;2724;p49"/>
          <p:cNvSpPr txBox="1"/>
          <p:nvPr/>
        </p:nvSpPr>
        <p:spPr>
          <a:xfrm>
            <a:off x="1752164" y="2810174"/>
            <a:ext cx="704400" cy="283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800">
                <a:solidFill>
                  <a:schemeClr val="lt1"/>
                </a:solidFill>
                <a:latin typeface="Barlow Semi Condensed Medium"/>
                <a:ea typeface="Barlow Semi Condensed Medium"/>
                <a:cs typeface="Barlow Semi Condensed Medium"/>
                <a:sym typeface="Barlow Semi Condensed Medium"/>
              </a:rPr>
              <a:t>1</a:t>
            </a:r>
            <a:endParaRPr sz="1800">
              <a:solidFill>
                <a:schemeClr val="lt1"/>
              </a:solidFill>
              <a:latin typeface="Barlow Semi Condensed Medium"/>
              <a:ea typeface="Barlow Semi Condensed Medium"/>
              <a:cs typeface="Barlow Semi Condensed Medium"/>
              <a:sym typeface="Barlow Semi Condensed Medium"/>
            </a:endParaRPr>
          </a:p>
        </p:txBody>
      </p:sp>
      <p:sp>
        <p:nvSpPr>
          <p:cNvPr id="2725" name="Google Shape;2725;p49"/>
          <p:cNvSpPr txBox="1"/>
          <p:nvPr/>
        </p:nvSpPr>
        <p:spPr>
          <a:xfrm>
            <a:off x="3400847" y="2744235"/>
            <a:ext cx="704400" cy="283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800">
                <a:solidFill>
                  <a:schemeClr val="accent1"/>
                </a:solidFill>
                <a:latin typeface="Barlow Semi Condensed Medium"/>
                <a:ea typeface="Barlow Semi Condensed Medium"/>
                <a:cs typeface="Barlow Semi Condensed Medium"/>
                <a:sym typeface="Barlow Semi Condensed Medium"/>
              </a:rPr>
              <a:t>2</a:t>
            </a:r>
            <a:endParaRPr sz="1800">
              <a:solidFill>
                <a:schemeClr val="accent1"/>
              </a:solidFill>
              <a:latin typeface="Barlow Semi Condensed Medium"/>
              <a:ea typeface="Barlow Semi Condensed Medium"/>
              <a:cs typeface="Barlow Semi Condensed Medium"/>
              <a:sym typeface="Barlow Semi Condensed Medium"/>
            </a:endParaRPr>
          </a:p>
        </p:txBody>
      </p:sp>
      <p:sp>
        <p:nvSpPr>
          <p:cNvPr id="2726" name="Google Shape;2726;p49"/>
          <p:cNvSpPr txBox="1"/>
          <p:nvPr/>
        </p:nvSpPr>
        <p:spPr>
          <a:xfrm>
            <a:off x="5038747" y="2744235"/>
            <a:ext cx="704400" cy="283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800">
                <a:solidFill>
                  <a:schemeClr val="lt1"/>
                </a:solidFill>
                <a:latin typeface="Barlow Semi Condensed Medium"/>
                <a:ea typeface="Barlow Semi Condensed Medium"/>
                <a:cs typeface="Barlow Semi Condensed Medium"/>
                <a:sym typeface="Barlow Semi Condensed Medium"/>
              </a:rPr>
              <a:t>3</a:t>
            </a:r>
            <a:endParaRPr sz="1800">
              <a:solidFill>
                <a:schemeClr val="lt1"/>
              </a:solidFill>
              <a:latin typeface="Barlow Semi Condensed Medium"/>
              <a:ea typeface="Barlow Semi Condensed Medium"/>
              <a:cs typeface="Barlow Semi Condensed Medium"/>
              <a:sym typeface="Barlow Semi Condensed Medium"/>
            </a:endParaRPr>
          </a:p>
        </p:txBody>
      </p:sp>
      <p:sp>
        <p:nvSpPr>
          <p:cNvPr id="2727" name="Google Shape;2727;p49"/>
          <p:cNvSpPr txBox="1"/>
          <p:nvPr/>
        </p:nvSpPr>
        <p:spPr>
          <a:xfrm>
            <a:off x="6676647" y="2744235"/>
            <a:ext cx="704400" cy="283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800">
                <a:solidFill>
                  <a:schemeClr val="accent1"/>
                </a:solidFill>
                <a:latin typeface="Barlow Semi Condensed Medium"/>
                <a:ea typeface="Barlow Semi Condensed Medium"/>
                <a:cs typeface="Barlow Semi Condensed Medium"/>
                <a:sym typeface="Barlow Semi Condensed Medium"/>
              </a:rPr>
              <a:t> 4</a:t>
            </a:r>
            <a:endParaRPr sz="1800">
              <a:solidFill>
                <a:schemeClr val="accent1"/>
              </a:solidFill>
              <a:latin typeface="Barlow Semi Condensed Medium"/>
              <a:ea typeface="Barlow Semi Condensed Medium"/>
              <a:cs typeface="Barlow Semi Condensed Medium"/>
              <a:sym typeface="Barlow Semi Condensed Medium"/>
            </a:endParaRPr>
          </a:p>
        </p:txBody>
      </p:sp>
      <p:grpSp>
        <p:nvGrpSpPr>
          <p:cNvPr id="4" name="Google Shape;2620;p47">
            <a:extLst>
              <a:ext uri="{FF2B5EF4-FFF2-40B4-BE49-F238E27FC236}">
                <a16:creationId xmlns:a16="http://schemas.microsoft.com/office/drawing/2014/main" id="{78BCB463-11A5-47DC-9322-C0EE6AE6B548}"/>
              </a:ext>
            </a:extLst>
          </p:cNvPr>
          <p:cNvGrpSpPr/>
          <p:nvPr/>
        </p:nvGrpSpPr>
        <p:grpSpPr>
          <a:xfrm>
            <a:off x="1861379" y="214212"/>
            <a:ext cx="6655300" cy="1145236"/>
            <a:chOff x="2771600" y="526920"/>
            <a:chExt cx="3480300" cy="1145236"/>
          </a:xfrm>
        </p:grpSpPr>
        <p:sp>
          <p:nvSpPr>
            <p:cNvPr id="39" name="Google Shape;2621;p47">
              <a:extLst>
                <a:ext uri="{FF2B5EF4-FFF2-40B4-BE49-F238E27FC236}">
                  <a16:creationId xmlns:a16="http://schemas.microsoft.com/office/drawing/2014/main" id="{44A67DCB-26FD-4879-85FC-45975C5CDB6D}"/>
                </a:ext>
              </a:extLst>
            </p:cNvPr>
            <p:cNvSpPr/>
            <p:nvPr/>
          </p:nvSpPr>
          <p:spPr>
            <a:xfrm>
              <a:off x="2771600" y="526920"/>
              <a:ext cx="3480300" cy="1145236"/>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622;p47">
              <a:extLst>
                <a:ext uri="{FF2B5EF4-FFF2-40B4-BE49-F238E27FC236}">
                  <a16:creationId xmlns:a16="http://schemas.microsoft.com/office/drawing/2014/main" id="{B62C549D-11C7-4364-9710-4975D812E033}"/>
                </a:ext>
              </a:extLst>
            </p:cNvPr>
            <p:cNvSpPr/>
            <p:nvPr/>
          </p:nvSpPr>
          <p:spPr>
            <a:xfrm>
              <a:off x="2849650" y="606775"/>
              <a:ext cx="3324000" cy="985500"/>
            </a:xfrm>
            <a:prstGeom prst="roundRect">
              <a:avLst>
                <a:gd name="adj" fmla="val 16667"/>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ítulo 2">
            <a:extLst>
              <a:ext uri="{FF2B5EF4-FFF2-40B4-BE49-F238E27FC236}">
                <a16:creationId xmlns:a16="http://schemas.microsoft.com/office/drawing/2014/main" id="{68582671-D8B6-4A12-AEA0-5713765A3B91}"/>
              </a:ext>
            </a:extLst>
          </p:cNvPr>
          <p:cNvSpPr txBox="1">
            <a:spLocks/>
          </p:cNvSpPr>
          <p:nvPr/>
        </p:nvSpPr>
        <p:spPr>
          <a:xfrm>
            <a:off x="1973637" y="305116"/>
            <a:ext cx="5705201" cy="36212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9pPr>
          </a:lstStyle>
          <a:p>
            <a:r>
              <a:rPr lang="es-ES" dirty="0">
                <a:solidFill>
                  <a:schemeClr val="accent1"/>
                </a:solidFill>
              </a:rPr>
              <a:t>Teoría de las remesas tributarias (propone)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37"/>
        <p:cNvGrpSpPr/>
        <p:nvPr/>
      </p:nvGrpSpPr>
      <p:grpSpPr>
        <a:xfrm>
          <a:off x="0" y="0"/>
          <a:ext cx="0" cy="0"/>
          <a:chOff x="0" y="0"/>
          <a:chExt cx="0" cy="0"/>
        </a:xfrm>
      </p:grpSpPr>
      <p:sp>
        <p:nvSpPr>
          <p:cNvPr id="2738" name="Google Shape;2738;p51"/>
          <p:cNvSpPr txBox="1">
            <a:spLocks noGrp="1"/>
          </p:cNvSpPr>
          <p:nvPr>
            <p:ph type="title"/>
          </p:nvPr>
        </p:nvSpPr>
        <p:spPr>
          <a:xfrm>
            <a:off x="698553" y="342775"/>
            <a:ext cx="7929348" cy="604070"/>
          </a:xfrm>
          <a:prstGeom prst="rect">
            <a:avLst/>
          </a:prstGeom>
        </p:spPr>
        <p:txBody>
          <a:bodyPr spcFirstLastPara="1" wrap="square" lIns="91425" tIns="91425" rIns="91425" bIns="91425" anchor="t" anchorCtr="0">
            <a:noAutofit/>
          </a:bodyPr>
          <a:lstStyle/>
          <a:p>
            <a:r>
              <a:rPr lang="es-419" dirty="0"/>
              <a:t>¿Cuándo las remesas tributarias no importan</a:t>
            </a:r>
            <a:r>
              <a:rPr lang="en" dirty="0"/>
              <a:t>?</a:t>
            </a:r>
          </a:p>
        </p:txBody>
      </p:sp>
      <p:sp>
        <p:nvSpPr>
          <p:cNvPr id="2934" name="Google Shape;2934;p51"/>
          <p:cNvSpPr txBox="1">
            <a:spLocks noGrp="1"/>
          </p:cNvSpPr>
          <p:nvPr>
            <p:ph type="subTitle" idx="1"/>
          </p:nvPr>
        </p:nvSpPr>
        <p:spPr>
          <a:xfrm>
            <a:off x="6340350" y="1428017"/>
            <a:ext cx="2700501" cy="1562945"/>
          </a:xfrm>
          <a:prstGeom prst="rect">
            <a:avLst/>
          </a:prstGeom>
        </p:spPr>
        <p:txBody>
          <a:bodyPr spcFirstLastPara="1" wrap="square" lIns="91425" tIns="91425" rIns="91425" bIns="91425" anchor="t" anchorCtr="0">
            <a:noAutofit/>
          </a:bodyPr>
          <a:lstStyle/>
          <a:p>
            <a:pPr algn="just"/>
            <a:r>
              <a:rPr lang="es-419" sz="1600" b="1" dirty="0">
                <a:solidFill>
                  <a:schemeClr val="tx1"/>
                </a:solidFill>
                <a:latin typeface="+mj-lt"/>
                <a:ea typeface="Barlow Semi Condensed"/>
                <a:cs typeface="Barlow Semi Condensed"/>
                <a:sym typeface="Barlow Semi Condensed"/>
              </a:rPr>
              <a:t>    Cumple la proposición de la irrelevancia, para quien soporta carga directa de impuesto como sus consecuencias sobre la eficacia y asignación</a:t>
            </a:r>
            <a:r>
              <a:rPr lang="es-419" sz="1600" b="1" dirty="0">
                <a:latin typeface="+mj-lt"/>
                <a:ea typeface="Barlow Semi Condensed"/>
                <a:cs typeface="Barlow Semi Condensed"/>
                <a:sym typeface="Barlow Semi Condensed"/>
              </a:rPr>
              <a:t>.</a:t>
            </a:r>
            <a:endParaRPr lang="es-419" sz="1600" b="1" dirty="0">
              <a:latin typeface="+mj-lt"/>
              <a:ea typeface="Barlow Semi Condensed"/>
              <a:cs typeface="Barlow Semi Condensed"/>
            </a:endParaRPr>
          </a:p>
        </p:txBody>
      </p:sp>
      <p:sp>
        <p:nvSpPr>
          <p:cNvPr id="2935" name="Google Shape;2935;p51"/>
          <p:cNvSpPr txBox="1">
            <a:spLocks noGrp="1"/>
          </p:cNvSpPr>
          <p:nvPr>
            <p:ph type="subTitle" idx="2"/>
          </p:nvPr>
        </p:nvSpPr>
        <p:spPr>
          <a:xfrm>
            <a:off x="3698384" y="1706653"/>
            <a:ext cx="2000179" cy="2028290"/>
          </a:xfrm>
          <a:prstGeom prst="rect">
            <a:avLst/>
          </a:prstGeom>
        </p:spPr>
        <p:txBody>
          <a:bodyPr spcFirstLastPara="1" wrap="square" lIns="91425" tIns="91425" rIns="91425" bIns="91425" anchor="t" anchorCtr="0">
            <a:noAutofit/>
          </a:bodyPr>
          <a:lstStyle/>
          <a:p>
            <a:pPr algn="just"/>
            <a:r>
              <a:rPr lang="es-419" dirty="0"/>
              <a:t>	</a:t>
            </a:r>
            <a:r>
              <a:rPr lang="es-419" sz="1600" b="1" dirty="0">
                <a:solidFill>
                  <a:schemeClr val="tx1"/>
                </a:solidFill>
                <a:latin typeface="+mj-lt"/>
              </a:rPr>
              <a:t>Este supuesto de disponibilidad de información elimina la evasión tributaria.</a:t>
            </a:r>
            <a:endParaRPr lang="es-419" b="1" dirty="0">
              <a:solidFill>
                <a:schemeClr val="tx1"/>
              </a:solidFill>
              <a:latin typeface="+mj-lt"/>
            </a:endParaRPr>
          </a:p>
        </p:txBody>
      </p:sp>
      <p:sp>
        <p:nvSpPr>
          <p:cNvPr id="2936" name="Google Shape;2936;p51"/>
          <p:cNvSpPr txBox="1">
            <a:spLocks noGrp="1"/>
          </p:cNvSpPr>
          <p:nvPr>
            <p:ph type="subTitle" idx="3"/>
          </p:nvPr>
        </p:nvSpPr>
        <p:spPr>
          <a:xfrm>
            <a:off x="54654" y="1497256"/>
            <a:ext cx="2429223" cy="1852929"/>
          </a:xfrm>
          <a:prstGeom prst="rect">
            <a:avLst/>
          </a:prstGeom>
        </p:spPr>
        <p:txBody>
          <a:bodyPr spcFirstLastPara="1" wrap="square" lIns="91425" tIns="91425" rIns="91425" bIns="91425" anchor="t" anchorCtr="0">
            <a:noAutofit/>
          </a:bodyPr>
          <a:lstStyle/>
          <a:p>
            <a:pPr algn="just"/>
            <a:endParaRPr lang="es-419" sz="1400" dirty="0"/>
          </a:p>
          <a:p>
            <a:pPr algn="just"/>
            <a:r>
              <a:rPr lang="es-419" sz="1600" b="1" dirty="0">
                <a:solidFill>
                  <a:schemeClr val="tx1"/>
                </a:solidFill>
                <a:latin typeface="+mj-lt"/>
              </a:rPr>
              <a:t>	La información necesaria para establecer la responsabilidad tributaria es sin costo.</a:t>
            </a:r>
            <a:endParaRPr lang="es-ES" sz="1600" b="1" dirty="0">
              <a:solidFill>
                <a:schemeClr val="tx1"/>
              </a:solidFill>
              <a:latin typeface="+mj-lt"/>
            </a:endParaRPr>
          </a:p>
        </p:txBody>
      </p:sp>
      <p:grpSp>
        <p:nvGrpSpPr>
          <p:cNvPr id="2949" name="Google Shape;2949;p51"/>
          <p:cNvGrpSpPr/>
          <p:nvPr/>
        </p:nvGrpSpPr>
        <p:grpSpPr>
          <a:xfrm>
            <a:off x="5495189" y="2811226"/>
            <a:ext cx="203374" cy="179736"/>
            <a:chOff x="-3137650" y="2787000"/>
            <a:chExt cx="291450" cy="257575"/>
          </a:xfrm>
        </p:grpSpPr>
        <p:sp>
          <p:nvSpPr>
            <p:cNvPr id="2950" name="Google Shape;2950;p51"/>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51"/>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51"/>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51"/>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51"/>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51"/>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51"/>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51"/>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8" name="Google Shape;2958;p51"/>
          <p:cNvGrpSpPr/>
          <p:nvPr/>
        </p:nvGrpSpPr>
        <p:grpSpPr>
          <a:xfrm>
            <a:off x="3830965" y="2799136"/>
            <a:ext cx="203915" cy="203915"/>
            <a:chOff x="-6354300" y="2757075"/>
            <a:chExt cx="292225" cy="292225"/>
          </a:xfrm>
        </p:grpSpPr>
        <p:sp>
          <p:nvSpPr>
            <p:cNvPr id="2959" name="Google Shape;2959;p51"/>
            <p:cNvSpPr/>
            <p:nvPr/>
          </p:nvSpPr>
          <p:spPr>
            <a:xfrm>
              <a:off x="-6354300" y="2757075"/>
              <a:ext cx="292225" cy="292225"/>
            </a:xfrm>
            <a:custGeom>
              <a:avLst/>
              <a:gdLst/>
              <a:ahLst/>
              <a:cxnLst/>
              <a:rect l="l" t="t" r="r" b="b"/>
              <a:pathLst>
                <a:path w="11689" h="11689" extrusionOk="0">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51"/>
            <p:cNvSpPr/>
            <p:nvPr/>
          </p:nvSpPr>
          <p:spPr>
            <a:xfrm>
              <a:off x="-6268450" y="279015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51"/>
            <p:cNvSpPr/>
            <p:nvPr/>
          </p:nvSpPr>
          <p:spPr>
            <a:xfrm>
              <a:off x="-6268450" y="282560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51"/>
            <p:cNvSpPr/>
            <p:nvPr/>
          </p:nvSpPr>
          <p:spPr>
            <a:xfrm>
              <a:off x="-6268450" y="2860250"/>
              <a:ext cx="119750" cy="17350"/>
            </a:xfrm>
            <a:custGeom>
              <a:avLst/>
              <a:gdLst/>
              <a:ahLst/>
              <a:cxnLst/>
              <a:rect l="l" t="t" r="r" b="b"/>
              <a:pathLst>
                <a:path w="4790" h="694" extrusionOk="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Flecha: a la derecha 9">
            <a:extLst>
              <a:ext uri="{FF2B5EF4-FFF2-40B4-BE49-F238E27FC236}">
                <a16:creationId xmlns:a16="http://schemas.microsoft.com/office/drawing/2014/main" id="{3C4CAEB5-ED78-4A96-B456-F17BB44A1171}"/>
              </a:ext>
            </a:extLst>
          </p:cNvPr>
          <p:cNvSpPr/>
          <p:nvPr/>
        </p:nvSpPr>
        <p:spPr>
          <a:xfrm>
            <a:off x="5995722" y="2332915"/>
            <a:ext cx="345057" cy="1833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5" name="Flecha: a la derecha 244">
            <a:extLst>
              <a:ext uri="{FF2B5EF4-FFF2-40B4-BE49-F238E27FC236}">
                <a16:creationId xmlns:a16="http://schemas.microsoft.com/office/drawing/2014/main" id="{5B446FDD-328E-4C2A-8C33-50C531D32B00}"/>
              </a:ext>
            </a:extLst>
          </p:cNvPr>
          <p:cNvSpPr/>
          <p:nvPr/>
        </p:nvSpPr>
        <p:spPr>
          <a:xfrm>
            <a:off x="2966362" y="2388439"/>
            <a:ext cx="345057" cy="1833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37"/>
        <p:cNvGrpSpPr/>
        <p:nvPr/>
      </p:nvGrpSpPr>
      <p:grpSpPr>
        <a:xfrm>
          <a:off x="0" y="0"/>
          <a:ext cx="0" cy="0"/>
          <a:chOff x="0" y="0"/>
          <a:chExt cx="0" cy="0"/>
        </a:xfrm>
      </p:grpSpPr>
      <p:sp>
        <p:nvSpPr>
          <p:cNvPr id="2738" name="Google Shape;2738;p51"/>
          <p:cNvSpPr txBox="1">
            <a:spLocks noGrp="1"/>
          </p:cNvSpPr>
          <p:nvPr>
            <p:ph type="title"/>
          </p:nvPr>
        </p:nvSpPr>
        <p:spPr>
          <a:xfrm>
            <a:off x="698553" y="342775"/>
            <a:ext cx="8214339" cy="572700"/>
          </a:xfrm>
          <a:prstGeom prst="rect">
            <a:avLst/>
          </a:prstGeom>
        </p:spPr>
        <p:txBody>
          <a:bodyPr spcFirstLastPara="1" wrap="square" lIns="91425" tIns="91425" rIns="91425" bIns="91425" anchor="t" anchorCtr="0">
            <a:noAutofit/>
          </a:bodyPr>
          <a:lstStyle/>
          <a:p>
            <a:r>
              <a:rPr lang="es-419" dirty="0"/>
              <a:t>¿Cuándo las remesas tributarias si importan</a:t>
            </a:r>
            <a:r>
              <a:rPr lang="en" dirty="0"/>
              <a:t>?</a:t>
            </a:r>
            <a:endParaRPr lang="es-ES" dirty="0"/>
          </a:p>
        </p:txBody>
      </p:sp>
      <p:sp>
        <p:nvSpPr>
          <p:cNvPr id="2934" name="Google Shape;2934;p51"/>
          <p:cNvSpPr txBox="1">
            <a:spLocks noGrp="1"/>
          </p:cNvSpPr>
          <p:nvPr>
            <p:ph type="subTitle" idx="1"/>
          </p:nvPr>
        </p:nvSpPr>
        <p:spPr>
          <a:xfrm>
            <a:off x="6224709" y="1166210"/>
            <a:ext cx="2849456" cy="1490309"/>
          </a:xfrm>
          <a:prstGeom prst="rect">
            <a:avLst/>
          </a:prstGeom>
        </p:spPr>
        <p:txBody>
          <a:bodyPr spcFirstLastPara="1" wrap="square" lIns="91425" tIns="91425" rIns="91425" bIns="91425" anchor="t" anchorCtr="0">
            <a:noAutofit/>
          </a:bodyPr>
          <a:lstStyle/>
          <a:p>
            <a:pPr algn="just"/>
            <a:r>
              <a:rPr lang="es-419" sz="1600" dirty="0">
                <a:solidFill>
                  <a:schemeClr val="tx1"/>
                </a:solidFill>
                <a:latin typeface="+mj-lt"/>
                <a:ea typeface="Barlow Semi Condensed"/>
                <a:cs typeface="Barlow Semi Condensed"/>
              </a:rPr>
              <a:t>   </a:t>
            </a:r>
            <a:r>
              <a:rPr lang="es-419" sz="1600" b="1" dirty="0">
                <a:solidFill>
                  <a:schemeClr val="tx1"/>
                </a:solidFill>
                <a:latin typeface="+mj-lt"/>
                <a:ea typeface="Barlow Semi Condensed"/>
                <a:cs typeface="Barlow Semi Condensed"/>
              </a:rPr>
              <a:t>Slemrod (2008):</a:t>
            </a:r>
            <a:r>
              <a:rPr lang="es-419" sz="1400" b="1" dirty="0">
                <a:solidFill>
                  <a:schemeClr val="tx1"/>
                </a:solidFill>
                <a:latin typeface="+mj-lt"/>
                <a:ea typeface="Barlow Semi Condensed"/>
                <a:cs typeface="Barlow Semi Condensed"/>
              </a:rPr>
              <a:t> </a:t>
            </a:r>
            <a:r>
              <a:rPr lang="es-ES" sz="1400" b="1" dirty="0">
                <a:solidFill>
                  <a:schemeClr val="tx1"/>
                </a:solidFill>
                <a:latin typeface="+mj-lt"/>
                <a:ea typeface="Barlow Semi Condensed"/>
                <a:cs typeface="Barlow Semi Condensed"/>
              </a:rPr>
              <a:t>I</a:t>
            </a:r>
            <a:r>
              <a:rPr lang="es-ES" sz="1400" b="1" dirty="0">
                <a:solidFill>
                  <a:schemeClr val="tx1"/>
                </a:solidFill>
                <a:latin typeface="+mj-lt"/>
              </a:rPr>
              <a:t>ncorporar la posibilidad de incumplimiento en el pago de los impuestos que verdaderamente corresponde cancelar y la necesidad de monitorear a quienes remesan los impuestos</a:t>
            </a:r>
            <a:endParaRPr lang="es-419" b="1" dirty="0">
              <a:solidFill>
                <a:schemeClr val="tx1"/>
              </a:solidFill>
              <a:latin typeface="+mj-lt"/>
              <a:ea typeface="Barlow Semi Condensed"/>
              <a:cs typeface="Barlow Semi Condensed"/>
            </a:endParaRPr>
          </a:p>
        </p:txBody>
      </p:sp>
      <p:sp>
        <p:nvSpPr>
          <p:cNvPr id="2935" name="Google Shape;2935;p51"/>
          <p:cNvSpPr txBox="1">
            <a:spLocks noGrp="1"/>
          </p:cNvSpPr>
          <p:nvPr>
            <p:ph type="subTitle" idx="2"/>
          </p:nvPr>
        </p:nvSpPr>
        <p:spPr>
          <a:xfrm>
            <a:off x="3285371" y="1172157"/>
            <a:ext cx="2596487" cy="1115026"/>
          </a:xfrm>
          <a:prstGeom prst="rect">
            <a:avLst/>
          </a:prstGeom>
        </p:spPr>
        <p:txBody>
          <a:bodyPr spcFirstLastPara="1" wrap="square" lIns="91425" tIns="91425" rIns="91425" bIns="91425" anchor="t" anchorCtr="0">
            <a:noAutofit/>
          </a:bodyPr>
          <a:lstStyle/>
          <a:p>
            <a:pPr algn="just"/>
            <a:r>
              <a:rPr lang="es-419" sz="1600" b="1" dirty="0" err="1">
                <a:solidFill>
                  <a:schemeClr val="tx1"/>
                </a:solidFill>
                <a:latin typeface="+mj-lt"/>
              </a:rPr>
              <a:t>Ej</a:t>
            </a:r>
            <a:r>
              <a:rPr lang="es-419" sz="1600" b="1" dirty="0">
                <a:solidFill>
                  <a:schemeClr val="tx1"/>
                </a:solidFill>
                <a:latin typeface="+mj-lt"/>
              </a:rPr>
              <a:t>: gravar un mercado laboral donde se aplica un salario mínimo. El impacto del impuesto del  empleador ,empleado es diferente.</a:t>
            </a:r>
          </a:p>
        </p:txBody>
      </p:sp>
      <p:sp>
        <p:nvSpPr>
          <p:cNvPr id="2936" name="Google Shape;2936;p51"/>
          <p:cNvSpPr txBox="1">
            <a:spLocks noGrp="1"/>
          </p:cNvSpPr>
          <p:nvPr>
            <p:ph type="subTitle" idx="3"/>
          </p:nvPr>
        </p:nvSpPr>
        <p:spPr>
          <a:xfrm>
            <a:off x="69835" y="1283059"/>
            <a:ext cx="2459379" cy="1181488"/>
          </a:xfrm>
          <a:prstGeom prst="rect">
            <a:avLst/>
          </a:prstGeom>
        </p:spPr>
        <p:txBody>
          <a:bodyPr spcFirstLastPara="1" wrap="square" lIns="91425" tIns="91425" rIns="91425" bIns="91425" anchor="t" anchorCtr="0">
            <a:noAutofit/>
          </a:bodyPr>
          <a:lstStyle/>
          <a:p>
            <a:pPr algn="l"/>
            <a:r>
              <a:rPr lang="es-419" sz="1600" b="1" dirty="0">
                <a:solidFill>
                  <a:schemeClr val="tx1"/>
                </a:solidFill>
                <a:latin typeface="+mj-lt"/>
              </a:rPr>
              <a:t>Literatura tradicional indica:</a:t>
            </a:r>
          </a:p>
          <a:p>
            <a:pPr algn="l"/>
            <a:r>
              <a:rPr lang="es-419" sz="1600" b="1" dirty="0">
                <a:solidFill>
                  <a:schemeClr val="tx1"/>
                </a:solidFill>
                <a:latin typeface="+mj-lt"/>
              </a:rPr>
              <a:t>Ciertas excepciones a la proposición de irrelevancia.</a:t>
            </a:r>
          </a:p>
        </p:txBody>
      </p:sp>
      <p:grpSp>
        <p:nvGrpSpPr>
          <p:cNvPr id="2949" name="Google Shape;2949;p51"/>
          <p:cNvGrpSpPr/>
          <p:nvPr/>
        </p:nvGrpSpPr>
        <p:grpSpPr>
          <a:xfrm>
            <a:off x="5495189" y="2811226"/>
            <a:ext cx="203374" cy="179736"/>
            <a:chOff x="-3137650" y="2787000"/>
            <a:chExt cx="291450" cy="257575"/>
          </a:xfrm>
        </p:grpSpPr>
        <p:sp>
          <p:nvSpPr>
            <p:cNvPr id="2950" name="Google Shape;2950;p51"/>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51"/>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51"/>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51"/>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51"/>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51"/>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51"/>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51"/>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8" name="Google Shape;2958;p51"/>
          <p:cNvGrpSpPr/>
          <p:nvPr/>
        </p:nvGrpSpPr>
        <p:grpSpPr>
          <a:xfrm>
            <a:off x="3830965" y="2799136"/>
            <a:ext cx="203915" cy="203915"/>
            <a:chOff x="-6354300" y="2757075"/>
            <a:chExt cx="292225" cy="292225"/>
          </a:xfrm>
        </p:grpSpPr>
        <p:sp>
          <p:nvSpPr>
            <p:cNvPr id="2959" name="Google Shape;2959;p51"/>
            <p:cNvSpPr/>
            <p:nvPr/>
          </p:nvSpPr>
          <p:spPr>
            <a:xfrm>
              <a:off x="-6354300" y="2757075"/>
              <a:ext cx="292225" cy="292225"/>
            </a:xfrm>
            <a:custGeom>
              <a:avLst/>
              <a:gdLst/>
              <a:ahLst/>
              <a:cxnLst/>
              <a:rect l="l" t="t" r="r" b="b"/>
              <a:pathLst>
                <a:path w="11689" h="11689" extrusionOk="0">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51"/>
            <p:cNvSpPr/>
            <p:nvPr/>
          </p:nvSpPr>
          <p:spPr>
            <a:xfrm>
              <a:off x="-6268450" y="279015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51"/>
            <p:cNvSpPr/>
            <p:nvPr/>
          </p:nvSpPr>
          <p:spPr>
            <a:xfrm>
              <a:off x="-6268450" y="282560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51"/>
            <p:cNvSpPr/>
            <p:nvPr/>
          </p:nvSpPr>
          <p:spPr>
            <a:xfrm>
              <a:off x="-6268450" y="2860250"/>
              <a:ext cx="119750" cy="17350"/>
            </a:xfrm>
            <a:custGeom>
              <a:avLst/>
              <a:gdLst/>
              <a:ahLst/>
              <a:cxnLst/>
              <a:rect l="l" t="t" r="r" b="b"/>
              <a:pathLst>
                <a:path w="4790" h="694" extrusionOk="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3" name="Google Shape;2963;p51"/>
          <p:cNvGrpSpPr/>
          <p:nvPr/>
        </p:nvGrpSpPr>
        <p:grpSpPr>
          <a:xfrm>
            <a:off x="4917834" y="2603164"/>
            <a:ext cx="203374" cy="203915"/>
            <a:chOff x="-1700225" y="2768875"/>
            <a:chExt cx="291450" cy="292225"/>
          </a:xfrm>
        </p:grpSpPr>
        <p:sp>
          <p:nvSpPr>
            <p:cNvPr id="2964" name="Google Shape;2964;p51"/>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51"/>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51"/>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51"/>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51"/>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51"/>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Flecha: a la derecha 9">
            <a:extLst>
              <a:ext uri="{FF2B5EF4-FFF2-40B4-BE49-F238E27FC236}">
                <a16:creationId xmlns:a16="http://schemas.microsoft.com/office/drawing/2014/main" id="{3C4CAEB5-ED78-4A96-B456-F17BB44A1171}"/>
              </a:ext>
            </a:extLst>
          </p:cNvPr>
          <p:cNvSpPr/>
          <p:nvPr/>
        </p:nvSpPr>
        <p:spPr>
          <a:xfrm>
            <a:off x="5879652" y="1638014"/>
            <a:ext cx="345057" cy="1833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5" name="Flecha: a la derecha 244">
            <a:extLst>
              <a:ext uri="{FF2B5EF4-FFF2-40B4-BE49-F238E27FC236}">
                <a16:creationId xmlns:a16="http://schemas.microsoft.com/office/drawing/2014/main" id="{5B446FDD-328E-4C2A-8C33-50C531D32B00}"/>
              </a:ext>
            </a:extLst>
          </p:cNvPr>
          <p:cNvSpPr/>
          <p:nvPr/>
        </p:nvSpPr>
        <p:spPr>
          <a:xfrm>
            <a:off x="2596665" y="1604783"/>
            <a:ext cx="345057" cy="1833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Google Shape;2934;p51">
            <a:extLst>
              <a:ext uri="{FF2B5EF4-FFF2-40B4-BE49-F238E27FC236}">
                <a16:creationId xmlns:a16="http://schemas.microsoft.com/office/drawing/2014/main" id="{922D465F-EBFD-4DDF-9450-F18528DD9E12}"/>
              </a:ext>
            </a:extLst>
          </p:cNvPr>
          <p:cNvSpPr txBox="1">
            <a:spLocks/>
          </p:cNvSpPr>
          <p:nvPr/>
        </p:nvSpPr>
        <p:spPr>
          <a:xfrm>
            <a:off x="5879653" y="3187087"/>
            <a:ext cx="3033240" cy="148164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6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6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6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6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6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6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6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600" b="0" i="0" u="none" strike="noStrike" cap="none">
                <a:solidFill>
                  <a:schemeClr val="dk2"/>
                </a:solidFill>
                <a:latin typeface="Arial"/>
                <a:ea typeface="Arial"/>
                <a:cs typeface="Arial"/>
                <a:sym typeface="Arial"/>
              </a:defRPr>
            </a:lvl9pPr>
          </a:lstStyle>
          <a:p>
            <a:pPr algn="just"/>
            <a:r>
              <a:rPr lang="es-419" b="1" dirty="0">
                <a:solidFill>
                  <a:schemeClr val="tx1"/>
                </a:solidFill>
                <a:latin typeface="+mj-lt"/>
                <a:ea typeface="Barlow Semi Condensed"/>
                <a:cs typeface="Barlow Semi Condensed"/>
              </a:rPr>
              <a:t>Conduce a considera costos administrativos (recaudación y fiscalización) y de cumplimiento tributario (programas para controlar la evasión)</a:t>
            </a:r>
          </a:p>
        </p:txBody>
      </p:sp>
      <p:sp>
        <p:nvSpPr>
          <p:cNvPr id="237" name="Flecha: a la derecha 236">
            <a:extLst>
              <a:ext uri="{FF2B5EF4-FFF2-40B4-BE49-F238E27FC236}">
                <a16:creationId xmlns:a16="http://schemas.microsoft.com/office/drawing/2014/main" id="{0C1CB8A2-705E-40A5-8DE7-6635AFEB905B}"/>
              </a:ext>
            </a:extLst>
          </p:cNvPr>
          <p:cNvSpPr/>
          <p:nvPr/>
        </p:nvSpPr>
        <p:spPr>
          <a:xfrm rot="5400000">
            <a:off x="7502242" y="2846322"/>
            <a:ext cx="398972" cy="1509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303040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1FF3F7-41CE-4B9E-B011-69E2D3099625}"/>
              </a:ext>
            </a:extLst>
          </p:cNvPr>
          <p:cNvSpPr>
            <a:spLocks noGrp="1"/>
          </p:cNvSpPr>
          <p:nvPr>
            <p:ph type="title"/>
          </p:nvPr>
        </p:nvSpPr>
        <p:spPr/>
        <p:txBody>
          <a:bodyPr/>
          <a:lstStyle/>
          <a:p>
            <a:r>
              <a:rPr lang="es-EC" dirty="0"/>
              <a:t>Ejemplos </a:t>
            </a:r>
          </a:p>
        </p:txBody>
      </p:sp>
      <p:graphicFrame>
        <p:nvGraphicFramePr>
          <p:cNvPr id="9" name="Tabla 9">
            <a:extLst>
              <a:ext uri="{FF2B5EF4-FFF2-40B4-BE49-F238E27FC236}">
                <a16:creationId xmlns:a16="http://schemas.microsoft.com/office/drawing/2014/main" id="{DEC24BB9-7909-40DF-B16F-BD4027E0B1A1}"/>
              </a:ext>
            </a:extLst>
          </p:cNvPr>
          <p:cNvGraphicFramePr>
            <a:graphicFrameLocks noGrp="1"/>
          </p:cNvGraphicFramePr>
          <p:nvPr>
            <p:extLst>
              <p:ext uri="{D42A27DB-BD31-4B8C-83A1-F6EECF244321}">
                <p14:modId xmlns:p14="http://schemas.microsoft.com/office/powerpoint/2010/main" val="2755981294"/>
              </p:ext>
            </p:extLst>
          </p:nvPr>
        </p:nvGraphicFramePr>
        <p:xfrm>
          <a:off x="988828" y="1806307"/>
          <a:ext cx="7746104" cy="2182163"/>
        </p:xfrm>
        <a:graphic>
          <a:graphicData uri="http://schemas.openxmlformats.org/drawingml/2006/table">
            <a:tbl>
              <a:tblPr firstRow="1" bandRow="1">
                <a:tableStyleId>{68D230F3-CF80-4859-8CE7-A43EE81993B5}</a:tableStyleId>
              </a:tblPr>
              <a:tblGrid>
                <a:gridCol w="1936526">
                  <a:extLst>
                    <a:ext uri="{9D8B030D-6E8A-4147-A177-3AD203B41FA5}">
                      <a16:colId xmlns:a16="http://schemas.microsoft.com/office/drawing/2014/main" val="2608750479"/>
                    </a:ext>
                  </a:extLst>
                </a:gridCol>
                <a:gridCol w="1936526">
                  <a:extLst>
                    <a:ext uri="{9D8B030D-6E8A-4147-A177-3AD203B41FA5}">
                      <a16:colId xmlns:a16="http://schemas.microsoft.com/office/drawing/2014/main" val="2883546702"/>
                    </a:ext>
                  </a:extLst>
                </a:gridCol>
                <a:gridCol w="1936526">
                  <a:extLst>
                    <a:ext uri="{9D8B030D-6E8A-4147-A177-3AD203B41FA5}">
                      <a16:colId xmlns:a16="http://schemas.microsoft.com/office/drawing/2014/main" val="338073028"/>
                    </a:ext>
                  </a:extLst>
                </a:gridCol>
                <a:gridCol w="1936526">
                  <a:extLst>
                    <a:ext uri="{9D8B030D-6E8A-4147-A177-3AD203B41FA5}">
                      <a16:colId xmlns:a16="http://schemas.microsoft.com/office/drawing/2014/main" val="178156462"/>
                    </a:ext>
                  </a:extLst>
                </a:gridCol>
              </a:tblGrid>
              <a:tr h="10108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C" sz="1400" b="1"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C" sz="1400" b="1" u="none" strike="noStrike" kern="1200" cap="none" spc="0" normalizeH="0" baseline="0" noProof="0" dirty="0">
                          <a:ln>
                            <a:noFill/>
                          </a:ln>
                          <a:solidFill>
                            <a:schemeClr val="tx1"/>
                          </a:solidFill>
                          <a:effectLst/>
                          <a:uLnTx/>
                          <a:uFillTx/>
                        </a:rPr>
                        <a:t>Soporta la carga del impuesto </a:t>
                      </a:r>
                      <a:endParaRPr kumimoji="0" lang="es-EC" sz="1400" b="1"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marL="68580" marR="68580" marT="34290" marB="34290"/>
                </a:tc>
                <a:tc>
                  <a:txBody>
                    <a:bodyPr/>
                    <a:lstStyle/>
                    <a:p>
                      <a:r>
                        <a:rPr lang="es-EC" sz="1400" b="1" dirty="0">
                          <a:solidFill>
                            <a:schemeClr val="tx1"/>
                          </a:solidFill>
                        </a:rPr>
                        <a:t>Remite o Retienen </a:t>
                      </a:r>
                    </a:p>
                  </a:txBody>
                  <a:tcPr marL="68580" marR="68580" marT="34290" marB="34290"/>
                </a:tc>
                <a:tc>
                  <a:txBody>
                    <a:bodyPr/>
                    <a:lstStyle/>
                    <a:p>
                      <a:r>
                        <a:rPr lang="es-EC" sz="1400" b="1" dirty="0">
                          <a:solidFill>
                            <a:schemeClr val="tx1"/>
                          </a:solidFill>
                        </a:rPr>
                        <a:t>Reciben </a:t>
                      </a:r>
                    </a:p>
                  </a:txBody>
                  <a:tcPr marL="68580" marR="68580" marT="34290" marB="34290"/>
                </a:tc>
                <a:extLst>
                  <a:ext uri="{0D108BD9-81ED-4DB2-BD59-A6C34878D82A}">
                    <a16:rowId xmlns:a16="http://schemas.microsoft.com/office/drawing/2014/main" val="1646837530"/>
                  </a:ext>
                </a:extLst>
              </a:tr>
              <a:tr h="585654">
                <a:tc>
                  <a:txBody>
                    <a:bodyPr/>
                    <a:lstStyle/>
                    <a:p>
                      <a:r>
                        <a:rPr lang="es-EC" sz="1400" b="1" dirty="0">
                          <a:solidFill>
                            <a:schemeClr val="tx1"/>
                          </a:solidFill>
                        </a:rPr>
                        <a:t> Impuesto a la Renta </a:t>
                      </a:r>
                    </a:p>
                  </a:txBody>
                  <a:tcPr marL="68580" marR="68580" marT="34290" marB="34290"/>
                </a:tc>
                <a:tc>
                  <a:txBody>
                    <a:bodyPr/>
                    <a:lstStyle/>
                    <a:p>
                      <a:r>
                        <a:rPr lang="es-EC" sz="1100" dirty="0"/>
                        <a:t>Personas naturales-trabajadores (Base imponible $11310 anual )</a:t>
                      </a:r>
                    </a:p>
                  </a:txBody>
                  <a:tcPr marL="68580" marR="68580" marT="34290" marB="34290"/>
                </a:tc>
                <a:tc>
                  <a:txBody>
                    <a:bodyPr/>
                    <a:lstStyle/>
                    <a:p>
                      <a:r>
                        <a:rPr lang="es-EC" sz="1100" dirty="0"/>
                        <a:t>Empleador </a:t>
                      </a:r>
                    </a:p>
                  </a:txBody>
                  <a:tcPr marL="68580" marR="68580" marT="34290" marB="34290"/>
                </a:tc>
                <a:tc>
                  <a:txBody>
                    <a:bodyPr/>
                    <a:lstStyle/>
                    <a:p>
                      <a:r>
                        <a:rPr lang="es-EC" sz="1100" dirty="0"/>
                        <a:t>Autoridad fiscal </a:t>
                      </a:r>
                    </a:p>
                  </a:txBody>
                  <a:tcPr marL="68580" marR="68580" marT="34290" marB="34290"/>
                </a:tc>
                <a:extLst>
                  <a:ext uri="{0D108BD9-81ED-4DB2-BD59-A6C34878D82A}">
                    <a16:rowId xmlns:a16="http://schemas.microsoft.com/office/drawing/2014/main" val="2892211033"/>
                  </a:ext>
                </a:extLst>
              </a:tr>
              <a:tr h="585654">
                <a:tc>
                  <a:txBody>
                    <a:bodyPr/>
                    <a:lstStyle/>
                    <a:p>
                      <a:r>
                        <a:rPr lang="es-EC" sz="1400" b="1" dirty="0">
                          <a:solidFill>
                            <a:schemeClr val="tx1"/>
                          </a:solidFill>
                        </a:rPr>
                        <a:t>IVA</a:t>
                      </a:r>
                    </a:p>
                  </a:txBody>
                  <a:tcPr marL="68580" marR="68580" marT="34290" marB="34290"/>
                </a:tc>
                <a:tc>
                  <a:txBody>
                    <a:bodyPr/>
                    <a:lstStyle/>
                    <a:p>
                      <a:r>
                        <a:rPr lang="es-EC" sz="1100" dirty="0"/>
                        <a:t>Compradores </a:t>
                      </a:r>
                    </a:p>
                  </a:txBody>
                  <a:tcPr marL="68580" marR="68580" marT="34290" marB="34290"/>
                </a:tc>
                <a:tc>
                  <a:txBody>
                    <a:bodyPr/>
                    <a:lstStyle/>
                    <a:p>
                      <a:r>
                        <a:rPr lang="es-EC" sz="1100" dirty="0"/>
                        <a:t>Empresas </a:t>
                      </a:r>
                    </a:p>
                  </a:txBody>
                  <a:tcPr marL="68580" marR="68580" marT="34290" marB="34290"/>
                </a:tc>
                <a:tc>
                  <a:txBody>
                    <a:bodyPr/>
                    <a:lstStyle/>
                    <a:p>
                      <a:r>
                        <a:rPr lang="es-EC" sz="1100" dirty="0"/>
                        <a:t>SRI</a:t>
                      </a:r>
                    </a:p>
                  </a:txBody>
                  <a:tcPr marL="68580" marR="68580" marT="34290" marB="34290"/>
                </a:tc>
                <a:extLst>
                  <a:ext uri="{0D108BD9-81ED-4DB2-BD59-A6C34878D82A}">
                    <a16:rowId xmlns:a16="http://schemas.microsoft.com/office/drawing/2014/main" val="3293609157"/>
                  </a:ext>
                </a:extLst>
              </a:tr>
            </a:tbl>
          </a:graphicData>
        </a:graphic>
      </p:graphicFrame>
    </p:spTree>
    <p:extLst>
      <p:ext uri="{BB962C8B-B14F-4D97-AF65-F5344CB8AC3E}">
        <p14:creationId xmlns:p14="http://schemas.microsoft.com/office/powerpoint/2010/main" val="2771296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31"/>
        <p:cNvGrpSpPr/>
        <p:nvPr/>
      </p:nvGrpSpPr>
      <p:grpSpPr>
        <a:xfrm>
          <a:off x="0" y="0"/>
          <a:ext cx="0" cy="0"/>
          <a:chOff x="0" y="0"/>
          <a:chExt cx="0" cy="0"/>
        </a:xfrm>
      </p:grpSpPr>
      <p:sp>
        <p:nvSpPr>
          <p:cNvPr id="2732" name="Google Shape;2732;p50"/>
          <p:cNvSpPr txBox="1">
            <a:spLocks noGrp="1"/>
          </p:cNvSpPr>
          <p:nvPr>
            <p:ph type="title"/>
          </p:nvPr>
        </p:nvSpPr>
        <p:spPr>
          <a:xfrm>
            <a:off x="1459763" y="787272"/>
            <a:ext cx="6061102" cy="304499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0000" dirty="0"/>
              <a:t>GRACIAS</a:t>
            </a:r>
          </a:p>
        </p:txBody>
      </p:sp>
    </p:spTree>
  </p:cSld>
  <p:clrMapOvr>
    <a:masterClrMapping/>
  </p:clrMapOvr>
</p:sld>
</file>

<file path=ppt/theme/theme1.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1647</TotalTime>
  <Words>1162</Words>
  <Application>Microsoft Office PowerPoint</Application>
  <PresentationFormat>Presentación en pantalla (16:9)</PresentationFormat>
  <Paragraphs>132</Paragraphs>
  <Slides>19</Slides>
  <Notes>15</Notes>
  <HiddenSlides>0</HiddenSlides>
  <MMClips>0</MMClips>
  <ScaleCrop>false</ScaleCrop>
  <HeadingPairs>
    <vt:vector size="6" baseType="variant">
      <vt:variant>
        <vt:lpstr>Fuentes usadas</vt:lpstr>
      </vt:variant>
      <vt:variant>
        <vt:i4>10</vt:i4>
      </vt:variant>
      <vt:variant>
        <vt:lpstr>Tema</vt:lpstr>
      </vt:variant>
      <vt:variant>
        <vt:i4>2</vt:i4>
      </vt:variant>
      <vt:variant>
        <vt:lpstr>Títulos de diapositiva</vt:lpstr>
      </vt:variant>
      <vt:variant>
        <vt:i4>19</vt:i4>
      </vt:variant>
    </vt:vector>
  </HeadingPairs>
  <TitlesOfParts>
    <vt:vector size="31" baseType="lpstr">
      <vt:lpstr>Calibri</vt:lpstr>
      <vt:lpstr>Fjalla One</vt:lpstr>
      <vt:lpstr>Barlow Semi Condensed</vt:lpstr>
      <vt:lpstr>Wingdings</vt:lpstr>
      <vt:lpstr>Calibri Light</vt:lpstr>
      <vt:lpstr>Proxima Nova</vt:lpstr>
      <vt:lpstr>Arial</vt:lpstr>
      <vt:lpstr>Proxima Nova Semibold</vt:lpstr>
      <vt:lpstr>Barlow Semi Condensed Medium</vt:lpstr>
      <vt:lpstr>Cambria Math</vt:lpstr>
      <vt:lpstr>Slidesgo Final Pages</vt:lpstr>
      <vt:lpstr>Tema de Office</vt:lpstr>
      <vt:lpstr>Mercado de Capital y Teoria de las Remesas</vt:lpstr>
      <vt:lpstr>Mercado de Capital</vt:lpstr>
      <vt:lpstr>Mercado de Capital Financiero</vt:lpstr>
      <vt:lpstr>Economia Abierta</vt:lpstr>
      <vt:lpstr>Efecto Impuesto</vt:lpstr>
      <vt:lpstr>Capitalización de un Impuesto </vt:lpstr>
      <vt:lpstr>Incidencia Tributaria en el mercado de Capital</vt:lpstr>
      <vt:lpstr>Ejemplo </vt:lpstr>
      <vt:lpstr>Presentación de PowerPoint</vt:lpstr>
      <vt:lpstr>Presentación de PowerPoint</vt:lpstr>
      <vt:lpstr>Teoría de las remesas tributarias</vt:lpstr>
      <vt:lpstr>Antecedente</vt:lpstr>
      <vt:lpstr>Planteamiento del análisis económico</vt:lpstr>
      <vt:lpstr>Presentación de PowerPoint</vt:lpstr>
      <vt:lpstr>Presentación de PowerPoint</vt:lpstr>
      <vt:lpstr>¿Cuándo las remesas tributarias no importan?</vt:lpstr>
      <vt:lpstr>¿Cuándo las remesas tributarias si importan?</vt:lpstr>
      <vt:lpstr>Ejemplos </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Consulting</dc:title>
  <dc:creator>Xav!eR</dc:creator>
  <cp:lastModifiedBy>Diego</cp:lastModifiedBy>
  <cp:revision>80</cp:revision>
  <dcterms:modified xsi:type="dcterms:W3CDTF">2022-06-09T21:23:15Z</dcterms:modified>
</cp:coreProperties>
</file>